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329" r:id="rId2"/>
    <p:sldId id="290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57" r:id="rId11"/>
    <p:sldId id="271" r:id="rId12"/>
    <p:sldId id="258" r:id="rId13"/>
    <p:sldId id="270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56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BA4CA85E-F369-C24B-8EC2-E4D1C0B8E4C9}">
          <p14:sldIdLst>
            <p14:sldId id="32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Default Section" id="{FF1DA6C2-9F51-4FFF-8230-84A2EFC21737}">
          <p14:sldIdLst>
            <p14:sldId id="257"/>
            <p14:sldId id="271"/>
            <p14:sldId id="258"/>
            <p14:sldId id="270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56"/>
            <p14:sldId id="298"/>
            <p14:sldId id="299"/>
            <p14:sldId id="300"/>
            <p14:sldId id="301"/>
            <p14:sldId id="302"/>
            <p14:sldId id="303"/>
            <p14:sldId id="304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6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4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4.svg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4.svg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2F617A-EBAC-4FC2-B693-2780C92DF08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B7EF677-A344-4671-925D-7BD3E356D3B6}">
      <dgm:prSet/>
      <dgm:spPr/>
      <dgm:t>
        <a:bodyPr/>
        <a:lstStyle/>
        <a:p>
          <a:pPr>
            <a:defRPr cap="all"/>
          </a:pPr>
          <a:r>
            <a:rPr lang="en-US"/>
            <a:t>All data Types </a:t>
          </a:r>
        </a:p>
      </dgm:t>
    </dgm:pt>
    <dgm:pt modelId="{88C55ECB-BE7D-436D-94AA-D55B10D304DD}" type="parTrans" cxnId="{CCD46705-C5D7-41F4-AD53-B1EB08552076}">
      <dgm:prSet/>
      <dgm:spPr/>
      <dgm:t>
        <a:bodyPr/>
        <a:lstStyle/>
        <a:p>
          <a:endParaRPr lang="en-US"/>
        </a:p>
      </dgm:t>
    </dgm:pt>
    <dgm:pt modelId="{DEEFE6C1-E764-46BE-9D72-1E8E2295807B}" type="sibTrans" cxnId="{CCD46705-C5D7-41F4-AD53-B1EB08552076}">
      <dgm:prSet/>
      <dgm:spPr/>
      <dgm:t>
        <a:bodyPr/>
        <a:lstStyle/>
        <a:p>
          <a:endParaRPr lang="en-US"/>
        </a:p>
      </dgm:t>
    </dgm:pt>
    <dgm:pt modelId="{2C4C4E71-3428-4D4A-841E-D93CADF822EF}">
      <dgm:prSet/>
      <dgm:spPr/>
      <dgm:t>
        <a:bodyPr/>
        <a:lstStyle/>
        <a:p>
          <a:pPr>
            <a:defRPr cap="all"/>
          </a:pPr>
          <a:r>
            <a:rPr lang="en-US"/>
            <a:t>Schema-on-Read</a:t>
          </a:r>
        </a:p>
      </dgm:t>
    </dgm:pt>
    <dgm:pt modelId="{BCEDF52C-7239-4427-81E8-81AE52543F29}" type="parTrans" cxnId="{1E8CBE83-7408-42AB-BD48-B3E0AEEAD000}">
      <dgm:prSet/>
      <dgm:spPr/>
      <dgm:t>
        <a:bodyPr/>
        <a:lstStyle/>
        <a:p>
          <a:endParaRPr lang="en-US"/>
        </a:p>
      </dgm:t>
    </dgm:pt>
    <dgm:pt modelId="{1AEB55B3-AF85-448C-8A76-CC276D4319BA}" type="sibTrans" cxnId="{1E8CBE83-7408-42AB-BD48-B3E0AEEAD000}">
      <dgm:prSet/>
      <dgm:spPr/>
      <dgm:t>
        <a:bodyPr/>
        <a:lstStyle/>
        <a:p>
          <a:endParaRPr lang="en-US"/>
        </a:p>
      </dgm:t>
    </dgm:pt>
    <dgm:pt modelId="{CB7D6BCF-FDAF-46D1-9E53-3B9E920CA82B}">
      <dgm:prSet/>
      <dgm:spPr/>
      <dgm:t>
        <a:bodyPr/>
        <a:lstStyle/>
        <a:p>
          <a:pPr>
            <a:defRPr cap="all"/>
          </a:pPr>
          <a:r>
            <a:rPr lang="en-US"/>
            <a:t>Scalabel Storage</a:t>
          </a:r>
        </a:p>
      </dgm:t>
    </dgm:pt>
    <dgm:pt modelId="{3633E29B-7FA1-4109-99D4-D105C54C8A12}" type="parTrans" cxnId="{76307401-D4CD-48E9-AFD5-21DE1A4D4CE0}">
      <dgm:prSet/>
      <dgm:spPr/>
      <dgm:t>
        <a:bodyPr/>
        <a:lstStyle/>
        <a:p>
          <a:endParaRPr lang="en-US"/>
        </a:p>
      </dgm:t>
    </dgm:pt>
    <dgm:pt modelId="{20F65A9A-F5FA-4A15-8320-E28FFC10247A}" type="sibTrans" cxnId="{76307401-D4CD-48E9-AFD5-21DE1A4D4CE0}">
      <dgm:prSet/>
      <dgm:spPr/>
      <dgm:t>
        <a:bodyPr/>
        <a:lstStyle/>
        <a:p>
          <a:endParaRPr lang="en-US"/>
        </a:p>
      </dgm:t>
    </dgm:pt>
    <dgm:pt modelId="{184A7B98-2721-481B-853B-6C74B1A7AC36}">
      <dgm:prSet/>
      <dgm:spPr/>
      <dgm:t>
        <a:bodyPr/>
        <a:lstStyle/>
        <a:p>
          <a:pPr>
            <a:defRPr cap="all"/>
          </a:pPr>
          <a:r>
            <a:rPr lang="en-US"/>
            <a:t>Low Cost</a:t>
          </a:r>
        </a:p>
      </dgm:t>
    </dgm:pt>
    <dgm:pt modelId="{78EEC215-85E7-473F-8D60-BF2C4971B62F}" type="parTrans" cxnId="{CDB6F4E7-DB81-4191-B03E-D7CA0CCBB456}">
      <dgm:prSet/>
      <dgm:spPr/>
      <dgm:t>
        <a:bodyPr/>
        <a:lstStyle/>
        <a:p>
          <a:endParaRPr lang="en-US"/>
        </a:p>
      </dgm:t>
    </dgm:pt>
    <dgm:pt modelId="{86411ED3-E396-46EF-BF35-916DF2CA4ABA}" type="sibTrans" cxnId="{CDB6F4E7-DB81-4191-B03E-D7CA0CCBB456}">
      <dgm:prSet/>
      <dgm:spPr/>
      <dgm:t>
        <a:bodyPr/>
        <a:lstStyle/>
        <a:p>
          <a:endParaRPr lang="en-US"/>
        </a:p>
      </dgm:t>
    </dgm:pt>
    <dgm:pt modelId="{59895CBB-D010-44D4-9485-8A0623C22644}" type="pres">
      <dgm:prSet presAssocID="{0B2F617A-EBAC-4FC2-B693-2780C92DF080}" presName="root" presStyleCnt="0">
        <dgm:presLayoutVars>
          <dgm:dir/>
          <dgm:resizeHandles val="exact"/>
        </dgm:presLayoutVars>
      </dgm:prSet>
      <dgm:spPr/>
    </dgm:pt>
    <dgm:pt modelId="{F4724F9C-D03C-4D0B-B46B-F69C6ACAC5CA}" type="pres">
      <dgm:prSet presAssocID="{0B7EF677-A344-4671-925D-7BD3E356D3B6}" presName="compNode" presStyleCnt="0"/>
      <dgm:spPr/>
    </dgm:pt>
    <dgm:pt modelId="{A961C77E-590A-45F5-83B5-A4239337742E}" type="pres">
      <dgm:prSet presAssocID="{0B7EF677-A344-4671-925D-7BD3E356D3B6}" presName="iconBgRect" presStyleLbl="bgShp" presStyleIdx="0" presStyleCnt="4"/>
      <dgm:spPr/>
    </dgm:pt>
    <dgm:pt modelId="{FD8B0397-5991-47CA-B51B-410286C4BA2E}" type="pres">
      <dgm:prSet presAssocID="{0B7EF677-A344-4671-925D-7BD3E356D3B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39E2645-DCEB-4B79-B37B-1DC279434DFE}" type="pres">
      <dgm:prSet presAssocID="{0B7EF677-A344-4671-925D-7BD3E356D3B6}" presName="spaceRect" presStyleCnt="0"/>
      <dgm:spPr/>
    </dgm:pt>
    <dgm:pt modelId="{53FB2852-988B-4590-9FE1-C6064C33DC3F}" type="pres">
      <dgm:prSet presAssocID="{0B7EF677-A344-4671-925D-7BD3E356D3B6}" presName="textRect" presStyleLbl="revTx" presStyleIdx="0" presStyleCnt="4">
        <dgm:presLayoutVars>
          <dgm:chMax val="1"/>
          <dgm:chPref val="1"/>
        </dgm:presLayoutVars>
      </dgm:prSet>
      <dgm:spPr/>
    </dgm:pt>
    <dgm:pt modelId="{E4756E2C-2613-4D94-BC30-F5205DB70296}" type="pres">
      <dgm:prSet presAssocID="{DEEFE6C1-E764-46BE-9D72-1E8E2295807B}" presName="sibTrans" presStyleCnt="0"/>
      <dgm:spPr/>
    </dgm:pt>
    <dgm:pt modelId="{8BD283A9-DAD9-4855-8D46-3A280B85254C}" type="pres">
      <dgm:prSet presAssocID="{2C4C4E71-3428-4D4A-841E-D93CADF822EF}" presName="compNode" presStyleCnt="0"/>
      <dgm:spPr/>
    </dgm:pt>
    <dgm:pt modelId="{D270FB50-36D6-4F44-9013-4AA1ED344E67}" type="pres">
      <dgm:prSet presAssocID="{2C4C4E71-3428-4D4A-841E-D93CADF822EF}" presName="iconBgRect" presStyleLbl="bgShp" presStyleIdx="1" presStyleCnt="4"/>
      <dgm:spPr/>
    </dgm:pt>
    <dgm:pt modelId="{0BC440CB-4512-48EB-B9AB-A7D3DDE584BF}" type="pres">
      <dgm:prSet presAssocID="{2C4C4E71-3428-4D4A-841E-D93CADF822E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44FF8E5A-F490-4B5A-9FC8-24B69CC5C1BC}" type="pres">
      <dgm:prSet presAssocID="{2C4C4E71-3428-4D4A-841E-D93CADF822EF}" presName="spaceRect" presStyleCnt="0"/>
      <dgm:spPr/>
    </dgm:pt>
    <dgm:pt modelId="{9DEFBA72-CCDD-4FAE-B7C0-EEB06293B363}" type="pres">
      <dgm:prSet presAssocID="{2C4C4E71-3428-4D4A-841E-D93CADF822EF}" presName="textRect" presStyleLbl="revTx" presStyleIdx="1" presStyleCnt="4">
        <dgm:presLayoutVars>
          <dgm:chMax val="1"/>
          <dgm:chPref val="1"/>
        </dgm:presLayoutVars>
      </dgm:prSet>
      <dgm:spPr/>
    </dgm:pt>
    <dgm:pt modelId="{92D9BC47-AAB0-4F05-81FA-6CE30D28B19B}" type="pres">
      <dgm:prSet presAssocID="{1AEB55B3-AF85-448C-8A76-CC276D4319BA}" presName="sibTrans" presStyleCnt="0"/>
      <dgm:spPr/>
    </dgm:pt>
    <dgm:pt modelId="{1462F1E3-A279-4B75-8923-22DA788BEA24}" type="pres">
      <dgm:prSet presAssocID="{CB7D6BCF-FDAF-46D1-9E53-3B9E920CA82B}" presName="compNode" presStyleCnt="0"/>
      <dgm:spPr/>
    </dgm:pt>
    <dgm:pt modelId="{803518AA-317C-40E0-A3CB-295926944D69}" type="pres">
      <dgm:prSet presAssocID="{CB7D6BCF-FDAF-46D1-9E53-3B9E920CA82B}" presName="iconBgRect" presStyleLbl="bgShp" presStyleIdx="2" presStyleCnt="4"/>
      <dgm:spPr/>
    </dgm:pt>
    <dgm:pt modelId="{5976352D-F277-4E58-AEAA-BBA4515E0267}" type="pres">
      <dgm:prSet presAssocID="{CB7D6BCF-FDAF-46D1-9E53-3B9E920CA82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7736A35-25A4-4D44-B58B-C69BA8B20050}" type="pres">
      <dgm:prSet presAssocID="{CB7D6BCF-FDAF-46D1-9E53-3B9E920CA82B}" presName="spaceRect" presStyleCnt="0"/>
      <dgm:spPr/>
    </dgm:pt>
    <dgm:pt modelId="{C81D7310-EE38-43B8-BADF-324EB94E8F60}" type="pres">
      <dgm:prSet presAssocID="{CB7D6BCF-FDAF-46D1-9E53-3B9E920CA82B}" presName="textRect" presStyleLbl="revTx" presStyleIdx="2" presStyleCnt="4">
        <dgm:presLayoutVars>
          <dgm:chMax val="1"/>
          <dgm:chPref val="1"/>
        </dgm:presLayoutVars>
      </dgm:prSet>
      <dgm:spPr/>
    </dgm:pt>
    <dgm:pt modelId="{9BE67D73-AC46-43EB-B7F0-413F4904BFFD}" type="pres">
      <dgm:prSet presAssocID="{20F65A9A-F5FA-4A15-8320-E28FFC10247A}" presName="sibTrans" presStyleCnt="0"/>
      <dgm:spPr/>
    </dgm:pt>
    <dgm:pt modelId="{B2FE60F3-BA35-4E6B-8AD3-85ABE58D79FB}" type="pres">
      <dgm:prSet presAssocID="{184A7B98-2721-481B-853B-6C74B1A7AC36}" presName="compNode" presStyleCnt="0"/>
      <dgm:spPr/>
    </dgm:pt>
    <dgm:pt modelId="{55E25556-521C-46DD-A64A-46803CAE493A}" type="pres">
      <dgm:prSet presAssocID="{184A7B98-2721-481B-853B-6C74B1A7AC36}" presName="iconBgRect" presStyleLbl="bgShp" presStyleIdx="3" presStyleCnt="4"/>
      <dgm:spPr/>
    </dgm:pt>
    <dgm:pt modelId="{49F5EEA9-790D-4FCB-AB36-31D78C9EA69F}" type="pres">
      <dgm:prSet presAssocID="{184A7B98-2721-481B-853B-6C74B1A7AC3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29B401A-8107-450A-9DA9-138D8B9C9EE6}" type="pres">
      <dgm:prSet presAssocID="{184A7B98-2721-481B-853B-6C74B1A7AC36}" presName="spaceRect" presStyleCnt="0"/>
      <dgm:spPr/>
    </dgm:pt>
    <dgm:pt modelId="{52309C66-2125-49C4-BE13-F140C4DFA171}" type="pres">
      <dgm:prSet presAssocID="{184A7B98-2721-481B-853B-6C74B1A7AC3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6307401-D4CD-48E9-AFD5-21DE1A4D4CE0}" srcId="{0B2F617A-EBAC-4FC2-B693-2780C92DF080}" destId="{CB7D6BCF-FDAF-46D1-9E53-3B9E920CA82B}" srcOrd="2" destOrd="0" parTransId="{3633E29B-7FA1-4109-99D4-D105C54C8A12}" sibTransId="{20F65A9A-F5FA-4A15-8320-E28FFC10247A}"/>
    <dgm:cxn modelId="{CCD46705-C5D7-41F4-AD53-B1EB08552076}" srcId="{0B2F617A-EBAC-4FC2-B693-2780C92DF080}" destId="{0B7EF677-A344-4671-925D-7BD3E356D3B6}" srcOrd="0" destOrd="0" parTransId="{88C55ECB-BE7D-436D-94AA-D55B10D304DD}" sibTransId="{DEEFE6C1-E764-46BE-9D72-1E8E2295807B}"/>
    <dgm:cxn modelId="{57AE9917-5E0A-0646-9A94-3D3E087056D1}" type="presOf" srcId="{2C4C4E71-3428-4D4A-841E-D93CADF822EF}" destId="{9DEFBA72-CCDD-4FAE-B7C0-EEB06293B363}" srcOrd="0" destOrd="0" presId="urn:microsoft.com/office/officeart/2018/5/layout/IconCircleLabelList"/>
    <dgm:cxn modelId="{1E8CBE83-7408-42AB-BD48-B3E0AEEAD000}" srcId="{0B2F617A-EBAC-4FC2-B693-2780C92DF080}" destId="{2C4C4E71-3428-4D4A-841E-D93CADF822EF}" srcOrd="1" destOrd="0" parTransId="{BCEDF52C-7239-4427-81E8-81AE52543F29}" sibTransId="{1AEB55B3-AF85-448C-8A76-CC276D4319BA}"/>
    <dgm:cxn modelId="{2144B291-8876-A14A-9DE1-F4AD3AD6AD4B}" type="presOf" srcId="{184A7B98-2721-481B-853B-6C74B1A7AC36}" destId="{52309C66-2125-49C4-BE13-F140C4DFA171}" srcOrd="0" destOrd="0" presId="urn:microsoft.com/office/officeart/2018/5/layout/IconCircleLabelList"/>
    <dgm:cxn modelId="{39194CD5-F5BD-6642-911A-74D511E944FD}" type="presOf" srcId="{CB7D6BCF-FDAF-46D1-9E53-3B9E920CA82B}" destId="{C81D7310-EE38-43B8-BADF-324EB94E8F60}" srcOrd="0" destOrd="0" presId="urn:microsoft.com/office/officeart/2018/5/layout/IconCircleLabelList"/>
    <dgm:cxn modelId="{B67504DD-3D56-F049-B717-402340900EC8}" type="presOf" srcId="{0B2F617A-EBAC-4FC2-B693-2780C92DF080}" destId="{59895CBB-D010-44D4-9485-8A0623C22644}" srcOrd="0" destOrd="0" presId="urn:microsoft.com/office/officeart/2018/5/layout/IconCircleLabelList"/>
    <dgm:cxn modelId="{CDB6F4E7-DB81-4191-B03E-D7CA0CCBB456}" srcId="{0B2F617A-EBAC-4FC2-B693-2780C92DF080}" destId="{184A7B98-2721-481B-853B-6C74B1A7AC36}" srcOrd="3" destOrd="0" parTransId="{78EEC215-85E7-473F-8D60-BF2C4971B62F}" sibTransId="{86411ED3-E396-46EF-BF35-916DF2CA4ABA}"/>
    <dgm:cxn modelId="{A9FA64EA-6C9A-5C41-96F9-97767C14D0FA}" type="presOf" srcId="{0B7EF677-A344-4671-925D-7BD3E356D3B6}" destId="{53FB2852-988B-4590-9FE1-C6064C33DC3F}" srcOrd="0" destOrd="0" presId="urn:microsoft.com/office/officeart/2018/5/layout/IconCircleLabelList"/>
    <dgm:cxn modelId="{BAF3F654-A3C8-434B-B16A-ECF4A61ECCD1}" type="presParOf" srcId="{59895CBB-D010-44D4-9485-8A0623C22644}" destId="{F4724F9C-D03C-4D0B-B46B-F69C6ACAC5CA}" srcOrd="0" destOrd="0" presId="urn:microsoft.com/office/officeart/2018/5/layout/IconCircleLabelList"/>
    <dgm:cxn modelId="{5ABBCDC4-B5BA-204F-9E26-731F5D5C8C8A}" type="presParOf" srcId="{F4724F9C-D03C-4D0B-B46B-F69C6ACAC5CA}" destId="{A961C77E-590A-45F5-83B5-A4239337742E}" srcOrd="0" destOrd="0" presId="urn:microsoft.com/office/officeart/2018/5/layout/IconCircleLabelList"/>
    <dgm:cxn modelId="{4AB5C178-336E-EA49-8024-A1C961D30EEE}" type="presParOf" srcId="{F4724F9C-D03C-4D0B-B46B-F69C6ACAC5CA}" destId="{FD8B0397-5991-47CA-B51B-410286C4BA2E}" srcOrd="1" destOrd="0" presId="urn:microsoft.com/office/officeart/2018/5/layout/IconCircleLabelList"/>
    <dgm:cxn modelId="{60B7D84A-29E9-CF45-B8C7-B6CBC47BFF2F}" type="presParOf" srcId="{F4724F9C-D03C-4D0B-B46B-F69C6ACAC5CA}" destId="{439E2645-DCEB-4B79-B37B-1DC279434DFE}" srcOrd="2" destOrd="0" presId="urn:microsoft.com/office/officeart/2018/5/layout/IconCircleLabelList"/>
    <dgm:cxn modelId="{33B9F132-251D-F341-AD06-7742BCC65377}" type="presParOf" srcId="{F4724F9C-D03C-4D0B-B46B-F69C6ACAC5CA}" destId="{53FB2852-988B-4590-9FE1-C6064C33DC3F}" srcOrd="3" destOrd="0" presId="urn:microsoft.com/office/officeart/2018/5/layout/IconCircleLabelList"/>
    <dgm:cxn modelId="{50637319-9F5B-B04C-835A-10CE8AA305D2}" type="presParOf" srcId="{59895CBB-D010-44D4-9485-8A0623C22644}" destId="{E4756E2C-2613-4D94-BC30-F5205DB70296}" srcOrd="1" destOrd="0" presId="urn:microsoft.com/office/officeart/2018/5/layout/IconCircleLabelList"/>
    <dgm:cxn modelId="{28FC44F3-EDC5-6543-85D3-A129C8DCEF69}" type="presParOf" srcId="{59895CBB-D010-44D4-9485-8A0623C22644}" destId="{8BD283A9-DAD9-4855-8D46-3A280B85254C}" srcOrd="2" destOrd="0" presId="urn:microsoft.com/office/officeart/2018/5/layout/IconCircleLabelList"/>
    <dgm:cxn modelId="{71568C33-897D-2E48-B6DA-6E19374450E6}" type="presParOf" srcId="{8BD283A9-DAD9-4855-8D46-3A280B85254C}" destId="{D270FB50-36D6-4F44-9013-4AA1ED344E67}" srcOrd="0" destOrd="0" presId="urn:microsoft.com/office/officeart/2018/5/layout/IconCircleLabelList"/>
    <dgm:cxn modelId="{CDF93F97-368D-FC4E-B02E-6F8DE2C0BAAB}" type="presParOf" srcId="{8BD283A9-DAD9-4855-8D46-3A280B85254C}" destId="{0BC440CB-4512-48EB-B9AB-A7D3DDE584BF}" srcOrd="1" destOrd="0" presId="urn:microsoft.com/office/officeart/2018/5/layout/IconCircleLabelList"/>
    <dgm:cxn modelId="{89FDADCF-BB79-064F-8F32-26CB56B5D81E}" type="presParOf" srcId="{8BD283A9-DAD9-4855-8D46-3A280B85254C}" destId="{44FF8E5A-F490-4B5A-9FC8-24B69CC5C1BC}" srcOrd="2" destOrd="0" presId="urn:microsoft.com/office/officeart/2018/5/layout/IconCircleLabelList"/>
    <dgm:cxn modelId="{3E357370-6DED-844C-AD5D-3256EDAFF871}" type="presParOf" srcId="{8BD283A9-DAD9-4855-8D46-3A280B85254C}" destId="{9DEFBA72-CCDD-4FAE-B7C0-EEB06293B363}" srcOrd="3" destOrd="0" presId="urn:microsoft.com/office/officeart/2018/5/layout/IconCircleLabelList"/>
    <dgm:cxn modelId="{E3896362-45E6-FA42-97A9-7B9B9D0F2B9C}" type="presParOf" srcId="{59895CBB-D010-44D4-9485-8A0623C22644}" destId="{92D9BC47-AAB0-4F05-81FA-6CE30D28B19B}" srcOrd="3" destOrd="0" presId="urn:microsoft.com/office/officeart/2018/5/layout/IconCircleLabelList"/>
    <dgm:cxn modelId="{A73B6D06-B9D0-9944-9FB5-23B775A21E41}" type="presParOf" srcId="{59895CBB-D010-44D4-9485-8A0623C22644}" destId="{1462F1E3-A279-4B75-8923-22DA788BEA24}" srcOrd="4" destOrd="0" presId="urn:microsoft.com/office/officeart/2018/5/layout/IconCircleLabelList"/>
    <dgm:cxn modelId="{02B061C9-DCB8-D54E-9D58-8D17F0E6A458}" type="presParOf" srcId="{1462F1E3-A279-4B75-8923-22DA788BEA24}" destId="{803518AA-317C-40E0-A3CB-295926944D69}" srcOrd="0" destOrd="0" presId="urn:microsoft.com/office/officeart/2018/5/layout/IconCircleLabelList"/>
    <dgm:cxn modelId="{E9C00A85-EB6C-914D-96DD-D1455626A5E3}" type="presParOf" srcId="{1462F1E3-A279-4B75-8923-22DA788BEA24}" destId="{5976352D-F277-4E58-AEAA-BBA4515E0267}" srcOrd="1" destOrd="0" presId="urn:microsoft.com/office/officeart/2018/5/layout/IconCircleLabelList"/>
    <dgm:cxn modelId="{B0D93D2A-0A03-A241-8FE4-179156745EC6}" type="presParOf" srcId="{1462F1E3-A279-4B75-8923-22DA788BEA24}" destId="{57736A35-25A4-4D44-B58B-C69BA8B20050}" srcOrd="2" destOrd="0" presId="urn:microsoft.com/office/officeart/2018/5/layout/IconCircleLabelList"/>
    <dgm:cxn modelId="{EBA25D1B-BCCA-0947-9F8C-8DA3DC686B54}" type="presParOf" srcId="{1462F1E3-A279-4B75-8923-22DA788BEA24}" destId="{C81D7310-EE38-43B8-BADF-324EB94E8F60}" srcOrd="3" destOrd="0" presId="urn:microsoft.com/office/officeart/2018/5/layout/IconCircleLabelList"/>
    <dgm:cxn modelId="{913FB724-3F61-1B48-9D8A-8662259909E0}" type="presParOf" srcId="{59895CBB-D010-44D4-9485-8A0623C22644}" destId="{9BE67D73-AC46-43EB-B7F0-413F4904BFFD}" srcOrd="5" destOrd="0" presId="urn:microsoft.com/office/officeart/2018/5/layout/IconCircleLabelList"/>
    <dgm:cxn modelId="{9997296E-39C0-DE42-B3E9-896D143D39ED}" type="presParOf" srcId="{59895CBB-D010-44D4-9485-8A0623C22644}" destId="{B2FE60F3-BA35-4E6B-8AD3-85ABE58D79FB}" srcOrd="6" destOrd="0" presId="urn:microsoft.com/office/officeart/2018/5/layout/IconCircleLabelList"/>
    <dgm:cxn modelId="{B82F2E1E-450C-8744-A9CA-64649EA4B5A2}" type="presParOf" srcId="{B2FE60F3-BA35-4E6B-8AD3-85ABE58D79FB}" destId="{55E25556-521C-46DD-A64A-46803CAE493A}" srcOrd="0" destOrd="0" presId="urn:microsoft.com/office/officeart/2018/5/layout/IconCircleLabelList"/>
    <dgm:cxn modelId="{C999A92D-4A6D-A447-AD45-9A792BF77FCE}" type="presParOf" srcId="{B2FE60F3-BA35-4E6B-8AD3-85ABE58D79FB}" destId="{49F5EEA9-790D-4FCB-AB36-31D78C9EA69F}" srcOrd="1" destOrd="0" presId="urn:microsoft.com/office/officeart/2018/5/layout/IconCircleLabelList"/>
    <dgm:cxn modelId="{60E7D230-2E1D-CA49-906F-1F3B51934EC7}" type="presParOf" srcId="{B2FE60F3-BA35-4E6B-8AD3-85ABE58D79FB}" destId="{129B401A-8107-450A-9DA9-138D8B9C9EE6}" srcOrd="2" destOrd="0" presId="urn:microsoft.com/office/officeart/2018/5/layout/IconCircleLabelList"/>
    <dgm:cxn modelId="{D3627D03-E8D8-7F45-BDF7-23B741FED472}" type="presParOf" srcId="{B2FE60F3-BA35-4E6B-8AD3-85ABE58D79FB}" destId="{52309C66-2125-49C4-BE13-F140C4DFA17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9D0542-23BE-BC44-A963-30DB1179AE4E}" type="doc">
      <dgm:prSet loTypeId="urn:microsoft.com/office/officeart/2005/8/layout/vProcess5" loCatId="process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FD0E00F-EC93-144E-B887-DEDC0DA1B0B7}">
      <dgm:prSet phldrT="[Text]"/>
      <dgm:spPr/>
      <dgm:t>
        <a:bodyPr/>
        <a:lstStyle/>
        <a:p>
          <a:r>
            <a:rPr lang="en-US"/>
            <a:t>Subject- oriented</a:t>
          </a:r>
        </a:p>
      </dgm:t>
    </dgm:pt>
    <dgm:pt modelId="{0E204494-BAED-4849-B599-0C2AA7E3E25D}" type="parTrans" cxnId="{A2992F41-941A-B54E-B901-D8D9903243B3}">
      <dgm:prSet/>
      <dgm:spPr/>
      <dgm:t>
        <a:bodyPr/>
        <a:lstStyle/>
        <a:p>
          <a:endParaRPr lang="en-US"/>
        </a:p>
      </dgm:t>
    </dgm:pt>
    <dgm:pt modelId="{31445EF0-CFAC-6A40-9CA5-55761365E863}" type="sibTrans" cxnId="{A2992F41-941A-B54E-B901-D8D9903243B3}">
      <dgm:prSet/>
      <dgm:spPr/>
      <dgm:t>
        <a:bodyPr/>
        <a:lstStyle/>
        <a:p>
          <a:endParaRPr lang="en-US"/>
        </a:p>
      </dgm:t>
    </dgm:pt>
    <dgm:pt modelId="{A70840AD-52CE-0F4D-9F64-290309CD19B4}">
      <dgm:prSet phldrT="[Text]"/>
      <dgm:spPr/>
      <dgm:t>
        <a:bodyPr/>
        <a:lstStyle/>
        <a:p>
          <a:r>
            <a:rPr lang="en-US"/>
            <a:t>Time Variant </a:t>
          </a:r>
        </a:p>
      </dgm:t>
    </dgm:pt>
    <dgm:pt modelId="{F7D19E2D-4314-0240-ACC4-AA7AA4243919}" type="parTrans" cxnId="{543CC75E-7692-4940-B892-FE130CEFE335}">
      <dgm:prSet/>
      <dgm:spPr/>
      <dgm:t>
        <a:bodyPr/>
        <a:lstStyle/>
        <a:p>
          <a:endParaRPr lang="en-US"/>
        </a:p>
      </dgm:t>
    </dgm:pt>
    <dgm:pt modelId="{518D6637-DB6A-CB45-AD7F-594E4693ED7C}" type="sibTrans" cxnId="{543CC75E-7692-4940-B892-FE130CEFE335}">
      <dgm:prSet/>
      <dgm:spPr/>
      <dgm:t>
        <a:bodyPr/>
        <a:lstStyle/>
        <a:p>
          <a:endParaRPr lang="en-US"/>
        </a:p>
      </dgm:t>
    </dgm:pt>
    <dgm:pt modelId="{1FAD0FC1-A3A6-D34B-AEE8-A4BE499568A5}">
      <dgm:prSet phldrT="[Text]"/>
      <dgm:spPr/>
      <dgm:t>
        <a:bodyPr/>
        <a:lstStyle/>
        <a:p>
          <a:r>
            <a:rPr lang="en-US"/>
            <a:t>Integrated </a:t>
          </a:r>
        </a:p>
      </dgm:t>
    </dgm:pt>
    <dgm:pt modelId="{F4CCFC06-186F-5C49-8169-F7BEFC260E13}" type="sibTrans" cxnId="{CACFD4F8-67A9-DC44-91E5-8F6EFBC8333A}">
      <dgm:prSet/>
      <dgm:spPr/>
      <dgm:t>
        <a:bodyPr/>
        <a:lstStyle/>
        <a:p>
          <a:endParaRPr lang="en-US"/>
        </a:p>
      </dgm:t>
    </dgm:pt>
    <dgm:pt modelId="{C5AF4D0B-4453-6A4C-A94C-2007F6A1ACFC}" type="parTrans" cxnId="{CACFD4F8-67A9-DC44-91E5-8F6EFBC8333A}">
      <dgm:prSet/>
      <dgm:spPr/>
      <dgm:t>
        <a:bodyPr/>
        <a:lstStyle/>
        <a:p>
          <a:endParaRPr lang="en-US"/>
        </a:p>
      </dgm:t>
    </dgm:pt>
    <dgm:pt modelId="{5F41D037-FA11-154F-B6C6-F2A6339C5D19}">
      <dgm:prSet/>
      <dgm:spPr/>
      <dgm:t>
        <a:bodyPr/>
        <a:lstStyle/>
        <a:p>
          <a:r>
            <a:rPr lang="en-US"/>
            <a:t>Non-Volatile</a:t>
          </a:r>
        </a:p>
      </dgm:t>
    </dgm:pt>
    <dgm:pt modelId="{D1C647C6-2FE0-9243-81EA-4706ABC2FC88}" type="parTrans" cxnId="{0719C20A-7AFC-D148-9097-E69DCD4A5131}">
      <dgm:prSet/>
      <dgm:spPr/>
      <dgm:t>
        <a:bodyPr/>
        <a:lstStyle/>
        <a:p>
          <a:endParaRPr lang="en-US"/>
        </a:p>
      </dgm:t>
    </dgm:pt>
    <dgm:pt modelId="{BF8FF3DF-EEA9-3543-8B2F-D955BA6AD843}" type="sibTrans" cxnId="{0719C20A-7AFC-D148-9097-E69DCD4A5131}">
      <dgm:prSet/>
      <dgm:spPr/>
      <dgm:t>
        <a:bodyPr/>
        <a:lstStyle/>
        <a:p>
          <a:endParaRPr lang="en-US"/>
        </a:p>
      </dgm:t>
    </dgm:pt>
    <dgm:pt modelId="{1B06398B-7474-C84B-9994-36583DED553F}" type="pres">
      <dgm:prSet presAssocID="{C29D0542-23BE-BC44-A963-30DB1179AE4E}" presName="outerComposite" presStyleCnt="0">
        <dgm:presLayoutVars>
          <dgm:chMax val="5"/>
          <dgm:dir/>
          <dgm:resizeHandles val="exact"/>
        </dgm:presLayoutVars>
      </dgm:prSet>
      <dgm:spPr/>
    </dgm:pt>
    <dgm:pt modelId="{E0A78C18-C388-B540-8EA2-410BA68241FA}" type="pres">
      <dgm:prSet presAssocID="{C29D0542-23BE-BC44-A963-30DB1179AE4E}" presName="dummyMaxCanvas" presStyleCnt="0">
        <dgm:presLayoutVars/>
      </dgm:prSet>
      <dgm:spPr/>
    </dgm:pt>
    <dgm:pt modelId="{2E47EAF7-E394-F241-8E26-1395E9FBDAC1}" type="pres">
      <dgm:prSet presAssocID="{C29D0542-23BE-BC44-A963-30DB1179AE4E}" presName="FourNodes_1" presStyleLbl="node1" presStyleIdx="0" presStyleCnt="4">
        <dgm:presLayoutVars>
          <dgm:bulletEnabled val="1"/>
        </dgm:presLayoutVars>
      </dgm:prSet>
      <dgm:spPr/>
    </dgm:pt>
    <dgm:pt modelId="{FB1C9BD0-BDB6-1D40-8BEC-25ED3FD8A14B}" type="pres">
      <dgm:prSet presAssocID="{C29D0542-23BE-BC44-A963-30DB1179AE4E}" presName="FourNodes_2" presStyleLbl="node1" presStyleIdx="1" presStyleCnt="4">
        <dgm:presLayoutVars>
          <dgm:bulletEnabled val="1"/>
        </dgm:presLayoutVars>
      </dgm:prSet>
      <dgm:spPr/>
    </dgm:pt>
    <dgm:pt modelId="{6EA57474-346A-1140-BC81-54E96AA1652C}" type="pres">
      <dgm:prSet presAssocID="{C29D0542-23BE-BC44-A963-30DB1179AE4E}" presName="FourNodes_3" presStyleLbl="node1" presStyleIdx="2" presStyleCnt="4">
        <dgm:presLayoutVars>
          <dgm:bulletEnabled val="1"/>
        </dgm:presLayoutVars>
      </dgm:prSet>
      <dgm:spPr/>
    </dgm:pt>
    <dgm:pt modelId="{1464C56F-353B-4644-B837-0C71376A8F16}" type="pres">
      <dgm:prSet presAssocID="{C29D0542-23BE-BC44-A963-30DB1179AE4E}" presName="FourNodes_4" presStyleLbl="node1" presStyleIdx="3" presStyleCnt="4">
        <dgm:presLayoutVars>
          <dgm:bulletEnabled val="1"/>
        </dgm:presLayoutVars>
      </dgm:prSet>
      <dgm:spPr/>
    </dgm:pt>
    <dgm:pt modelId="{9907CE5C-E2B6-D349-B383-C78BE7CDA517}" type="pres">
      <dgm:prSet presAssocID="{C29D0542-23BE-BC44-A963-30DB1179AE4E}" presName="FourConn_1-2" presStyleLbl="fgAccFollowNode1" presStyleIdx="0" presStyleCnt="3">
        <dgm:presLayoutVars>
          <dgm:bulletEnabled val="1"/>
        </dgm:presLayoutVars>
      </dgm:prSet>
      <dgm:spPr/>
    </dgm:pt>
    <dgm:pt modelId="{62FC86FF-72C2-1F47-B5A1-82D2D2444DAB}" type="pres">
      <dgm:prSet presAssocID="{C29D0542-23BE-BC44-A963-30DB1179AE4E}" presName="FourConn_2-3" presStyleLbl="fgAccFollowNode1" presStyleIdx="1" presStyleCnt="3">
        <dgm:presLayoutVars>
          <dgm:bulletEnabled val="1"/>
        </dgm:presLayoutVars>
      </dgm:prSet>
      <dgm:spPr/>
    </dgm:pt>
    <dgm:pt modelId="{9DF216B4-A1B6-5941-AC3F-D2A6D372C366}" type="pres">
      <dgm:prSet presAssocID="{C29D0542-23BE-BC44-A963-30DB1179AE4E}" presName="FourConn_3-4" presStyleLbl="fgAccFollowNode1" presStyleIdx="2" presStyleCnt="3">
        <dgm:presLayoutVars>
          <dgm:bulletEnabled val="1"/>
        </dgm:presLayoutVars>
      </dgm:prSet>
      <dgm:spPr/>
    </dgm:pt>
    <dgm:pt modelId="{CAEC07A3-9DA2-4D48-857F-CDD9D9A52B26}" type="pres">
      <dgm:prSet presAssocID="{C29D0542-23BE-BC44-A963-30DB1179AE4E}" presName="FourNodes_1_text" presStyleLbl="node1" presStyleIdx="3" presStyleCnt="4">
        <dgm:presLayoutVars>
          <dgm:bulletEnabled val="1"/>
        </dgm:presLayoutVars>
      </dgm:prSet>
      <dgm:spPr/>
    </dgm:pt>
    <dgm:pt modelId="{FE14A2B5-47E6-C54A-A4B1-FC3C853D2C96}" type="pres">
      <dgm:prSet presAssocID="{C29D0542-23BE-BC44-A963-30DB1179AE4E}" presName="FourNodes_2_text" presStyleLbl="node1" presStyleIdx="3" presStyleCnt="4">
        <dgm:presLayoutVars>
          <dgm:bulletEnabled val="1"/>
        </dgm:presLayoutVars>
      </dgm:prSet>
      <dgm:spPr/>
    </dgm:pt>
    <dgm:pt modelId="{B61849F1-FA47-174B-9E0B-06232A412EC0}" type="pres">
      <dgm:prSet presAssocID="{C29D0542-23BE-BC44-A963-30DB1179AE4E}" presName="FourNodes_3_text" presStyleLbl="node1" presStyleIdx="3" presStyleCnt="4">
        <dgm:presLayoutVars>
          <dgm:bulletEnabled val="1"/>
        </dgm:presLayoutVars>
      </dgm:prSet>
      <dgm:spPr/>
    </dgm:pt>
    <dgm:pt modelId="{985AC2C4-C780-954D-A2FC-668E690C5CC8}" type="pres">
      <dgm:prSet presAssocID="{C29D0542-23BE-BC44-A963-30DB1179AE4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719C20A-7AFC-D148-9097-E69DCD4A5131}" srcId="{C29D0542-23BE-BC44-A963-30DB1179AE4E}" destId="{5F41D037-FA11-154F-B6C6-F2A6339C5D19}" srcOrd="3" destOrd="0" parTransId="{D1C647C6-2FE0-9243-81EA-4706ABC2FC88}" sibTransId="{BF8FF3DF-EEA9-3543-8B2F-D955BA6AD843}"/>
    <dgm:cxn modelId="{E8D29C32-D768-0047-AF71-9827C9BD9B68}" type="presOf" srcId="{A70840AD-52CE-0F4D-9F64-290309CD19B4}" destId="{B61849F1-FA47-174B-9E0B-06232A412EC0}" srcOrd="1" destOrd="0" presId="urn:microsoft.com/office/officeart/2005/8/layout/vProcess5"/>
    <dgm:cxn modelId="{A2992F41-941A-B54E-B901-D8D9903243B3}" srcId="{C29D0542-23BE-BC44-A963-30DB1179AE4E}" destId="{5FD0E00F-EC93-144E-B887-DEDC0DA1B0B7}" srcOrd="0" destOrd="0" parTransId="{0E204494-BAED-4849-B599-0C2AA7E3E25D}" sibTransId="{31445EF0-CFAC-6A40-9CA5-55761365E863}"/>
    <dgm:cxn modelId="{C1D37D50-9947-5548-8018-054DBDC31BE5}" type="presOf" srcId="{A70840AD-52CE-0F4D-9F64-290309CD19B4}" destId="{6EA57474-346A-1140-BC81-54E96AA1652C}" srcOrd="0" destOrd="0" presId="urn:microsoft.com/office/officeart/2005/8/layout/vProcess5"/>
    <dgm:cxn modelId="{1E0DA155-8924-1543-B869-67634581268F}" type="presOf" srcId="{518D6637-DB6A-CB45-AD7F-594E4693ED7C}" destId="{9DF216B4-A1B6-5941-AC3F-D2A6D372C366}" srcOrd="0" destOrd="0" presId="urn:microsoft.com/office/officeart/2005/8/layout/vProcess5"/>
    <dgm:cxn modelId="{543CC75E-7692-4940-B892-FE130CEFE335}" srcId="{C29D0542-23BE-BC44-A963-30DB1179AE4E}" destId="{A70840AD-52CE-0F4D-9F64-290309CD19B4}" srcOrd="2" destOrd="0" parTransId="{F7D19E2D-4314-0240-ACC4-AA7AA4243919}" sibTransId="{518D6637-DB6A-CB45-AD7F-594E4693ED7C}"/>
    <dgm:cxn modelId="{38E33F8E-F0BE-1543-92AF-3898455922F4}" type="presOf" srcId="{5F41D037-FA11-154F-B6C6-F2A6339C5D19}" destId="{985AC2C4-C780-954D-A2FC-668E690C5CC8}" srcOrd="1" destOrd="0" presId="urn:microsoft.com/office/officeart/2005/8/layout/vProcess5"/>
    <dgm:cxn modelId="{33978F90-C9F7-C146-9451-F45A07CD1981}" type="presOf" srcId="{F4CCFC06-186F-5C49-8169-F7BEFC260E13}" destId="{62FC86FF-72C2-1F47-B5A1-82D2D2444DAB}" srcOrd="0" destOrd="0" presId="urn:microsoft.com/office/officeart/2005/8/layout/vProcess5"/>
    <dgm:cxn modelId="{71229DA1-4EB2-2E47-A5C7-DB1598B36F29}" type="presOf" srcId="{1FAD0FC1-A3A6-D34B-AEE8-A4BE499568A5}" destId="{FE14A2B5-47E6-C54A-A4B1-FC3C853D2C96}" srcOrd="1" destOrd="0" presId="urn:microsoft.com/office/officeart/2005/8/layout/vProcess5"/>
    <dgm:cxn modelId="{7D2938A6-2B41-AA4D-99DE-0AAFF57071C6}" type="presOf" srcId="{1FAD0FC1-A3A6-D34B-AEE8-A4BE499568A5}" destId="{FB1C9BD0-BDB6-1D40-8BEC-25ED3FD8A14B}" srcOrd="0" destOrd="0" presId="urn:microsoft.com/office/officeart/2005/8/layout/vProcess5"/>
    <dgm:cxn modelId="{C3AD72BA-3164-124C-9604-2E9865F80984}" type="presOf" srcId="{5FD0E00F-EC93-144E-B887-DEDC0DA1B0B7}" destId="{CAEC07A3-9DA2-4D48-857F-CDD9D9A52B26}" srcOrd="1" destOrd="0" presId="urn:microsoft.com/office/officeart/2005/8/layout/vProcess5"/>
    <dgm:cxn modelId="{95875FC6-544F-B041-9B2E-92F142B6F80D}" type="presOf" srcId="{31445EF0-CFAC-6A40-9CA5-55761365E863}" destId="{9907CE5C-E2B6-D349-B383-C78BE7CDA517}" srcOrd="0" destOrd="0" presId="urn:microsoft.com/office/officeart/2005/8/layout/vProcess5"/>
    <dgm:cxn modelId="{B0E369CA-372F-9C4E-AD46-CF2B4672171D}" type="presOf" srcId="{5FD0E00F-EC93-144E-B887-DEDC0DA1B0B7}" destId="{2E47EAF7-E394-F241-8E26-1395E9FBDAC1}" srcOrd="0" destOrd="0" presId="urn:microsoft.com/office/officeart/2005/8/layout/vProcess5"/>
    <dgm:cxn modelId="{D32470DA-3812-AF4D-AAF2-77E6D4501C98}" type="presOf" srcId="{5F41D037-FA11-154F-B6C6-F2A6339C5D19}" destId="{1464C56F-353B-4644-B837-0C71376A8F16}" srcOrd="0" destOrd="0" presId="urn:microsoft.com/office/officeart/2005/8/layout/vProcess5"/>
    <dgm:cxn modelId="{98F527DC-B03D-C84E-A18A-E0ACD292917F}" type="presOf" srcId="{C29D0542-23BE-BC44-A963-30DB1179AE4E}" destId="{1B06398B-7474-C84B-9994-36583DED553F}" srcOrd="0" destOrd="0" presId="urn:microsoft.com/office/officeart/2005/8/layout/vProcess5"/>
    <dgm:cxn modelId="{CACFD4F8-67A9-DC44-91E5-8F6EFBC8333A}" srcId="{C29D0542-23BE-BC44-A963-30DB1179AE4E}" destId="{1FAD0FC1-A3A6-D34B-AEE8-A4BE499568A5}" srcOrd="1" destOrd="0" parTransId="{C5AF4D0B-4453-6A4C-A94C-2007F6A1ACFC}" sibTransId="{F4CCFC06-186F-5C49-8169-F7BEFC260E13}"/>
    <dgm:cxn modelId="{01AE3C3E-FD70-C74B-B590-221EAB5AD211}" type="presParOf" srcId="{1B06398B-7474-C84B-9994-36583DED553F}" destId="{E0A78C18-C388-B540-8EA2-410BA68241FA}" srcOrd="0" destOrd="0" presId="urn:microsoft.com/office/officeart/2005/8/layout/vProcess5"/>
    <dgm:cxn modelId="{9F8921BB-C88E-CB4B-9209-B5FFFFEB99B8}" type="presParOf" srcId="{1B06398B-7474-C84B-9994-36583DED553F}" destId="{2E47EAF7-E394-F241-8E26-1395E9FBDAC1}" srcOrd="1" destOrd="0" presId="urn:microsoft.com/office/officeart/2005/8/layout/vProcess5"/>
    <dgm:cxn modelId="{DD560F12-A0FA-6C46-95CC-38E9F75D1D43}" type="presParOf" srcId="{1B06398B-7474-C84B-9994-36583DED553F}" destId="{FB1C9BD0-BDB6-1D40-8BEC-25ED3FD8A14B}" srcOrd="2" destOrd="0" presId="urn:microsoft.com/office/officeart/2005/8/layout/vProcess5"/>
    <dgm:cxn modelId="{71ABE24E-A0C6-7948-AC3E-1868480D4F98}" type="presParOf" srcId="{1B06398B-7474-C84B-9994-36583DED553F}" destId="{6EA57474-346A-1140-BC81-54E96AA1652C}" srcOrd="3" destOrd="0" presId="urn:microsoft.com/office/officeart/2005/8/layout/vProcess5"/>
    <dgm:cxn modelId="{FAD9A178-B052-904B-A34B-3AE29D93FF8A}" type="presParOf" srcId="{1B06398B-7474-C84B-9994-36583DED553F}" destId="{1464C56F-353B-4644-B837-0C71376A8F16}" srcOrd="4" destOrd="0" presId="urn:microsoft.com/office/officeart/2005/8/layout/vProcess5"/>
    <dgm:cxn modelId="{197FCA3F-2DC7-1349-987E-F59E1A4444A8}" type="presParOf" srcId="{1B06398B-7474-C84B-9994-36583DED553F}" destId="{9907CE5C-E2B6-D349-B383-C78BE7CDA517}" srcOrd="5" destOrd="0" presId="urn:microsoft.com/office/officeart/2005/8/layout/vProcess5"/>
    <dgm:cxn modelId="{1A5EFCE3-CDD1-BF4C-BF2A-061EC7EC1690}" type="presParOf" srcId="{1B06398B-7474-C84B-9994-36583DED553F}" destId="{62FC86FF-72C2-1F47-B5A1-82D2D2444DAB}" srcOrd="6" destOrd="0" presId="urn:microsoft.com/office/officeart/2005/8/layout/vProcess5"/>
    <dgm:cxn modelId="{C1B6E6E4-912D-0F44-AC20-26EBEE334512}" type="presParOf" srcId="{1B06398B-7474-C84B-9994-36583DED553F}" destId="{9DF216B4-A1B6-5941-AC3F-D2A6D372C366}" srcOrd="7" destOrd="0" presId="urn:microsoft.com/office/officeart/2005/8/layout/vProcess5"/>
    <dgm:cxn modelId="{070D4937-B035-3841-B1FC-2A06F99BD241}" type="presParOf" srcId="{1B06398B-7474-C84B-9994-36583DED553F}" destId="{CAEC07A3-9DA2-4D48-857F-CDD9D9A52B26}" srcOrd="8" destOrd="0" presId="urn:microsoft.com/office/officeart/2005/8/layout/vProcess5"/>
    <dgm:cxn modelId="{BC8BF600-806A-4B4A-BE27-233DF35C2BED}" type="presParOf" srcId="{1B06398B-7474-C84B-9994-36583DED553F}" destId="{FE14A2B5-47E6-C54A-A4B1-FC3C853D2C96}" srcOrd="9" destOrd="0" presId="urn:microsoft.com/office/officeart/2005/8/layout/vProcess5"/>
    <dgm:cxn modelId="{85CE14C6-14E3-EF43-8A13-AA63CE4E7371}" type="presParOf" srcId="{1B06398B-7474-C84B-9994-36583DED553F}" destId="{B61849F1-FA47-174B-9E0B-06232A412EC0}" srcOrd="10" destOrd="0" presId="urn:microsoft.com/office/officeart/2005/8/layout/vProcess5"/>
    <dgm:cxn modelId="{EAA6D2C3-74FB-4C49-BD7C-759D49C2492C}" type="presParOf" srcId="{1B06398B-7474-C84B-9994-36583DED553F}" destId="{985AC2C4-C780-954D-A2FC-668E690C5CC8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262B7F-4E75-4F24-9811-8481DEE02972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6AAFFDA-EF32-4B94-A41B-3222537E503B}">
      <dgm:prSet/>
      <dgm:spPr/>
      <dgm:t>
        <a:bodyPr/>
        <a:lstStyle/>
        <a:p>
          <a:r>
            <a:rPr lang="en-US"/>
            <a:t>Managing and storing massive quantities of NYC Yellow Taxi trip data efficiently.</a:t>
          </a:r>
        </a:p>
      </dgm:t>
    </dgm:pt>
    <dgm:pt modelId="{7A22F133-6627-4758-9EF1-EFD93A73F9EA}" type="parTrans" cxnId="{3600F6C0-D4D1-4A9F-BB34-9A3DD562B270}">
      <dgm:prSet/>
      <dgm:spPr/>
      <dgm:t>
        <a:bodyPr/>
        <a:lstStyle/>
        <a:p>
          <a:endParaRPr lang="en-US"/>
        </a:p>
      </dgm:t>
    </dgm:pt>
    <dgm:pt modelId="{6EC4C2CD-F223-419B-9932-8442C4D2D960}" type="sibTrans" cxnId="{3600F6C0-D4D1-4A9F-BB34-9A3DD562B270}">
      <dgm:prSet/>
      <dgm:spPr/>
      <dgm:t>
        <a:bodyPr/>
        <a:lstStyle/>
        <a:p>
          <a:endParaRPr lang="en-US"/>
        </a:p>
      </dgm:t>
    </dgm:pt>
    <dgm:pt modelId="{946F8CFC-E34B-4275-8ED6-F2FEC878B486}">
      <dgm:prSet/>
      <dgm:spPr/>
      <dgm:t>
        <a:bodyPr/>
        <a:lstStyle/>
        <a:p>
          <a:r>
            <a:rPr lang="en-US" dirty="0"/>
            <a:t>Using cloud platforms to process vast amounts of structured taxi data in real time.</a:t>
          </a:r>
        </a:p>
      </dgm:t>
    </dgm:pt>
    <dgm:pt modelId="{E93CAD88-34A9-4BD5-9B83-4FA99B0640A9}" type="parTrans" cxnId="{8F6179A9-F11E-40FA-9217-54B6B68C8EA6}">
      <dgm:prSet/>
      <dgm:spPr/>
      <dgm:t>
        <a:bodyPr/>
        <a:lstStyle/>
        <a:p>
          <a:endParaRPr lang="en-US"/>
        </a:p>
      </dgm:t>
    </dgm:pt>
    <dgm:pt modelId="{C8DD2EBE-8AB8-4FDC-A3C4-742FF2704661}" type="sibTrans" cxnId="{8F6179A9-F11E-40FA-9217-54B6B68C8EA6}">
      <dgm:prSet/>
      <dgm:spPr/>
      <dgm:t>
        <a:bodyPr/>
        <a:lstStyle/>
        <a:p>
          <a:endParaRPr lang="en-US"/>
        </a:p>
      </dgm:t>
    </dgm:pt>
    <dgm:pt modelId="{CB614B07-BDB3-4216-AD10-2E1AE1479559}">
      <dgm:prSet/>
      <dgm:spPr/>
      <dgm:t>
        <a:bodyPr/>
        <a:lstStyle/>
        <a:p>
          <a:r>
            <a:rPr lang="en-US" dirty="0"/>
            <a:t>Addressing scalability concerns with traditional database systems</a:t>
          </a:r>
        </a:p>
      </dgm:t>
    </dgm:pt>
    <dgm:pt modelId="{83A4EA14-C219-466A-9BC8-BA08538577E5}" type="parTrans" cxnId="{589B5DD1-7B93-43B4-ABE6-63FA65A6D202}">
      <dgm:prSet/>
      <dgm:spPr/>
      <dgm:t>
        <a:bodyPr/>
        <a:lstStyle/>
        <a:p>
          <a:endParaRPr lang="en-US"/>
        </a:p>
      </dgm:t>
    </dgm:pt>
    <dgm:pt modelId="{ED74A8F9-24B7-4990-9297-D9A23E2EF2BA}" type="sibTrans" cxnId="{589B5DD1-7B93-43B4-ABE6-63FA65A6D202}">
      <dgm:prSet/>
      <dgm:spPr/>
      <dgm:t>
        <a:bodyPr/>
        <a:lstStyle/>
        <a:p>
          <a:endParaRPr lang="en-US"/>
        </a:p>
      </dgm:t>
    </dgm:pt>
    <dgm:pt modelId="{307A5F49-1C6B-4691-B165-DE469452FEA7}">
      <dgm:prSet/>
      <dgm:spPr>
        <a:solidFill>
          <a:schemeClr val="accent5"/>
        </a:solidFill>
      </dgm:spPr>
      <dgm:t>
        <a:bodyPr/>
        <a:lstStyle/>
        <a:p>
          <a:r>
            <a:rPr lang="en-US"/>
            <a:t>Comparison of Data Lakes and Data Warehouses for Taxi Analytics</a:t>
          </a:r>
        </a:p>
      </dgm:t>
    </dgm:pt>
    <dgm:pt modelId="{037681C2-1AAE-41D4-A077-748FCBB0C718}" type="parTrans" cxnId="{F2582993-51A7-406C-BA58-958FFAADB134}">
      <dgm:prSet/>
      <dgm:spPr/>
      <dgm:t>
        <a:bodyPr/>
        <a:lstStyle/>
        <a:p>
          <a:endParaRPr lang="en-US"/>
        </a:p>
      </dgm:t>
    </dgm:pt>
    <dgm:pt modelId="{1FC57173-F64B-4554-8A8F-74EECD284DEF}" type="sibTrans" cxnId="{F2582993-51A7-406C-BA58-958FFAADB134}">
      <dgm:prSet/>
      <dgm:spPr/>
      <dgm:t>
        <a:bodyPr/>
        <a:lstStyle/>
        <a:p>
          <a:endParaRPr lang="en-US"/>
        </a:p>
      </dgm:t>
    </dgm:pt>
    <dgm:pt modelId="{C517F3B3-9C6F-43FF-B5AD-A7D63DA9B470}">
      <dgm:prSet/>
      <dgm:spPr/>
      <dgm:t>
        <a:bodyPr/>
        <a:lstStyle/>
        <a:p>
          <a:r>
            <a:rPr lang="en-US"/>
            <a:t>Reducing storage and processing costs for large data workloads</a:t>
          </a:r>
        </a:p>
      </dgm:t>
    </dgm:pt>
    <dgm:pt modelId="{4B3BA231-0EF3-47E5-8BA7-073ECAFB9757}" type="parTrans" cxnId="{0CF05AB9-2C5B-4FB1-BFA4-1244DB87D2C1}">
      <dgm:prSet/>
      <dgm:spPr/>
      <dgm:t>
        <a:bodyPr/>
        <a:lstStyle/>
        <a:p>
          <a:endParaRPr lang="en-US"/>
        </a:p>
      </dgm:t>
    </dgm:pt>
    <dgm:pt modelId="{4CD0ABBF-5189-4A7D-A3F1-FCD73CA1BE12}" type="sibTrans" cxnId="{0CF05AB9-2C5B-4FB1-BFA4-1244DB87D2C1}">
      <dgm:prSet/>
      <dgm:spPr/>
      <dgm:t>
        <a:bodyPr/>
        <a:lstStyle/>
        <a:p>
          <a:endParaRPr lang="en-US"/>
        </a:p>
      </dgm:t>
    </dgm:pt>
    <dgm:pt modelId="{8BE03CB6-8A12-4573-A15E-6D51EBB67D17}">
      <dgm:prSet/>
      <dgm:spPr/>
      <dgm:t>
        <a:bodyPr/>
        <a:lstStyle/>
        <a:p>
          <a:r>
            <a:rPr lang="en-US"/>
            <a:t>Providing rapid analytical queries for fare, location, and trip analysis.</a:t>
          </a:r>
        </a:p>
      </dgm:t>
    </dgm:pt>
    <dgm:pt modelId="{E25B4C33-205B-400D-A83B-BCCD402A2783}" type="parTrans" cxnId="{992F84FC-01F8-4C5C-B60E-A46C5C6AD96F}">
      <dgm:prSet/>
      <dgm:spPr/>
      <dgm:t>
        <a:bodyPr/>
        <a:lstStyle/>
        <a:p>
          <a:endParaRPr lang="en-US"/>
        </a:p>
      </dgm:t>
    </dgm:pt>
    <dgm:pt modelId="{DEA4FFA5-1A23-4B6E-A88A-10692950E24E}" type="sibTrans" cxnId="{992F84FC-01F8-4C5C-B60E-A46C5C6AD96F}">
      <dgm:prSet/>
      <dgm:spPr/>
      <dgm:t>
        <a:bodyPr/>
        <a:lstStyle/>
        <a:p>
          <a:endParaRPr lang="en-US"/>
        </a:p>
      </dgm:t>
    </dgm:pt>
    <dgm:pt modelId="{F9D02828-A6D3-426A-BF2E-9DF0C94AB3E1}">
      <dgm:prSet/>
      <dgm:spPr/>
      <dgm:t>
        <a:bodyPr/>
        <a:lstStyle/>
        <a:p>
          <a:r>
            <a:rPr lang="en-US"/>
            <a:t>Ensure efficient integration of temporal, geographical, and fare-related taxi data.</a:t>
          </a:r>
        </a:p>
      </dgm:t>
    </dgm:pt>
    <dgm:pt modelId="{85FCF598-3C69-464B-9723-69F83FDA7780}" type="parTrans" cxnId="{BB35ED24-2A2D-4A19-AF2E-750ECFF37FBA}">
      <dgm:prSet/>
      <dgm:spPr/>
      <dgm:t>
        <a:bodyPr/>
        <a:lstStyle/>
        <a:p>
          <a:endParaRPr lang="en-US"/>
        </a:p>
      </dgm:t>
    </dgm:pt>
    <dgm:pt modelId="{2764BC17-F610-453B-AF01-5DF8EE389E31}" type="sibTrans" cxnId="{BB35ED24-2A2D-4A19-AF2E-750ECFF37FBA}">
      <dgm:prSet/>
      <dgm:spPr/>
      <dgm:t>
        <a:bodyPr/>
        <a:lstStyle/>
        <a:p>
          <a:endParaRPr lang="en-US"/>
        </a:p>
      </dgm:t>
    </dgm:pt>
    <dgm:pt modelId="{A9784F7A-EED4-477D-879B-47660862BB19}">
      <dgm:prSet/>
      <dgm:spPr/>
      <dgm:t>
        <a:bodyPr/>
        <a:lstStyle/>
        <a:p>
          <a:r>
            <a:rPr lang="en-US"/>
            <a:t>Improving decision-making with cloud-based big data architectures.</a:t>
          </a:r>
        </a:p>
      </dgm:t>
    </dgm:pt>
    <dgm:pt modelId="{C57DFA58-F863-4EA8-9D1A-2D7E1E89B5E6}" type="parTrans" cxnId="{EDA8E461-11C2-4C65-93BC-5F367C685710}">
      <dgm:prSet/>
      <dgm:spPr/>
      <dgm:t>
        <a:bodyPr/>
        <a:lstStyle/>
        <a:p>
          <a:endParaRPr lang="en-US"/>
        </a:p>
      </dgm:t>
    </dgm:pt>
    <dgm:pt modelId="{C4E0DA0F-D71A-460B-A999-B643917100C8}" type="sibTrans" cxnId="{EDA8E461-11C2-4C65-93BC-5F367C685710}">
      <dgm:prSet/>
      <dgm:spPr/>
      <dgm:t>
        <a:bodyPr/>
        <a:lstStyle/>
        <a:p>
          <a:endParaRPr lang="en-US"/>
        </a:p>
      </dgm:t>
    </dgm:pt>
    <dgm:pt modelId="{E8EA0D28-1D03-A14F-8C92-94E73ADF7E0A}" type="pres">
      <dgm:prSet presAssocID="{34262B7F-4E75-4F24-9811-8481DEE02972}" presName="diagram" presStyleCnt="0">
        <dgm:presLayoutVars>
          <dgm:dir/>
          <dgm:resizeHandles val="exact"/>
        </dgm:presLayoutVars>
      </dgm:prSet>
      <dgm:spPr/>
    </dgm:pt>
    <dgm:pt modelId="{3CF1A3A8-E7F0-CD45-8704-14D51BC36A0B}" type="pres">
      <dgm:prSet presAssocID="{36AAFFDA-EF32-4B94-A41B-3222537E503B}" presName="node" presStyleLbl="node1" presStyleIdx="0" presStyleCnt="8">
        <dgm:presLayoutVars>
          <dgm:bulletEnabled val="1"/>
        </dgm:presLayoutVars>
      </dgm:prSet>
      <dgm:spPr/>
    </dgm:pt>
    <dgm:pt modelId="{86CC9119-54FD-7D41-8D85-BA6ED3FC5FAB}" type="pres">
      <dgm:prSet presAssocID="{6EC4C2CD-F223-419B-9932-8442C4D2D960}" presName="sibTrans" presStyleCnt="0"/>
      <dgm:spPr/>
    </dgm:pt>
    <dgm:pt modelId="{FBA1461B-4AF9-0B47-9F06-91783E35A1D3}" type="pres">
      <dgm:prSet presAssocID="{946F8CFC-E34B-4275-8ED6-F2FEC878B486}" presName="node" presStyleLbl="node1" presStyleIdx="1" presStyleCnt="8">
        <dgm:presLayoutVars>
          <dgm:bulletEnabled val="1"/>
        </dgm:presLayoutVars>
      </dgm:prSet>
      <dgm:spPr/>
    </dgm:pt>
    <dgm:pt modelId="{66FA9F3D-5FA4-C645-837C-1E9C41FDAFF4}" type="pres">
      <dgm:prSet presAssocID="{C8DD2EBE-8AB8-4FDC-A3C4-742FF2704661}" presName="sibTrans" presStyleCnt="0"/>
      <dgm:spPr/>
    </dgm:pt>
    <dgm:pt modelId="{9383FAB5-2215-414C-A393-F9FCED4DCE3C}" type="pres">
      <dgm:prSet presAssocID="{CB614B07-BDB3-4216-AD10-2E1AE1479559}" presName="node" presStyleLbl="node1" presStyleIdx="2" presStyleCnt="8">
        <dgm:presLayoutVars>
          <dgm:bulletEnabled val="1"/>
        </dgm:presLayoutVars>
      </dgm:prSet>
      <dgm:spPr/>
    </dgm:pt>
    <dgm:pt modelId="{74E54E54-B4CD-7644-ACC9-838F85A268F1}" type="pres">
      <dgm:prSet presAssocID="{ED74A8F9-24B7-4990-9297-D9A23E2EF2BA}" presName="sibTrans" presStyleCnt="0"/>
      <dgm:spPr/>
    </dgm:pt>
    <dgm:pt modelId="{72232541-4903-9549-A516-2B485A62A1A9}" type="pres">
      <dgm:prSet presAssocID="{307A5F49-1C6B-4691-B165-DE469452FEA7}" presName="node" presStyleLbl="node1" presStyleIdx="3" presStyleCnt="8">
        <dgm:presLayoutVars>
          <dgm:bulletEnabled val="1"/>
        </dgm:presLayoutVars>
      </dgm:prSet>
      <dgm:spPr/>
    </dgm:pt>
    <dgm:pt modelId="{330EE704-948C-A14F-AEA4-556F3FB6EE94}" type="pres">
      <dgm:prSet presAssocID="{1FC57173-F64B-4554-8A8F-74EECD284DEF}" presName="sibTrans" presStyleCnt="0"/>
      <dgm:spPr/>
    </dgm:pt>
    <dgm:pt modelId="{82029267-CF80-9447-A06A-91B74AA31B2A}" type="pres">
      <dgm:prSet presAssocID="{C517F3B3-9C6F-43FF-B5AD-A7D63DA9B470}" presName="node" presStyleLbl="node1" presStyleIdx="4" presStyleCnt="8">
        <dgm:presLayoutVars>
          <dgm:bulletEnabled val="1"/>
        </dgm:presLayoutVars>
      </dgm:prSet>
      <dgm:spPr/>
    </dgm:pt>
    <dgm:pt modelId="{A17D2D87-1EA2-DA46-B312-8F6F247EE37E}" type="pres">
      <dgm:prSet presAssocID="{4CD0ABBF-5189-4A7D-A3F1-FCD73CA1BE12}" presName="sibTrans" presStyleCnt="0"/>
      <dgm:spPr/>
    </dgm:pt>
    <dgm:pt modelId="{C153C8AB-0A15-7D41-8712-5EAE27225821}" type="pres">
      <dgm:prSet presAssocID="{8BE03CB6-8A12-4573-A15E-6D51EBB67D17}" presName="node" presStyleLbl="node1" presStyleIdx="5" presStyleCnt="8">
        <dgm:presLayoutVars>
          <dgm:bulletEnabled val="1"/>
        </dgm:presLayoutVars>
      </dgm:prSet>
      <dgm:spPr/>
    </dgm:pt>
    <dgm:pt modelId="{3F177F9F-6174-5D43-BD45-96B1B12A1B32}" type="pres">
      <dgm:prSet presAssocID="{DEA4FFA5-1A23-4B6E-A88A-10692950E24E}" presName="sibTrans" presStyleCnt="0"/>
      <dgm:spPr/>
    </dgm:pt>
    <dgm:pt modelId="{8D8D7F7B-4D96-5D41-A578-0C4BA5997266}" type="pres">
      <dgm:prSet presAssocID="{F9D02828-A6D3-426A-BF2E-9DF0C94AB3E1}" presName="node" presStyleLbl="node1" presStyleIdx="6" presStyleCnt="8">
        <dgm:presLayoutVars>
          <dgm:bulletEnabled val="1"/>
        </dgm:presLayoutVars>
      </dgm:prSet>
      <dgm:spPr/>
    </dgm:pt>
    <dgm:pt modelId="{5526F8CA-F106-F442-94C5-5FF0E204E678}" type="pres">
      <dgm:prSet presAssocID="{2764BC17-F610-453B-AF01-5DF8EE389E31}" presName="sibTrans" presStyleCnt="0"/>
      <dgm:spPr/>
    </dgm:pt>
    <dgm:pt modelId="{FD1D05FA-53A5-3545-AD0C-0731AF4035CB}" type="pres">
      <dgm:prSet presAssocID="{A9784F7A-EED4-477D-879B-47660862BB19}" presName="node" presStyleLbl="node1" presStyleIdx="7" presStyleCnt="8">
        <dgm:presLayoutVars>
          <dgm:bulletEnabled val="1"/>
        </dgm:presLayoutVars>
      </dgm:prSet>
      <dgm:spPr/>
    </dgm:pt>
  </dgm:ptLst>
  <dgm:cxnLst>
    <dgm:cxn modelId="{F79E3C0A-C590-CF4E-9BBF-F3F896CF804C}" type="presOf" srcId="{307A5F49-1C6B-4691-B165-DE469452FEA7}" destId="{72232541-4903-9549-A516-2B485A62A1A9}" srcOrd="0" destOrd="0" presId="urn:microsoft.com/office/officeart/2005/8/layout/default"/>
    <dgm:cxn modelId="{A748CD19-AAF3-2349-93F3-322A20BF1433}" type="presOf" srcId="{8BE03CB6-8A12-4573-A15E-6D51EBB67D17}" destId="{C153C8AB-0A15-7D41-8712-5EAE27225821}" srcOrd="0" destOrd="0" presId="urn:microsoft.com/office/officeart/2005/8/layout/default"/>
    <dgm:cxn modelId="{BB35ED24-2A2D-4A19-AF2E-750ECFF37FBA}" srcId="{34262B7F-4E75-4F24-9811-8481DEE02972}" destId="{F9D02828-A6D3-426A-BF2E-9DF0C94AB3E1}" srcOrd="6" destOrd="0" parTransId="{85FCF598-3C69-464B-9723-69F83FDA7780}" sibTransId="{2764BC17-F610-453B-AF01-5DF8EE389E31}"/>
    <dgm:cxn modelId="{2DDB5D25-EB9E-6640-9654-6A93E2648454}" type="presOf" srcId="{CB614B07-BDB3-4216-AD10-2E1AE1479559}" destId="{9383FAB5-2215-414C-A393-F9FCED4DCE3C}" srcOrd="0" destOrd="0" presId="urn:microsoft.com/office/officeart/2005/8/layout/default"/>
    <dgm:cxn modelId="{EDA8E461-11C2-4C65-93BC-5F367C685710}" srcId="{34262B7F-4E75-4F24-9811-8481DEE02972}" destId="{A9784F7A-EED4-477D-879B-47660862BB19}" srcOrd="7" destOrd="0" parTransId="{C57DFA58-F863-4EA8-9D1A-2D7E1E89B5E6}" sibTransId="{C4E0DA0F-D71A-460B-A999-B643917100C8}"/>
    <dgm:cxn modelId="{B0397F73-CE32-4644-B6C5-9C2018000A6A}" type="presOf" srcId="{F9D02828-A6D3-426A-BF2E-9DF0C94AB3E1}" destId="{8D8D7F7B-4D96-5D41-A578-0C4BA5997266}" srcOrd="0" destOrd="0" presId="urn:microsoft.com/office/officeart/2005/8/layout/default"/>
    <dgm:cxn modelId="{B18F628C-2FDB-6741-99FC-0019947C7AAC}" type="presOf" srcId="{946F8CFC-E34B-4275-8ED6-F2FEC878B486}" destId="{FBA1461B-4AF9-0B47-9F06-91783E35A1D3}" srcOrd="0" destOrd="0" presId="urn:microsoft.com/office/officeart/2005/8/layout/default"/>
    <dgm:cxn modelId="{31A8208F-6294-924E-AD95-1AD5B067D2C1}" type="presOf" srcId="{34262B7F-4E75-4F24-9811-8481DEE02972}" destId="{E8EA0D28-1D03-A14F-8C92-94E73ADF7E0A}" srcOrd="0" destOrd="0" presId="urn:microsoft.com/office/officeart/2005/8/layout/default"/>
    <dgm:cxn modelId="{F2582993-51A7-406C-BA58-958FFAADB134}" srcId="{34262B7F-4E75-4F24-9811-8481DEE02972}" destId="{307A5F49-1C6B-4691-B165-DE469452FEA7}" srcOrd="3" destOrd="0" parTransId="{037681C2-1AAE-41D4-A077-748FCBB0C718}" sibTransId="{1FC57173-F64B-4554-8A8F-74EECD284DEF}"/>
    <dgm:cxn modelId="{8F6179A9-F11E-40FA-9217-54B6B68C8EA6}" srcId="{34262B7F-4E75-4F24-9811-8481DEE02972}" destId="{946F8CFC-E34B-4275-8ED6-F2FEC878B486}" srcOrd="1" destOrd="0" parTransId="{E93CAD88-34A9-4BD5-9B83-4FA99B0640A9}" sibTransId="{C8DD2EBE-8AB8-4FDC-A3C4-742FF2704661}"/>
    <dgm:cxn modelId="{0CF05AB9-2C5B-4FB1-BFA4-1244DB87D2C1}" srcId="{34262B7F-4E75-4F24-9811-8481DEE02972}" destId="{C517F3B3-9C6F-43FF-B5AD-A7D63DA9B470}" srcOrd="4" destOrd="0" parTransId="{4B3BA231-0EF3-47E5-8BA7-073ECAFB9757}" sibTransId="{4CD0ABBF-5189-4A7D-A3F1-FCD73CA1BE12}"/>
    <dgm:cxn modelId="{3600F6C0-D4D1-4A9F-BB34-9A3DD562B270}" srcId="{34262B7F-4E75-4F24-9811-8481DEE02972}" destId="{36AAFFDA-EF32-4B94-A41B-3222537E503B}" srcOrd="0" destOrd="0" parTransId="{7A22F133-6627-4758-9EF1-EFD93A73F9EA}" sibTransId="{6EC4C2CD-F223-419B-9932-8442C4D2D960}"/>
    <dgm:cxn modelId="{589B5DD1-7B93-43B4-ABE6-63FA65A6D202}" srcId="{34262B7F-4E75-4F24-9811-8481DEE02972}" destId="{CB614B07-BDB3-4216-AD10-2E1AE1479559}" srcOrd="2" destOrd="0" parTransId="{83A4EA14-C219-466A-9BC8-BA08538577E5}" sibTransId="{ED74A8F9-24B7-4990-9297-D9A23E2EF2BA}"/>
    <dgm:cxn modelId="{FF0414D5-24C2-8A45-9046-251FEA4000D5}" type="presOf" srcId="{C517F3B3-9C6F-43FF-B5AD-A7D63DA9B470}" destId="{82029267-CF80-9447-A06A-91B74AA31B2A}" srcOrd="0" destOrd="0" presId="urn:microsoft.com/office/officeart/2005/8/layout/default"/>
    <dgm:cxn modelId="{1892A8E0-843B-644C-928A-F14F9C9F27B7}" type="presOf" srcId="{36AAFFDA-EF32-4B94-A41B-3222537E503B}" destId="{3CF1A3A8-E7F0-CD45-8704-14D51BC36A0B}" srcOrd="0" destOrd="0" presId="urn:microsoft.com/office/officeart/2005/8/layout/default"/>
    <dgm:cxn modelId="{D55321E4-3ED0-A74D-94D2-242ED68EA7F9}" type="presOf" srcId="{A9784F7A-EED4-477D-879B-47660862BB19}" destId="{FD1D05FA-53A5-3545-AD0C-0731AF4035CB}" srcOrd="0" destOrd="0" presId="urn:microsoft.com/office/officeart/2005/8/layout/default"/>
    <dgm:cxn modelId="{992F84FC-01F8-4C5C-B60E-A46C5C6AD96F}" srcId="{34262B7F-4E75-4F24-9811-8481DEE02972}" destId="{8BE03CB6-8A12-4573-A15E-6D51EBB67D17}" srcOrd="5" destOrd="0" parTransId="{E25B4C33-205B-400D-A83B-BCCD402A2783}" sibTransId="{DEA4FFA5-1A23-4B6E-A88A-10692950E24E}"/>
    <dgm:cxn modelId="{BF09CCC1-FD2C-6D44-9534-AF633C545DE7}" type="presParOf" srcId="{E8EA0D28-1D03-A14F-8C92-94E73ADF7E0A}" destId="{3CF1A3A8-E7F0-CD45-8704-14D51BC36A0B}" srcOrd="0" destOrd="0" presId="urn:microsoft.com/office/officeart/2005/8/layout/default"/>
    <dgm:cxn modelId="{B54E104E-BD8A-5D4E-BAFB-FC56461EBDB8}" type="presParOf" srcId="{E8EA0D28-1D03-A14F-8C92-94E73ADF7E0A}" destId="{86CC9119-54FD-7D41-8D85-BA6ED3FC5FAB}" srcOrd="1" destOrd="0" presId="urn:microsoft.com/office/officeart/2005/8/layout/default"/>
    <dgm:cxn modelId="{8D8DF4AB-2C54-B14A-B05D-7AF6FFE9F5A9}" type="presParOf" srcId="{E8EA0D28-1D03-A14F-8C92-94E73ADF7E0A}" destId="{FBA1461B-4AF9-0B47-9F06-91783E35A1D3}" srcOrd="2" destOrd="0" presId="urn:microsoft.com/office/officeart/2005/8/layout/default"/>
    <dgm:cxn modelId="{71E5787F-9B4F-9A4D-8B74-D6BC7C0E8A50}" type="presParOf" srcId="{E8EA0D28-1D03-A14F-8C92-94E73ADF7E0A}" destId="{66FA9F3D-5FA4-C645-837C-1E9C41FDAFF4}" srcOrd="3" destOrd="0" presId="urn:microsoft.com/office/officeart/2005/8/layout/default"/>
    <dgm:cxn modelId="{9FCD91E9-52C0-9F4B-974E-6C6F070E34BE}" type="presParOf" srcId="{E8EA0D28-1D03-A14F-8C92-94E73ADF7E0A}" destId="{9383FAB5-2215-414C-A393-F9FCED4DCE3C}" srcOrd="4" destOrd="0" presId="urn:microsoft.com/office/officeart/2005/8/layout/default"/>
    <dgm:cxn modelId="{824077FB-D2C2-6F47-A6F9-27D30C0C1A02}" type="presParOf" srcId="{E8EA0D28-1D03-A14F-8C92-94E73ADF7E0A}" destId="{74E54E54-B4CD-7644-ACC9-838F85A268F1}" srcOrd="5" destOrd="0" presId="urn:microsoft.com/office/officeart/2005/8/layout/default"/>
    <dgm:cxn modelId="{2BCC1938-266F-0447-9F10-9F0B9474DD0A}" type="presParOf" srcId="{E8EA0D28-1D03-A14F-8C92-94E73ADF7E0A}" destId="{72232541-4903-9549-A516-2B485A62A1A9}" srcOrd="6" destOrd="0" presId="urn:microsoft.com/office/officeart/2005/8/layout/default"/>
    <dgm:cxn modelId="{4CE9A37D-D0EF-7443-9BF9-CB214DDFCB63}" type="presParOf" srcId="{E8EA0D28-1D03-A14F-8C92-94E73ADF7E0A}" destId="{330EE704-948C-A14F-AEA4-556F3FB6EE94}" srcOrd="7" destOrd="0" presId="urn:microsoft.com/office/officeart/2005/8/layout/default"/>
    <dgm:cxn modelId="{8D6E4DBB-42B6-2D43-B7B5-1D450FD943C1}" type="presParOf" srcId="{E8EA0D28-1D03-A14F-8C92-94E73ADF7E0A}" destId="{82029267-CF80-9447-A06A-91B74AA31B2A}" srcOrd="8" destOrd="0" presId="urn:microsoft.com/office/officeart/2005/8/layout/default"/>
    <dgm:cxn modelId="{4C60BCA6-3953-6D4E-93DA-F7C0B02126DC}" type="presParOf" srcId="{E8EA0D28-1D03-A14F-8C92-94E73ADF7E0A}" destId="{A17D2D87-1EA2-DA46-B312-8F6F247EE37E}" srcOrd="9" destOrd="0" presId="urn:microsoft.com/office/officeart/2005/8/layout/default"/>
    <dgm:cxn modelId="{DA780C8F-10EC-F249-A19D-D9B8FAA6D59B}" type="presParOf" srcId="{E8EA0D28-1D03-A14F-8C92-94E73ADF7E0A}" destId="{C153C8AB-0A15-7D41-8712-5EAE27225821}" srcOrd="10" destOrd="0" presId="urn:microsoft.com/office/officeart/2005/8/layout/default"/>
    <dgm:cxn modelId="{4F67D986-2B6C-F646-A9AD-31329645FAA8}" type="presParOf" srcId="{E8EA0D28-1D03-A14F-8C92-94E73ADF7E0A}" destId="{3F177F9F-6174-5D43-BD45-96B1B12A1B32}" srcOrd="11" destOrd="0" presId="urn:microsoft.com/office/officeart/2005/8/layout/default"/>
    <dgm:cxn modelId="{B4E40FE3-8B9A-6E4F-9912-00337634DA08}" type="presParOf" srcId="{E8EA0D28-1D03-A14F-8C92-94E73ADF7E0A}" destId="{8D8D7F7B-4D96-5D41-A578-0C4BA5997266}" srcOrd="12" destOrd="0" presId="urn:microsoft.com/office/officeart/2005/8/layout/default"/>
    <dgm:cxn modelId="{F6E3DB15-E97C-4048-99DF-474AEDCE054B}" type="presParOf" srcId="{E8EA0D28-1D03-A14F-8C92-94E73ADF7E0A}" destId="{5526F8CA-F106-F442-94C5-5FF0E204E678}" srcOrd="13" destOrd="0" presId="urn:microsoft.com/office/officeart/2005/8/layout/default"/>
    <dgm:cxn modelId="{22522460-836E-AE4E-A75C-1C2B50C1E973}" type="presParOf" srcId="{E8EA0D28-1D03-A14F-8C92-94E73ADF7E0A}" destId="{FD1D05FA-53A5-3545-AD0C-0731AF4035CB}" srcOrd="14" destOrd="0" presId="urn:microsoft.com/office/officeart/2005/8/layout/default"/>
  </dgm:cxnLst>
  <dgm:bg>
    <a:solidFill>
      <a:schemeClr val="accent3">
        <a:lumMod val="40000"/>
        <a:lumOff val="60000"/>
        <a:alpha val="71151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A455399-7FE2-4268-B982-3378ADC7CFA0}" type="doc">
      <dgm:prSet loTypeId="urn:microsoft.com/office/officeart/2018/2/layout/IconVerticalSolidList" loCatId="icon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9BA30F7-661A-45DC-A79C-ED180AC42F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Collect the NYC Yellow Taxi dataset, which includes journey, fare, time, and geographic information.</a:t>
          </a:r>
        </a:p>
      </dgm:t>
    </dgm:pt>
    <dgm:pt modelId="{EC3AB916-2D8A-471D-978B-320D7AF6AAAB}" type="parTrans" cxnId="{B0D5A50D-6F2D-4623-B5AF-36B350D5A1E8}">
      <dgm:prSet/>
      <dgm:spPr/>
      <dgm:t>
        <a:bodyPr/>
        <a:lstStyle/>
        <a:p>
          <a:endParaRPr lang="en-US"/>
        </a:p>
      </dgm:t>
    </dgm:pt>
    <dgm:pt modelId="{09179670-1D75-427C-A715-8C0BD8AFE15D}" type="sibTrans" cxnId="{B0D5A50D-6F2D-4623-B5AF-36B350D5A1E8}">
      <dgm:prSet phldrT="1" phldr="0"/>
      <dgm:spPr/>
      <dgm:t>
        <a:bodyPr/>
        <a:lstStyle/>
        <a:p>
          <a:endParaRPr lang="en-US" dirty="0"/>
        </a:p>
      </dgm:t>
    </dgm:pt>
    <dgm:pt modelId="{039FAF81-1BDC-407F-9978-070487C938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Store the raw dataset in Google Cloud Storage as a Data Lake. Then, process and transform it for structured analytics.</a:t>
          </a:r>
        </a:p>
      </dgm:t>
    </dgm:pt>
    <dgm:pt modelId="{A583ADE1-D375-4662-89B1-5B9782AAB74C}" type="parTrans" cxnId="{D7440EB6-6AF1-4DE1-988A-FB1A92DB75CA}">
      <dgm:prSet/>
      <dgm:spPr/>
      <dgm:t>
        <a:bodyPr/>
        <a:lstStyle/>
        <a:p>
          <a:endParaRPr lang="en-US"/>
        </a:p>
      </dgm:t>
    </dgm:pt>
    <dgm:pt modelId="{4479681A-2CBD-4765-94BD-5F3A096ABB71}" type="sibTrans" cxnId="{D7440EB6-6AF1-4DE1-988A-FB1A92DB75CA}">
      <dgm:prSet phldrT="2" phldr="0"/>
      <dgm:spPr/>
      <dgm:t>
        <a:bodyPr/>
        <a:lstStyle/>
        <a:p>
          <a:endParaRPr lang="en-US"/>
        </a:p>
      </dgm:t>
    </dgm:pt>
    <dgm:pt modelId="{1BB75A80-BF1A-4331-A8A4-364482565A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Load processed data to a cloud-based Data Warehouse for querying and reporting.</a:t>
          </a:r>
        </a:p>
      </dgm:t>
    </dgm:pt>
    <dgm:pt modelId="{C5BCF2CB-5D4F-4F19-8353-19B9F5629BCB}" type="parTrans" cxnId="{75C8A646-6C67-4576-8838-32EA0D041348}">
      <dgm:prSet/>
      <dgm:spPr/>
      <dgm:t>
        <a:bodyPr/>
        <a:lstStyle/>
        <a:p>
          <a:endParaRPr lang="en-US"/>
        </a:p>
      </dgm:t>
    </dgm:pt>
    <dgm:pt modelId="{140B929C-30FB-4170-B1D5-D60FA3F820D4}" type="sibTrans" cxnId="{75C8A646-6C67-4576-8838-32EA0D041348}">
      <dgm:prSet phldrT="3" phldr="0"/>
      <dgm:spPr/>
      <dgm:t>
        <a:bodyPr/>
        <a:lstStyle/>
        <a:p>
          <a:endParaRPr lang="en-US"/>
        </a:p>
      </dgm:t>
    </dgm:pt>
    <dgm:pt modelId="{13769F8B-6610-458C-833E-D6989A0D64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Conduct analytical queries to investigate journey patterns, tariff trends, and location-based information.</a:t>
          </a:r>
        </a:p>
      </dgm:t>
    </dgm:pt>
    <dgm:pt modelId="{1B501C83-89A3-4C82-845E-7259BA30780A}" type="parTrans" cxnId="{288A7C44-06F5-4738-8F38-7A2ABEEE668C}">
      <dgm:prSet/>
      <dgm:spPr/>
      <dgm:t>
        <a:bodyPr/>
        <a:lstStyle/>
        <a:p>
          <a:endParaRPr lang="en-US"/>
        </a:p>
      </dgm:t>
    </dgm:pt>
    <dgm:pt modelId="{1AE96878-700E-466B-BADF-9EA4E22E34F6}" type="sibTrans" cxnId="{288A7C44-06F5-4738-8F38-7A2ABEEE668C}">
      <dgm:prSet phldrT="4" phldr="0"/>
      <dgm:spPr/>
      <dgm:t>
        <a:bodyPr/>
        <a:lstStyle/>
        <a:p>
          <a:endParaRPr lang="en-US"/>
        </a:p>
      </dgm:t>
    </dgm:pt>
    <dgm:pt modelId="{76051C30-523F-4FEC-BA6D-FD41F9B89826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dirty="0"/>
            <a:t>Compare the performance of Data Lake with Data Warehouse based on scalability, storage efficiency, query speed, and cost.</a:t>
          </a:r>
        </a:p>
      </dgm:t>
    </dgm:pt>
    <dgm:pt modelId="{6ECF0450-5F4E-44B5-88BB-35C6A2315A4F}" type="parTrans" cxnId="{970C3367-3C3A-43C3-9411-236B4269F0BD}">
      <dgm:prSet/>
      <dgm:spPr/>
      <dgm:t>
        <a:bodyPr/>
        <a:lstStyle/>
        <a:p>
          <a:endParaRPr lang="en-US"/>
        </a:p>
      </dgm:t>
    </dgm:pt>
    <dgm:pt modelId="{2BC7D84E-087F-4F85-927C-8C67169F201C}" type="sibTrans" cxnId="{970C3367-3C3A-43C3-9411-236B4269F0BD}">
      <dgm:prSet phldrT="5" phldr="0"/>
      <dgm:spPr>
        <a:solidFill>
          <a:schemeClr val="accent3"/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endParaRPr lang="en-US"/>
        </a:p>
      </dgm:t>
    </dgm:pt>
    <dgm:pt modelId="{4CC20C91-D6C9-40B1-BCC9-8EDD121920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Assess the applicability of cloud infrastructures for large-scale taxi data analytics.</a:t>
          </a:r>
        </a:p>
      </dgm:t>
    </dgm:pt>
    <dgm:pt modelId="{731A9CD3-5B42-432C-9843-A9011A0CB15E}" type="parTrans" cxnId="{2EF44C7E-CFE9-424A-9F46-7A117151505F}">
      <dgm:prSet/>
      <dgm:spPr/>
      <dgm:t>
        <a:bodyPr/>
        <a:lstStyle/>
        <a:p>
          <a:endParaRPr lang="en-US"/>
        </a:p>
      </dgm:t>
    </dgm:pt>
    <dgm:pt modelId="{7D999E8C-5237-4F81-9CC4-44CA5329AA0B}" type="sibTrans" cxnId="{2EF44C7E-CFE9-424A-9F46-7A117151505F}">
      <dgm:prSet phldrT="6" phldr="0"/>
      <dgm:spPr/>
      <dgm:t>
        <a:bodyPr/>
        <a:lstStyle/>
        <a:p>
          <a:endParaRPr lang="en-US"/>
        </a:p>
      </dgm:t>
    </dgm:pt>
    <dgm:pt modelId="{A9258BEE-5769-49BF-A5D5-761A269335AB}" type="pres">
      <dgm:prSet presAssocID="{3A455399-7FE2-4268-B982-3378ADC7CFA0}" presName="root" presStyleCnt="0">
        <dgm:presLayoutVars>
          <dgm:dir/>
          <dgm:resizeHandles val="exact"/>
        </dgm:presLayoutVars>
      </dgm:prSet>
      <dgm:spPr/>
    </dgm:pt>
    <dgm:pt modelId="{AF632667-6158-467E-96DC-18D08CC7BF84}" type="pres">
      <dgm:prSet presAssocID="{29BA30F7-661A-45DC-A79C-ED180AC42F73}" presName="compNode" presStyleCnt="0"/>
      <dgm:spPr/>
    </dgm:pt>
    <dgm:pt modelId="{BE4EBBB3-4E06-483D-A019-3C86D0BF640A}" type="pres">
      <dgm:prSet presAssocID="{29BA30F7-661A-45DC-A79C-ED180AC42F73}" presName="bgRect" presStyleLbl="bgShp" presStyleIdx="0" presStyleCnt="6"/>
      <dgm:spPr>
        <a:solidFill>
          <a:schemeClr val="accent4">
            <a:lumMod val="60000"/>
            <a:lumOff val="40000"/>
          </a:schemeClr>
        </a:solidFill>
      </dgm:spPr>
    </dgm:pt>
    <dgm:pt modelId="{BE6FD862-9FBA-497E-A4E5-005C321D79D1}" type="pres">
      <dgm:prSet presAssocID="{29BA30F7-661A-45DC-A79C-ED180AC42F73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xi"/>
        </a:ext>
      </dgm:extLst>
    </dgm:pt>
    <dgm:pt modelId="{E0B39B0B-558A-4A70-A109-EE7407CAAAD3}" type="pres">
      <dgm:prSet presAssocID="{29BA30F7-661A-45DC-A79C-ED180AC42F73}" presName="spaceRect" presStyleCnt="0"/>
      <dgm:spPr/>
    </dgm:pt>
    <dgm:pt modelId="{35F59295-0F9A-402E-9FD6-4506DAE2F3FF}" type="pres">
      <dgm:prSet presAssocID="{29BA30F7-661A-45DC-A79C-ED180AC42F73}" presName="parTx" presStyleLbl="revTx" presStyleIdx="0" presStyleCnt="6">
        <dgm:presLayoutVars>
          <dgm:chMax val="0"/>
          <dgm:chPref val="0"/>
        </dgm:presLayoutVars>
      </dgm:prSet>
      <dgm:spPr/>
    </dgm:pt>
    <dgm:pt modelId="{DF1FEDA4-6BD8-4D4F-8523-2C2BE6411C26}" type="pres">
      <dgm:prSet presAssocID="{09179670-1D75-427C-A715-8C0BD8AFE15D}" presName="sibTrans" presStyleCnt="0"/>
      <dgm:spPr/>
    </dgm:pt>
    <dgm:pt modelId="{9588E3C2-61E2-4ABD-AC64-7B898A3F76C0}" type="pres">
      <dgm:prSet presAssocID="{039FAF81-1BDC-407F-9978-070487C938DE}" presName="compNode" presStyleCnt="0"/>
      <dgm:spPr/>
    </dgm:pt>
    <dgm:pt modelId="{D76280C5-DD60-4CA6-907D-AC650F3CF21B}" type="pres">
      <dgm:prSet presAssocID="{039FAF81-1BDC-407F-9978-070487C938DE}" presName="bgRect" presStyleLbl="bgShp" presStyleIdx="1" presStyleCnt="6"/>
      <dgm:spPr>
        <a:solidFill>
          <a:schemeClr val="accent4">
            <a:lumMod val="40000"/>
            <a:lumOff val="60000"/>
          </a:schemeClr>
        </a:solidFill>
      </dgm:spPr>
    </dgm:pt>
    <dgm:pt modelId="{92DC327B-9EE9-44A0-B6E0-5999CBF433C6}" type="pres">
      <dgm:prSet presAssocID="{039FAF81-1BDC-407F-9978-070487C938DE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B45DFE4F-649B-4211-9B54-36497ED299E3}" type="pres">
      <dgm:prSet presAssocID="{039FAF81-1BDC-407F-9978-070487C938DE}" presName="spaceRect" presStyleCnt="0"/>
      <dgm:spPr/>
    </dgm:pt>
    <dgm:pt modelId="{56D2E834-E071-42ED-BB58-4AA2E6C8765E}" type="pres">
      <dgm:prSet presAssocID="{039FAF81-1BDC-407F-9978-070487C938DE}" presName="parTx" presStyleLbl="revTx" presStyleIdx="1" presStyleCnt="6">
        <dgm:presLayoutVars>
          <dgm:chMax val="0"/>
          <dgm:chPref val="0"/>
        </dgm:presLayoutVars>
      </dgm:prSet>
      <dgm:spPr/>
    </dgm:pt>
    <dgm:pt modelId="{40938D78-62B5-4361-818F-3FC4D7DCA144}" type="pres">
      <dgm:prSet presAssocID="{4479681A-2CBD-4765-94BD-5F3A096ABB71}" presName="sibTrans" presStyleCnt="0"/>
      <dgm:spPr/>
    </dgm:pt>
    <dgm:pt modelId="{183B0DF7-4858-42A2-A2BB-79088DE92698}" type="pres">
      <dgm:prSet presAssocID="{1BB75A80-BF1A-4331-A8A4-364482565A51}" presName="compNode" presStyleCnt="0"/>
      <dgm:spPr/>
    </dgm:pt>
    <dgm:pt modelId="{D4DFF23B-34AF-4F3A-8963-8DE21419619A}" type="pres">
      <dgm:prSet presAssocID="{1BB75A80-BF1A-4331-A8A4-364482565A51}" presName="bgRect" presStyleLbl="bgShp" presStyleIdx="2" presStyleCnt="6"/>
      <dgm:spPr>
        <a:solidFill>
          <a:schemeClr val="accent4">
            <a:lumMod val="60000"/>
            <a:lumOff val="40000"/>
          </a:schemeClr>
        </a:solidFill>
      </dgm:spPr>
    </dgm:pt>
    <dgm:pt modelId="{E1367998-FC95-4CEC-A5B4-E940466F3BD0}" type="pres">
      <dgm:prSet presAssocID="{1BB75A80-BF1A-4331-A8A4-364482565A51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A66A9F3-35B6-494D-A7DA-53505317D38D}" type="pres">
      <dgm:prSet presAssocID="{1BB75A80-BF1A-4331-A8A4-364482565A51}" presName="spaceRect" presStyleCnt="0"/>
      <dgm:spPr/>
    </dgm:pt>
    <dgm:pt modelId="{9B4DAF43-3320-432E-AB53-6AAC6429AB31}" type="pres">
      <dgm:prSet presAssocID="{1BB75A80-BF1A-4331-A8A4-364482565A51}" presName="parTx" presStyleLbl="revTx" presStyleIdx="2" presStyleCnt="6">
        <dgm:presLayoutVars>
          <dgm:chMax val="0"/>
          <dgm:chPref val="0"/>
        </dgm:presLayoutVars>
      </dgm:prSet>
      <dgm:spPr/>
    </dgm:pt>
    <dgm:pt modelId="{7168E178-FB82-453C-8313-4F22D45A6BE4}" type="pres">
      <dgm:prSet presAssocID="{140B929C-30FB-4170-B1D5-D60FA3F820D4}" presName="sibTrans" presStyleCnt="0"/>
      <dgm:spPr/>
    </dgm:pt>
    <dgm:pt modelId="{E76931AC-6C04-4A1E-A3BE-C11AA12D2AD9}" type="pres">
      <dgm:prSet presAssocID="{13769F8B-6610-458C-833E-D6989A0D64A3}" presName="compNode" presStyleCnt="0"/>
      <dgm:spPr/>
    </dgm:pt>
    <dgm:pt modelId="{8AC05AAD-B449-4EDC-9BEC-8DC740A3D299}" type="pres">
      <dgm:prSet presAssocID="{13769F8B-6610-458C-833E-D6989A0D64A3}" presName="bgRect" presStyleLbl="bgShp" presStyleIdx="3" presStyleCnt="6"/>
      <dgm:spPr>
        <a:solidFill>
          <a:schemeClr val="accent4">
            <a:lumMod val="40000"/>
            <a:lumOff val="60000"/>
          </a:schemeClr>
        </a:solidFill>
      </dgm:spPr>
    </dgm:pt>
    <dgm:pt modelId="{83897C38-5A72-484A-AA45-69BD1A4DC8A6}" type="pres">
      <dgm:prSet presAssocID="{13769F8B-6610-458C-833E-D6989A0D64A3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ble"/>
        </a:ext>
      </dgm:extLst>
    </dgm:pt>
    <dgm:pt modelId="{7E206AB1-C4A1-40AB-B47A-731008B31E8F}" type="pres">
      <dgm:prSet presAssocID="{13769F8B-6610-458C-833E-D6989A0D64A3}" presName="spaceRect" presStyleCnt="0"/>
      <dgm:spPr/>
    </dgm:pt>
    <dgm:pt modelId="{A4B0D8C0-693E-4FAD-A582-40893FCB45FA}" type="pres">
      <dgm:prSet presAssocID="{13769F8B-6610-458C-833E-D6989A0D64A3}" presName="parTx" presStyleLbl="revTx" presStyleIdx="3" presStyleCnt="6">
        <dgm:presLayoutVars>
          <dgm:chMax val="0"/>
          <dgm:chPref val="0"/>
        </dgm:presLayoutVars>
      </dgm:prSet>
      <dgm:spPr/>
    </dgm:pt>
    <dgm:pt modelId="{EB13B670-7890-4340-AE42-987F5A9F14E6}" type="pres">
      <dgm:prSet presAssocID="{1AE96878-700E-466B-BADF-9EA4E22E34F6}" presName="sibTrans" presStyleCnt="0"/>
      <dgm:spPr/>
    </dgm:pt>
    <dgm:pt modelId="{7FF6EF51-A768-45D3-B69B-239AACBFBB31}" type="pres">
      <dgm:prSet presAssocID="{76051C30-523F-4FEC-BA6D-FD41F9B89826}" presName="compNode" presStyleCnt="0"/>
      <dgm:spPr/>
    </dgm:pt>
    <dgm:pt modelId="{01BE2242-3539-4D9B-9C0B-C372C22AC85B}" type="pres">
      <dgm:prSet presAssocID="{76051C30-523F-4FEC-BA6D-FD41F9B89826}" presName="bgRect" presStyleLbl="bgShp" presStyleIdx="4" presStyleCnt="6"/>
      <dgm:spPr>
        <a:solidFill>
          <a:schemeClr val="accent4">
            <a:lumMod val="60000"/>
            <a:lumOff val="40000"/>
          </a:schemeClr>
        </a:solidFill>
      </dgm:spPr>
    </dgm:pt>
    <dgm:pt modelId="{09BEFD67-7253-4BDE-9788-382B88DA0867}" type="pres">
      <dgm:prSet presAssocID="{76051C30-523F-4FEC-BA6D-FD41F9B89826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3AEAEF15-6475-411E-BA55-46D726B27573}" type="pres">
      <dgm:prSet presAssocID="{76051C30-523F-4FEC-BA6D-FD41F9B89826}" presName="spaceRect" presStyleCnt="0"/>
      <dgm:spPr/>
    </dgm:pt>
    <dgm:pt modelId="{8A88F528-3F91-4721-9065-2C9109389A2B}" type="pres">
      <dgm:prSet presAssocID="{76051C30-523F-4FEC-BA6D-FD41F9B89826}" presName="parTx" presStyleLbl="revTx" presStyleIdx="4" presStyleCnt="6">
        <dgm:presLayoutVars>
          <dgm:chMax val="0"/>
          <dgm:chPref val="0"/>
        </dgm:presLayoutVars>
      </dgm:prSet>
      <dgm:spPr/>
    </dgm:pt>
    <dgm:pt modelId="{EA223D79-F6FF-4626-973D-F0585BB46246}" type="pres">
      <dgm:prSet presAssocID="{2BC7D84E-087F-4F85-927C-8C67169F201C}" presName="sibTrans" presStyleCnt="0"/>
      <dgm:spPr/>
    </dgm:pt>
    <dgm:pt modelId="{6DB5A69E-36A5-4656-B47F-85ADD53457E5}" type="pres">
      <dgm:prSet presAssocID="{4CC20C91-D6C9-40B1-BCC9-8EDD12192065}" presName="compNode" presStyleCnt="0"/>
      <dgm:spPr/>
    </dgm:pt>
    <dgm:pt modelId="{3708E668-76A8-46EA-90F8-24CB36B93A36}" type="pres">
      <dgm:prSet presAssocID="{4CC20C91-D6C9-40B1-BCC9-8EDD12192065}" presName="bgRect" presStyleLbl="bgShp" presStyleIdx="5" presStyleCnt="6"/>
      <dgm:spPr>
        <a:solidFill>
          <a:schemeClr val="accent4">
            <a:lumMod val="40000"/>
            <a:lumOff val="60000"/>
          </a:schemeClr>
        </a:solidFill>
      </dgm:spPr>
    </dgm:pt>
    <dgm:pt modelId="{35AFAF58-CFF6-40B7-B918-3421142864E4}" type="pres">
      <dgm:prSet presAssocID="{4CC20C91-D6C9-40B1-BCC9-8EDD12192065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38C4C3DF-5B03-4808-BB3B-9972E65A0FA0}" type="pres">
      <dgm:prSet presAssocID="{4CC20C91-D6C9-40B1-BCC9-8EDD12192065}" presName="spaceRect" presStyleCnt="0"/>
      <dgm:spPr/>
    </dgm:pt>
    <dgm:pt modelId="{AA08F02C-5FE1-46D5-9F2F-9AC49DBBFE13}" type="pres">
      <dgm:prSet presAssocID="{4CC20C91-D6C9-40B1-BCC9-8EDD12192065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0D5A50D-6F2D-4623-B5AF-36B350D5A1E8}" srcId="{3A455399-7FE2-4268-B982-3378ADC7CFA0}" destId="{29BA30F7-661A-45DC-A79C-ED180AC42F73}" srcOrd="0" destOrd="0" parTransId="{EC3AB916-2D8A-471D-978B-320D7AF6AAAB}" sibTransId="{09179670-1D75-427C-A715-8C0BD8AFE15D}"/>
    <dgm:cxn modelId="{288A7C44-06F5-4738-8F38-7A2ABEEE668C}" srcId="{3A455399-7FE2-4268-B982-3378ADC7CFA0}" destId="{13769F8B-6610-458C-833E-D6989A0D64A3}" srcOrd="3" destOrd="0" parTransId="{1B501C83-89A3-4C82-845E-7259BA30780A}" sibTransId="{1AE96878-700E-466B-BADF-9EA4E22E34F6}"/>
    <dgm:cxn modelId="{75C8A646-6C67-4576-8838-32EA0D041348}" srcId="{3A455399-7FE2-4268-B982-3378ADC7CFA0}" destId="{1BB75A80-BF1A-4331-A8A4-364482565A51}" srcOrd="2" destOrd="0" parTransId="{C5BCF2CB-5D4F-4F19-8353-19B9F5629BCB}" sibTransId="{140B929C-30FB-4170-B1D5-D60FA3F820D4}"/>
    <dgm:cxn modelId="{DC23454D-D83B-AC4A-8AEF-CA1CAAE5E277}" type="presOf" srcId="{1BB75A80-BF1A-4331-A8A4-364482565A51}" destId="{9B4DAF43-3320-432E-AB53-6AAC6429AB31}" srcOrd="0" destOrd="0" presId="urn:microsoft.com/office/officeart/2018/2/layout/IconVerticalSolidList"/>
    <dgm:cxn modelId="{A937405A-EA1B-8444-94E5-D3F41DC70273}" type="presOf" srcId="{039FAF81-1BDC-407F-9978-070487C938DE}" destId="{56D2E834-E071-42ED-BB58-4AA2E6C8765E}" srcOrd="0" destOrd="0" presId="urn:microsoft.com/office/officeart/2018/2/layout/IconVerticalSolidList"/>
    <dgm:cxn modelId="{970C3367-3C3A-43C3-9411-236B4269F0BD}" srcId="{3A455399-7FE2-4268-B982-3378ADC7CFA0}" destId="{76051C30-523F-4FEC-BA6D-FD41F9B89826}" srcOrd="4" destOrd="0" parTransId="{6ECF0450-5F4E-44B5-88BB-35C6A2315A4F}" sibTransId="{2BC7D84E-087F-4F85-927C-8C67169F201C}"/>
    <dgm:cxn modelId="{97B56C69-64E3-E64D-B758-72775085F34E}" type="presOf" srcId="{76051C30-523F-4FEC-BA6D-FD41F9B89826}" destId="{8A88F528-3F91-4721-9065-2C9109389A2B}" srcOrd="0" destOrd="0" presId="urn:microsoft.com/office/officeart/2018/2/layout/IconVerticalSolidList"/>
    <dgm:cxn modelId="{2EF44C7E-CFE9-424A-9F46-7A117151505F}" srcId="{3A455399-7FE2-4268-B982-3378ADC7CFA0}" destId="{4CC20C91-D6C9-40B1-BCC9-8EDD12192065}" srcOrd="5" destOrd="0" parTransId="{731A9CD3-5B42-432C-9843-A9011A0CB15E}" sibTransId="{7D999E8C-5237-4F81-9CC4-44CA5329AA0B}"/>
    <dgm:cxn modelId="{C9654BAC-2BD7-D344-A65C-2C6AA3A4CB49}" type="presOf" srcId="{4CC20C91-D6C9-40B1-BCC9-8EDD12192065}" destId="{AA08F02C-5FE1-46D5-9F2F-9AC49DBBFE13}" srcOrd="0" destOrd="0" presId="urn:microsoft.com/office/officeart/2018/2/layout/IconVerticalSolidList"/>
    <dgm:cxn modelId="{D7440EB6-6AF1-4DE1-988A-FB1A92DB75CA}" srcId="{3A455399-7FE2-4268-B982-3378ADC7CFA0}" destId="{039FAF81-1BDC-407F-9978-070487C938DE}" srcOrd="1" destOrd="0" parTransId="{A583ADE1-D375-4662-89B1-5B9782AAB74C}" sibTransId="{4479681A-2CBD-4765-94BD-5F3A096ABB71}"/>
    <dgm:cxn modelId="{0A25E4D0-F3BD-904B-A74F-8D35CB03F388}" type="presOf" srcId="{3A455399-7FE2-4268-B982-3378ADC7CFA0}" destId="{A9258BEE-5769-49BF-A5D5-761A269335AB}" srcOrd="0" destOrd="0" presId="urn:microsoft.com/office/officeart/2018/2/layout/IconVerticalSolidList"/>
    <dgm:cxn modelId="{24A8C3D4-9736-DE47-B7FE-0289816A6A9D}" type="presOf" srcId="{13769F8B-6610-458C-833E-D6989A0D64A3}" destId="{A4B0D8C0-693E-4FAD-A582-40893FCB45FA}" srcOrd="0" destOrd="0" presId="urn:microsoft.com/office/officeart/2018/2/layout/IconVerticalSolidList"/>
    <dgm:cxn modelId="{BC173DD5-65D6-ED4E-A20B-ACE8B8B1AAA1}" type="presOf" srcId="{29BA30F7-661A-45DC-A79C-ED180AC42F73}" destId="{35F59295-0F9A-402E-9FD6-4506DAE2F3FF}" srcOrd="0" destOrd="0" presId="urn:microsoft.com/office/officeart/2018/2/layout/IconVerticalSolidList"/>
    <dgm:cxn modelId="{BA3E232D-1980-D74C-B9BB-32215109DAA1}" type="presParOf" srcId="{A9258BEE-5769-49BF-A5D5-761A269335AB}" destId="{AF632667-6158-467E-96DC-18D08CC7BF84}" srcOrd="0" destOrd="0" presId="urn:microsoft.com/office/officeart/2018/2/layout/IconVerticalSolidList"/>
    <dgm:cxn modelId="{6CDF2FD9-D658-9E40-A0FF-02BFA1491F84}" type="presParOf" srcId="{AF632667-6158-467E-96DC-18D08CC7BF84}" destId="{BE4EBBB3-4E06-483D-A019-3C86D0BF640A}" srcOrd="0" destOrd="0" presId="urn:microsoft.com/office/officeart/2018/2/layout/IconVerticalSolidList"/>
    <dgm:cxn modelId="{38F3BCBE-0742-E748-9A98-1932949A7179}" type="presParOf" srcId="{AF632667-6158-467E-96DC-18D08CC7BF84}" destId="{BE6FD862-9FBA-497E-A4E5-005C321D79D1}" srcOrd="1" destOrd="0" presId="urn:microsoft.com/office/officeart/2018/2/layout/IconVerticalSolidList"/>
    <dgm:cxn modelId="{FD653D26-15CF-464F-9E70-934574477457}" type="presParOf" srcId="{AF632667-6158-467E-96DC-18D08CC7BF84}" destId="{E0B39B0B-558A-4A70-A109-EE7407CAAAD3}" srcOrd="2" destOrd="0" presId="urn:microsoft.com/office/officeart/2018/2/layout/IconVerticalSolidList"/>
    <dgm:cxn modelId="{F1A1E2A7-66A9-F94C-B82D-92C8943B2BC8}" type="presParOf" srcId="{AF632667-6158-467E-96DC-18D08CC7BF84}" destId="{35F59295-0F9A-402E-9FD6-4506DAE2F3FF}" srcOrd="3" destOrd="0" presId="urn:microsoft.com/office/officeart/2018/2/layout/IconVerticalSolidList"/>
    <dgm:cxn modelId="{8C5E62B4-CC03-6042-93AA-88197F7B4986}" type="presParOf" srcId="{A9258BEE-5769-49BF-A5D5-761A269335AB}" destId="{DF1FEDA4-6BD8-4D4F-8523-2C2BE6411C26}" srcOrd="1" destOrd="0" presId="urn:microsoft.com/office/officeart/2018/2/layout/IconVerticalSolidList"/>
    <dgm:cxn modelId="{BF169A7C-3B34-544A-BE7D-7F4ED498E0F7}" type="presParOf" srcId="{A9258BEE-5769-49BF-A5D5-761A269335AB}" destId="{9588E3C2-61E2-4ABD-AC64-7B898A3F76C0}" srcOrd="2" destOrd="0" presId="urn:microsoft.com/office/officeart/2018/2/layout/IconVerticalSolidList"/>
    <dgm:cxn modelId="{C8C5CC92-6C49-C84A-BA1B-F7B22B219AFC}" type="presParOf" srcId="{9588E3C2-61E2-4ABD-AC64-7B898A3F76C0}" destId="{D76280C5-DD60-4CA6-907D-AC650F3CF21B}" srcOrd="0" destOrd="0" presId="urn:microsoft.com/office/officeart/2018/2/layout/IconVerticalSolidList"/>
    <dgm:cxn modelId="{37E2530D-3227-384D-B717-8C44DEC5A038}" type="presParOf" srcId="{9588E3C2-61E2-4ABD-AC64-7B898A3F76C0}" destId="{92DC327B-9EE9-44A0-B6E0-5999CBF433C6}" srcOrd="1" destOrd="0" presId="urn:microsoft.com/office/officeart/2018/2/layout/IconVerticalSolidList"/>
    <dgm:cxn modelId="{5EEB404F-E326-C645-A6E0-8D748C92D001}" type="presParOf" srcId="{9588E3C2-61E2-4ABD-AC64-7B898A3F76C0}" destId="{B45DFE4F-649B-4211-9B54-36497ED299E3}" srcOrd="2" destOrd="0" presId="urn:microsoft.com/office/officeart/2018/2/layout/IconVerticalSolidList"/>
    <dgm:cxn modelId="{17512160-2E52-2C46-AAC2-7D29E3C716C0}" type="presParOf" srcId="{9588E3C2-61E2-4ABD-AC64-7B898A3F76C0}" destId="{56D2E834-E071-42ED-BB58-4AA2E6C8765E}" srcOrd="3" destOrd="0" presId="urn:microsoft.com/office/officeart/2018/2/layout/IconVerticalSolidList"/>
    <dgm:cxn modelId="{0F0DEF5C-BCAA-0F45-B820-CA7EC9598121}" type="presParOf" srcId="{A9258BEE-5769-49BF-A5D5-761A269335AB}" destId="{40938D78-62B5-4361-818F-3FC4D7DCA144}" srcOrd="3" destOrd="0" presId="urn:microsoft.com/office/officeart/2018/2/layout/IconVerticalSolidList"/>
    <dgm:cxn modelId="{36988752-8D49-F643-8B54-2AADDC38529C}" type="presParOf" srcId="{A9258BEE-5769-49BF-A5D5-761A269335AB}" destId="{183B0DF7-4858-42A2-A2BB-79088DE92698}" srcOrd="4" destOrd="0" presId="urn:microsoft.com/office/officeart/2018/2/layout/IconVerticalSolidList"/>
    <dgm:cxn modelId="{418C1864-E8BA-4746-BCE7-07C84D713993}" type="presParOf" srcId="{183B0DF7-4858-42A2-A2BB-79088DE92698}" destId="{D4DFF23B-34AF-4F3A-8963-8DE21419619A}" srcOrd="0" destOrd="0" presId="urn:microsoft.com/office/officeart/2018/2/layout/IconVerticalSolidList"/>
    <dgm:cxn modelId="{C00AA901-32A2-5B47-8AF3-62A0399A6910}" type="presParOf" srcId="{183B0DF7-4858-42A2-A2BB-79088DE92698}" destId="{E1367998-FC95-4CEC-A5B4-E940466F3BD0}" srcOrd="1" destOrd="0" presId="urn:microsoft.com/office/officeart/2018/2/layout/IconVerticalSolidList"/>
    <dgm:cxn modelId="{A944BFA1-42D7-B94F-95EA-3403C5CC3C99}" type="presParOf" srcId="{183B0DF7-4858-42A2-A2BB-79088DE92698}" destId="{BA66A9F3-35B6-494D-A7DA-53505317D38D}" srcOrd="2" destOrd="0" presId="urn:microsoft.com/office/officeart/2018/2/layout/IconVerticalSolidList"/>
    <dgm:cxn modelId="{6CBA59C3-C86D-1F4C-B74D-5D6995E61BDA}" type="presParOf" srcId="{183B0DF7-4858-42A2-A2BB-79088DE92698}" destId="{9B4DAF43-3320-432E-AB53-6AAC6429AB31}" srcOrd="3" destOrd="0" presId="urn:microsoft.com/office/officeart/2018/2/layout/IconVerticalSolidList"/>
    <dgm:cxn modelId="{85C21918-DB1F-6A4C-85B0-D2EAE035D803}" type="presParOf" srcId="{A9258BEE-5769-49BF-A5D5-761A269335AB}" destId="{7168E178-FB82-453C-8313-4F22D45A6BE4}" srcOrd="5" destOrd="0" presId="urn:microsoft.com/office/officeart/2018/2/layout/IconVerticalSolidList"/>
    <dgm:cxn modelId="{E3DADC80-CF1F-E343-9555-2D5FA8C5FA2B}" type="presParOf" srcId="{A9258BEE-5769-49BF-A5D5-761A269335AB}" destId="{E76931AC-6C04-4A1E-A3BE-C11AA12D2AD9}" srcOrd="6" destOrd="0" presId="urn:microsoft.com/office/officeart/2018/2/layout/IconVerticalSolidList"/>
    <dgm:cxn modelId="{61C810C5-A38A-FE41-8E92-1D20DC0DF83B}" type="presParOf" srcId="{E76931AC-6C04-4A1E-A3BE-C11AA12D2AD9}" destId="{8AC05AAD-B449-4EDC-9BEC-8DC740A3D299}" srcOrd="0" destOrd="0" presId="urn:microsoft.com/office/officeart/2018/2/layout/IconVerticalSolidList"/>
    <dgm:cxn modelId="{109B86E3-87B4-EC41-93FC-A1BCF8535988}" type="presParOf" srcId="{E76931AC-6C04-4A1E-A3BE-C11AA12D2AD9}" destId="{83897C38-5A72-484A-AA45-69BD1A4DC8A6}" srcOrd="1" destOrd="0" presId="urn:microsoft.com/office/officeart/2018/2/layout/IconVerticalSolidList"/>
    <dgm:cxn modelId="{1F8D362B-1B74-CF4D-9DCA-F31C43848DC7}" type="presParOf" srcId="{E76931AC-6C04-4A1E-A3BE-C11AA12D2AD9}" destId="{7E206AB1-C4A1-40AB-B47A-731008B31E8F}" srcOrd="2" destOrd="0" presId="urn:microsoft.com/office/officeart/2018/2/layout/IconVerticalSolidList"/>
    <dgm:cxn modelId="{AFA8F748-9A5E-0F4C-B1C3-1867E83B1A14}" type="presParOf" srcId="{E76931AC-6C04-4A1E-A3BE-C11AA12D2AD9}" destId="{A4B0D8C0-693E-4FAD-A582-40893FCB45FA}" srcOrd="3" destOrd="0" presId="urn:microsoft.com/office/officeart/2018/2/layout/IconVerticalSolidList"/>
    <dgm:cxn modelId="{92478BE4-B96C-4F46-99EA-1F91E3DB791E}" type="presParOf" srcId="{A9258BEE-5769-49BF-A5D5-761A269335AB}" destId="{EB13B670-7890-4340-AE42-987F5A9F14E6}" srcOrd="7" destOrd="0" presId="urn:microsoft.com/office/officeart/2018/2/layout/IconVerticalSolidList"/>
    <dgm:cxn modelId="{53D08F5B-E4AA-EE4D-9DCE-BBAF82BE479B}" type="presParOf" srcId="{A9258BEE-5769-49BF-A5D5-761A269335AB}" destId="{7FF6EF51-A768-45D3-B69B-239AACBFBB31}" srcOrd="8" destOrd="0" presId="urn:microsoft.com/office/officeart/2018/2/layout/IconVerticalSolidList"/>
    <dgm:cxn modelId="{CA5C17D0-610F-2349-9507-A4C23C93D794}" type="presParOf" srcId="{7FF6EF51-A768-45D3-B69B-239AACBFBB31}" destId="{01BE2242-3539-4D9B-9C0B-C372C22AC85B}" srcOrd="0" destOrd="0" presId="urn:microsoft.com/office/officeart/2018/2/layout/IconVerticalSolidList"/>
    <dgm:cxn modelId="{6623624A-FFD3-2744-B33F-85B82241C76F}" type="presParOf" srcId="{7FF6EF51-A768-45D3-B69B-239AACBFBB31}" destId="{09BEFD67-7253-4BDE-9788-382B88DA0867}" srcOrd="1" destOrd="0" presId="urn:microsoft.com/office/officeart/2018/2/layout/IconVerticalSolidList"/>
    <dgm:cxn modelId="{EE87272D-B409-A943-A1FA-FEF4C4A64721}" type="presParOf" srcId="{7FF6EF51-A768-45D3-B69B-239AACBFBB31}" destId="{3AEAEF15-6475-411E-BA55-46D726B27573}" srcOrd="2" destOrd="0" presId="urn:microsoft.com/office/officeart/2018/2/layout/IconVerticalSolidList"/>
    <dgm:cxn modelId="{5E5D5CC0-8A45-FE42-89D3-1716309B22AF}" type="presParOf" srcId="{7FF6EF51-A768-45D3-B69B-239AACBFBB31}" destId="{8A88F528-3F91-4721-9065-2C9109389A2B}" srcOrd="3" destOrd="0" presId="urn:microsoft.com/office/officeart/2018/2/layout/IconVerticalSolidList"/>
    <dgm:cxn modelId="{EDF41927-4454-2E4A-8EA2-EC884BFBDDBB}" type="presParOf" srcId="{A9258BEE-5769-49BF-A5D5-761A269335AB}" destId="{EA223D79-F6FF-4626-973D-F0585BB46246}" srcOrd="9" destOrd="0" presId="urn:microsoft.com/office/officeart/2018/2/layout/IconVerticalSolidList"/>
    <dgm:cxn modelId="{5997710F-4262-5D44-8FEE-E0018DA9EBB8}" type="presParOf" srcId="{A9258BEE-5769-49BF-A5D5-761A269335AB}" destId="{6DB5A69E-36A5-4656-B47F-85ADD53457E5}" srcOrd="10" destOrd="0" presId="urn:microsoft.com/office/officeart/2018/2/layout/IconVerticalSolidList"/>
    <dgm:cxn modelId="{6AFD9FB4-6AF5-554E-BF77-49043577B4AF}" type="presParOf" srcId="{6DB5A69E-36A5-4656-B47F-85ADD53457E5}" destId="{3708E668-76A8-46EA-90F8-24CB36B93A36}" srcOrd="0" destOrd="0" presId="urn:microsoft.com/office/officeart/2018/2/layout/IconVerticalSolidList"/>
    <dgm:cxn modelId="{4490721D-08BD-FB48-AC36-CE7512450251}" type="presParOf" srcId="{6DB5A69E-36A5-4656-B47F-85ADD53457E5}" destId="{35AFAF58-CFF6-40B7-B918-3421142864E4}" srcOrd="1" destOrd="0" presId="urn:microsoft.com/office/officeart/2018/2/layout/IconVerticalSolidList"/>
    <dgm:cxn modelId="{6552B999-4525-BE4D-97A5-1D11DEFFC08C}" type="presParOf" srcId="{6DB5A69E-36A5-4656-B47F-85ADD53457E5}" destId="{38C4C3DF-5B03-4808-BB3B-9972E65A0FA0}" srcOrd="2" destOrd="0" presId="urn:microsoft.com/office/officeart/2018/2/layout/IconVerticalSolidList"/>
    <dgm:cxn modelId="{1E20673D-DA8F-624A-83D0-5771A619E45C}" type="presParOf" srcId="{6DB5A69E-36A5-4656-B47F-85ADD53457E5}" destId="{AA08F02C-5FE1-46D5-9F2F-9AC49DBBFE13}" srcOrd="3" destOrd="0" presId="urn:microsoft.com/office/officeart/2018/2/layout/IconVerticalSolidList"/>
  </dgm:cxnLst>
  <dgm:bg/>
  <dgm:whole>
    <a:ln>
      <a:solidFill>
        <a:schemeClr val="accent3">
          <a:lumMod val="40000"/>
          <a:lumOff val="60000"/>
        </a:schemeClr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DC1AA8B-B86E-41F1-96C3-8087F3ECB81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E968819-8DA5-4D43-AF39-763BB44D05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structured system for BI and reporting, Data Warehouse (Inmon &amp; Kimball) uses schema-on-write to guarantee good data quality and quick query speed.</a:t>
          </a:r>
        </a:p>
      </dgm:t>
    </dgm:pt>
    <dgm:pt modelId="{BBF3634C-B177-40F9-80C7-880570F9A25E}" type="parTrans" cxnId="{7A0BFDED-CF24-4DFA-A63A-C142EA3ED7D1}">
      <dgm:prSet/>
      <dgm:spPr/>
      <dgm:t>
        <a:bodyPr/>
        <a:lstStyle/>
        <a:p>
          <a:endParaRPr lang="en-US"/>
        </a:p>
      </dgm:t>
    </dgm:pt>
    <dgm:pt modelId="{1C9CD49D-441B-4BF0-9101-B410BD84BEA7}" type="sibTrans" cxnId="{7A0BFDED-CF24-4DFA-A63A-C142EA3ED7D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C194468-8394-4439-B1AD-C3C2A827A4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Large-scale, unstructured data management is constrained by data warehouses.</a:t>
          </a:r>
        </a:p>
      </dgm:t>
    </dgm:pt>
    <dgm:pt modelId="{30774D4B-BB40-42DD-85EC-EA4E2632D45A}" type="parTrans" cxnId="{A6197FEB-4396-4D5A-9DC2-E3AB9967A8A7}">
      <dgm:prSet/>
      <dgm:spPr/>
      <dgm:t>
        <a:bodyPr/>
        <a:lstStyle/>
        <a:p>
          <a:endParaRPr lang="en-US"/>
        </a:p>
      </dgm:t>
    </dgm:pt>
    <dgm:pt modelId="{AEE62728-5650-4928-9E5E-6E66391C4F5B}" type="sibTrans" cxnId="{A6197FEB-4396-4D5A-9DC2-E3AB9967A8A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505C990-39A4-4412-9A20-375B8F1006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Big data and machine learning can benefit from Data Lake (James Dixon), which uses schema-on-read to store structured, semi-structured, and unstructured data.</a:t>
          </a:r>
        </a:p>
      </dgm:t>
    </dgm:pt>
    <dgm:pt modelId="{6841AF8A-B44E-49F1-96D6-B8CCDF8ABA55}" type="parTrans" cxnId="{F211D73D-DA12-4CCC-8F52-9D32ED8FC085}">
      <dgm:prSet/>
      <dgm:spPr/>
      <dgm:t>
        <a:bodyPr/>
        <a:lstStyle/>
        <a:p>
          <a:endParaRPr lang="en-US"/>
        </a:p>
      </dgm:t>
    </dgm:pt>
    <dgm:pt modelId="{6C6AB5BE-7835-4CFD-B047-C612DF7CFB03}" type="sibTrans" cxnId="{F211D73D-DA12-4CCC-8F52-9D32ED8FC08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BFEE0A8-5BFD-4850-9148-5263B07207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Cloud services like Google Cloud, Microsoft Azure, and Amazon Web Services save costs and increase scalability.</a:t>
          </a:r>
        </a:p>
      </dgm:t>
    </dgm:pt>
    <dgm:pt modelId="{68305F9B-7A82-4243-AB7A-34142B56FD22}" type="parTrans" cxnId="{F9426E7C-B883-4D2B-B806-A6CE0EF3C057}">
      <dgm:prSet/>
      <dgm:spPr/>
      <dgm:t>
        <a:bodyPr/>
        <a:lstStyle/>
        <a:p>
          <a:endParaRPr lang="en-US"/>
        </a:p>
      </dgm:t>
    </dgm:pt>
    <dgm:pt modelId="{88F390AC-2CD2-4CD9-B4FB-C3F6033D622D}" type="sibTrans" cxnId="{F9426E7C-B883-4D2B-B806-A6CE0EF3C05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8CB37F7-6430-40E7-B956-D95315ED9C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this project, we analysed the NYC Yellow Taxi dataset using SQL ,Google Cloud, BigQuery and Google Colab.</a:t>
          </a:r>
        </a:p>
      </dgm:t>
    </dgm:pt>
    <dgm:pt modelId="{5B89381A-EEC0-4666-A8B9-8E7E4E09077E}" type="parTrans" cxnId="{A24EE0D1-1873-4683-BC47-500BA7308935}">
      <dgm:prSet/>
      <dgm:spPr/>
      <dgm:t>
        <a:bodyPr/>
        <a:lstStyle/>
        <a:p>
          <a:endParaRPr lang="en-US"/>
        </a:p>
      </dgm:t>
    </dgm:pt>
    <dgm:pt modelId="{C008544B-331A-42C3-B6E2-D1D2E6DD4FB2}" type="sibTrans" cxnId="{A24EE0D1-1873-4683-BC47-500BA730893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6FF1CCE-BAFC-4677-8C51-4A1A1DB0CC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move toward hybrid Lakehouse architecture that combines both strategies is suggested by recent studies.</a:t>
          </a:r>
        </a:p>
      </dgm:t>
    </dgm:pt>
    <dgm:pt modelId="{FF1BDE23-602A-4949-BC31-1DA5A210789F}" type="parTrans" cxnId="{7DE2495E-5A27-40CE-9885-AA11208DF6C6}">
      <dgm:prSet/>
      <dgm:spPr/>
      <dgm:t>
        <a:bodyPr/>
        <a:lstStyle/>
        <a:p>
          <a:endParaRPr lang="en-US"/>
        </a:p>
      </dgm:t>
    </dgm:pt>
    <dgm:pt modelId="{574CA19C-F661-486F-BA3C-39511D9285FB}" type="sibTrans" cxnId="{7DE2495E-5A27-40CE-9885-AA11208DF6C6}">
      <dgm:prSet/>
      <dgm:spPr/>
      <dgm:t>
        <a:bodyPr/>
        <a:lstStyle/>
        <a:p>
          <a:endParaRPr lang="en-US"/>
        </a:p>
      </dgm:t>
    </dgm:pt>
    <dgm:pt modelId="{61362ED9-D7D4-497B-8F52-A7D9F5FC7267}" type="pres">
      <dgm:prSet presAssocID="{9DC1AA8B-B86E-41F1-96C3-8087F3ECB816}" presName="root" presStyleCnt="0">
        <dgm:presLayoutVars>
          <dgm:dir/>
          <dgm:resizeHandles val="exact"/>
        </dgm:presLayoutVars>
      </dgm:prSet>
      <dgm:spPr/>
    </dgm:pt>
    <dgm:pt modelId="{B9162B0B-57A6-427D-9934-F22556E6BF61}" type="pres">
      <dgm:prSet presAssocID="{4C194468-8394-4439-B1AD-C3C2A827A496}" presName="compNode" presStyleCnt="0"/>
      <dgm:spPr/>
    </dgm:pt>
    <dgm:pt modelId="{03AAF431-7299-49F3-BA67-A13CD37674A0}" type="pres">
      <dgm:prSet presAssocID="{4C194468-8394-4439-B1AD-C3C2A827A496}" presName="bgRect" presStyleLbl="bgShp" presStyleIdx="0" presStyleCnt="6"/>
      <dgm:spPr/>
    </dgm:pt>
    <dgm:pt modelId="{6232B8BB-0D58-4D9C-B48C-83E701B02F01}" type="pres">
      <dgm:prSet presAssocID="{4C194468-8394-4439-B1AD-C3C2A827A496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32BE0A8C-78B0-4F37-8848-AA4B3212A5E5}" type="pres">
      <dgm:prSet presAssocID="{4C194468-8394-4439-B1AD-C3C2A827A496}" presName="spaceRect" presStyleCnt="0"/>
      <dgm:spPr/>
    </dgm:pt>
    <dgm:pt modelId="{1086E21E-34F1-4008-8818-578CA476C5A3}" type="pres">
      <dgm:prSet presAssocID="{4C194468-8394-4439-B1AD-C3C2A827A496}" presName="parTx" presStyleLbl="revTx" presStyleIdx="0" presStyleCnt="6">
        <dgm:presLayoutVars>
          <dgm:chMax val="0"/>
          <dgm:chPref val="0"/>
        </dgm:presLayoutVars>
      </dgm:prSet>
      <dgm:spPr/>
    </dgm:pt>
    <dgm:pt modelId="{79D62F94-D2AB-407F-93AB-EAA5B306C558}" type="pres">
      <dgm:prSet presAssocID="{AEE62728-5650-4928-9E5E-6E66391C4F5B}" presName="sibTrans" presStyleCnt="0"/>
      <dgm:spPr/>
    </dgm:pt>
    <dgm:pt modelId="{E38DAA6E-F9AB-457D-9EF0-C810D0FB1927}" type="pres">
      <dgm:prSet presAssocID="{C505C990-39A4-4412-9A20-375B8F100636}" presName="compNode" presStyleCnt="0"/>
      <dgm:spPr/>
    </dgm:pt>
    <dgm:pt modelId="{EE17ABA0-A5A6-45C0-B684-21EE9DD59129}" type="pres">
      <dgm:prSet presAssocID="{C505C990-39A4-4412-9A20-375B8F100636}" presName="bgRect" presStyleLbl="bgShp" presStyleIdx="1" presStyleCnt="6"/>
      <dgm:spPr/>
    </dgm:pt>
    <dgm:pt modelId="{DBBFD764-FA80-42A0-A57F-0F9F34D20C4C}" type="pres">
      <dgm:prSet presAssocID="{C505C990-39A4-4412-9A20-375B8F100636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60B42C86-D026-47C3-87AD-38A98348243E}" type="pres">
      <dgm:prSet presAssocID="{C505C990-39A4-4412-9A20-375B8F100636}" presName="spaceRect" presStyleCnt="0"/>
      <dgm:spPr/>
    </dgm:pt>
    <dgm:pt modelId="{6FEE1D4D-0D0F-4EA4-823C-FC1654E1CB65}" type="pres">
      <dgm:prSet presAssocID="{C505C990-39A4-4412-9A20-375B8F100636}" presName="parTx" presStyleLbl="revTx" presStyleIdx="1" presStyleCnt="6">
        <dgm:presLayoutVars>
          <dgm:chMax val="0"/>
          <dgm:chPref val="0"/>
        </dgm:presLayoutVars>
      </dgm:prSet>
      <dgm:spPr/>
    </dgm:pt>
    <dgm:pt modelId="{9DB2AEB4-374A-4BD9-9D03-11337DC7C341}" type="pres">
      <dgm:prSet presAssocID="{6C6AB5BE-7835-4CFD-B047-C612DF7CFB03}" presName="sibTrans" presStyleCnt="0"/>
      <dgm:spPr/>
    </dgm:pt>
    <dgm:pt modelId="{AE62EADD-2816-4AB1-A348-CE78C66D23F3}" type="pres">
      <dgm:prSet presAssocID="{DE968819-8DA5-4D43-AF39-763BB44D0571}" presName="compNode" presStyleCnt="0"/>
      <dgm:spPr/>
    </dgm:pt>
    <dgm:pt modelId="{55CF2454-C7FD-460A-9613-BE0C24E57D4E}" type="pres">
      <dgm:prSet presAssocID="{DE968819-8DA5-4D43-AF39-763BB44D0571}" presName="bgRect" presStyleLbl="bgShp" presStyleIdx="2" presStyleCnt="6"/>
      <dgm:spPr/>
    </dgm:pt>
    <dgm:pt modelId="{505E4579-D91E-4C63-834D-1A9D9FFEFF5F}" type="pres">
      <dgm:prSet presAssocID="{DE968819-8DA5-4D43-AF39-763BB44D0571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CE338B0-382B-4F8A-9CB6-B2D2911E249A}" type="pres">
      <dgm:prSet presAssocID="{DE968819-8DA5-4D43-AF39-763BB44D0571}" presName="spaceRect" presStyleCnt="0"/>
      <dgm:spPr/>
    </dgm:pt>
    <dgm:pt modelId="{9CA184B1-13F0-4E3A-B0C3-2CC3F670F23D}" type="pres">
      <dgm:prSet presAssocID="{DE968819-8DA5-4D43-AF39-763BB44D0571}" presName="parTx" presStyleLbl="revTx" presStyleIdx="2" presStyleCnt="6">
        <dgm:presLayoutVars>
          <dgm:chMax val="0"/>
          <dgm:chPref val="0"/>
        </dgm:presLayoutVars>
      </dgm:prSet>
      <dgm:spPr/>
    </dgm:pt>
    <dgm:pt modelId="{A027E609-96C4-4F3E-8C57-0403CA8B2C92}" type="pres">
      <dgm:prSet presAssocID="{1C9CD49D-441B-4BF0-9101-B410BD84BEA7}" presName="sibTrans" presStyleCnt="0"/>
      <dgm:spPr/>
    </dgm:pt>
    <dgm:pt modelId="{BAF8065C-2811-49C2-B194-3E7D881AB5E9}" type="pres">
      <dgm:prSet presAssocID="{ABFEE0A8-5BFD-4850-9148-5263B0720750}" presName="compNode" presStyleCnt="0"/>
      <dgm:spPr/>
    </dgm:pt>
    <dgm:pt modelId="{AC31CA8A-11F0-4C81-8564-694E7F7A7926}" type="pres">
      <dgm:prSet presAssocID="{ABFEE0A8-5BFD-4850-9148-5263B0720750}" presName="bgRect" presStyleLbl="bgShp" presStyleIdx="3" presStyleCnt="6"/>
      <dgm:spPr/>
    </dgm:pt>
    <dgm:pt modelId="{6B601047-1748-4B1F-B2F7-A41A455A322D}" type="pres">
      <dgm:prSet presAssocID="{ABFEE0A8-5BFD-4850-9148-5263B0720750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B2DED39B-21D6-4BF2-86C3-3F1F9E31A274}" type="pres">
      <dgm:prSet presAssocID="{ABFEE0A8-5BFD-4850-9148-5263B0720750}" presName="spaceRect" presStyleCnt="0"/>
      <dgm:spPr/>
    </dgm:pt>
    <dgm:pt modelId="{4EDCCD5C-D32C-4E5B-8DF6-E99D881F0284}" type="pres">
      <dgm:prSet presAssocID="{ABFEE0A8-5BFD-4850-9148-5263B0720750}" presName="parTx" presStyleLbl="revTx" presStyleIdx="3" presStyleCnt="6">
        <dgm:presLayoutVars>
          <dgm:chMax val="0"/>
          <dgm:chPref val="0"/>
        </dgm:presLayoutVars>
      </dgm:prSet>
      <dgm:spPr/>
    </dgm:pt>
    <dgm:pt modelId="{B91093FE-C7A9-4BC4-ABA3-39A60B189A21}" type="pres">
      <dgm:prSet presAssocID="{88F390AC-2CD2-4CD9-B4FB-C3F6033D622D}" presName="sibTrans" presStyleCnt="0"/>
      <dgm:spPr/>
    </dgm:pt>
    <dgm:pt modelId="{1FA89313-B354-456B-AC66-EA3EFD56C098}" type="pres">
      <dgm:prSet presAssocID="{38CB37F7-6430-40E7-B956-D95315ED9C53}" presName="compNode" presStyleCnt="0"/>
      <dgm:spPr/>
    </dgm:pt>
    <dgm:pt modelId="{D2F2F983-AE9F-44EA-B254-2D7FE1E8B3DD}" type="pres">
      <dgm:prSet presAssocID="{38CB37F7-6430-40E7-B956-D95315ED9C53}" presName="bgRect" presStyleLbl="bgShp" presStyleIdx="4" presStyleCnt="6"/>
      <dgm:spPr/>
    </dgm:pt>
    <dgm:pt modelId="{A88FDFE2-57AB-490C-82FB-15A28A81AA16}" type="pres">
      <dgm:prSet presAssocID="{38CB37F7-6430-40E7-B956-D95315ED9C53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18245DB-16D3-4B52-94ED-799A6EF36B34}" type="pres">
      <dgm:prSet presAssocID="{38CB37F7-6430-40E7-B956-D95315ED9C53}" presName="spaceRect" presStyleCnt="0"/>
      <dgm:spPr/>
    </dgm:pt>
    <dgm:pt modelId="{AB120E0C-A953-4B93-B235-2CB08B077835}" type="pres">
      <dgm:prSet presAssocID="{38CB37F7-6430-40E7-B956-D95315ED9C53}" presName="parTx" presStyleLbl="revTx" presStyleIdx="4" presStyleCnt="6">
        <dgm:presLayoutVars>
          <dgm:chMax val="0"/>
          <dgm:chPref val="0"/>
        </dgm:presLayoutVars>
      </dgm:prSet>
      <dgm:spPr/>
    </dgm:pt>
    <dgm:pt modelId="{3311E854-29E1-418F-A67B-10CACDA6112F}" type="pres">
      <dgm:prSet presAssocID="{C008544B-331A-42C3-B6E2-D1D2E6DD4FB2}" presName="sibTrans" presStyleCnt="0"/>
      <dgm:spPr/>
    </dgm:pt>
    <dgm:pt modelId="{FD3FE2C1-603B-49E8-9DE5-E061FE1E56DC}" type="pres">
      <dgm:prSet presAssocID="{26FF1CCE-BAFC-4677-8C51-4A1A1DB0CC9F}" presName="compNode" presStyleCnt="0"/>
      <dgm:spPr/>
    </dgm:pt>
    <dgm:pt modelId="{AD949764-794B-4C54-8978-1F679D2589EF}" type="pres">
      <dgm:prSet presAssocID="{26FF1CCE-BAFC-4677-8C51-4A1A1DB0CC9F}" presName="bgRect" presStyleLbl="bgShp" presStyleIdx="5" presStyleCnt="6"/>
      <dgm:spPr/>
    </dgm:pt>
    <dgm:pt modelId="{6CC5F480-A32B-47C7-849B-5C59A443B4E6}" type="pres">
      <dgm:prSet presAssocID="{26FF1CCE-BAFC-4677-8C51-4A1A1DB0CC9F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03578054-C1E3-4F7E-8425-7F57F453694B}" type="pres">
      <dgm:prSet presAssocID="{26FF1CCE-BAFC-4677-8C51-4A1A1DB0CC9F}" presName="spaceRect" presStyleCnt="0"/>
      <dgm:spPr/>
    </dgm:pt>
    <dgm:pt modelId="{B6B453FD-D731-4EFA-8A4B-5A5411887C9C}" type="pres">
      <dgm:prSet presAssocID="{26FF1CCE-BAFC-4677-8C51-4A1A1DB0CC9F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1EAAF10-876B-7548-ABAB-2EAC60912ED0}" type="presOf" srcId="{26FF1CCE-BAFC-4677-8C51-4A1A1DB0CC9F}" destId="{B6B453FD-D731-4EFA-8A4B-5A5411887C9C}" srcOrd="0" destOrd="0" presId="urn:microsoft.com/office/officeart/2018/2/layout/IconVerticalSolidList"/>
    <dgm:cxn modelId="{F211D73D-DA12-4CCC-8F52-9D32ED8FC085}" srcId="{9DC1AA8B-B86E-41F1-96C3-8087F3ECB816}" destId="{C505C990-39A4-4412-9A20-375B8F100636}" srcOrd="1" destOrd="0" parTransId="{6841AF8A-B44E-49F1-96D6-B8CCDF8ABA55}" sibTransId="{6C6AB5BE-7835-4CFD-B047-C612DF7CFB03}"/>
    <dgm:cxn modelId="{A19D233F-CBAE-9747-87D2-5A1B87529025}" type="presOf" srcId="{4C194468-8394-4439-B1AD-C3C2A827A496}" destId="{1086E21E-34F1-4008-8818-578CA476C5A3}" srcOrd="0" destOrd="0" presId="urn:microsoft.com/office/officeart/2018/2/layout/IconVerticalSolidList"/>
    <dgm:cxn modelId="{70E93C59-4C18-DC4D-84F0-D4DBDC046D0E}" type="presOf" srcId="{38CB37F7-6430-40E7-B956-D95315ED9C53}" destId="{AB120E0C-A953-4B93-B235-2CB08B077835}" srcOrd="0" destOrd="0" presId="urn:microsoft.com/office/officeart/2018/2/layout/IconVerticalSolidList"/>
    <dgm:cxn modelId="{7DE2495E-5A27-40CE-9885-AA11208DF6C6}" srcId="{9DC1AA8B-B86E-41F1-96C3-8087F3ECB816}" destId="{26FF1CCE-BAFC-4677-8C51-4A1A1DB0CC9F}" srcOrd="5" destOrd="0" parTransId="{FF1BDE23-602A-4949-BC31-1DA5A210789F}" sibTransId="{574CA19C-F661-486F-BA3C-39511D9285FB}"/>
    <dgm:cxn modelId="{DD929F5E-902A-EE43-A2B6-E0A412253130}" type="presOf" srcId="{ABFEE0A8-5BFD-4850-9148-5263B0720750}" destId="{4EDCCD5C-D32C-4E5B-8DF6-E99D881F0284}" srcOrd="0" destOrd="0" presId="urn:microsoft.com/office/officeart/2018/2/layout/IconVerticalSolidList"/>
    <dgm:cxn modelId="{F9426E7C-B883-4D2B-B806-A6CE0EF3C057}" srcId="{9DC1AA8B-B86E-41F1-96C3-8087F3ECB816}" destId="{ABFEE0A8-5BFD-4850-9148-5263B0720750}" srcOrd="3" destOrd="0" parTransId="{68305F9B-7A82-4243-AB7A-34142B56FD22}" sibTransId="{88F390AC-2CD2-4CD9-B4FB-C3F6033D622D}"/>
    <dgm:cxn modelId="{F3D8927F-5E4B-8441-89A2-EDD15B0AEF27}" type="presOf" srcId="{9DC1AA8B-B86E-41F1-96C3-8087F3ECB816}" destId="{61362ED9-D7D4-497B-8F52-A7D9F5FC7267}" srcOrd="0" destOrd="0" presId="urn:microsoft.com/office/officeart/2018/2/layout/IconVerticalSolidList"/>
    <dgm:cxn modelId="{4E803088-EE97-0B48-8F12-C05C76499D07}" type="presOf" srcId="{C505C990-39A4-4412-9A20-375B8F100636}" destId="{6FEE1D4D-0D0F-4EA4-823C-FC1654E1CB65}" srcOrd="0" destOrd="0" presId="urn:microsoft.com/office/officeart/2018/2/layout/IconVerticalSolidList"/>
    <dgm:cxn modelId="{F032D8B3-26C0-7844-980F-F1522A61A586}" type="presOf" srcId="{DE968819-8DA5-4D43-AF39-763BB44D0571}" destId="{9CA184B1-13F0-4E3A-B0C3-2CC3F670F23D}" srcOrd="0" destOrd="0" presId="urn:microsoft.com/office/officeart/2018/2/layout/IconVerticalSolidList"/>
    <dgm:cxn modelId="{A24EE0D1-1873-4683-BC47-500BA7308935}" srcId="{9DC1AA8B-B86E-41F1-96C3-8087F3ECB816}" destId="{38CB37F7-6430-40E7-B956-D95315ED9C53}" srcOrd="4" destOrd="0" parTransId="{5B89381A-EEC0-4666-A8B9-8E7E4E09077E}" sibTransId="{C008544B-331A-42C3-B6E2-D1D2E6DD4FB2}"/>
    <dgm:cxn modelId="{A6197FEB-4396-4D5A-9DC2-E3AB9967A8A7}" srcId="{9DC1AA8B-B86E-41F1-96C3-8087F3ECB816}" destId="{4C194468-8394-4439-B1AD-C3C2A827A496}" srcOrd="0" destOrd="0" parTransId="{30774D4B-BB40-42DD-85EC-EA4E2632D45A}" sibTransId="{AEE62728-5650-4928-9E5E-6E66391C4F5B}"/>
    <dgm:cxn modelId="{7A0BFDED-CF24-4DFA-A63A-C142EA3ED7D1}" srcId="{9DC1AA8B-B86E-41F1-96C3-8087F3ECB816}" destId="{DE968819-8DA5-4D43-AF39-763BB44D0571}" srcOrd="2" destOrd="0" parTransId="{BBF3634C-B177-40F9-80C7-880570F9A25E}" sibTransId="{1C9CD49D-441B-4BF0-9101-B410BD84BEA7}"/>
    <dgm:cxn modelId="{17F242EE-3273-8F4E-8211-160D0F6386B4}" type="presParOf" srcId="{61362ED9-D7D4-497B-8F52-A7D9F5FC7267}" destId="{B9162B0B-57A6-427D-9934-F22556E6BF61}" srcOrd="0" destOrd="0" presId="urn:microsoft.com/office/officeart/2018/2/layout/IconVerticalSolidList"/>
    <dgm:cxn modelId="{AD1460CE-CB6A-AF4A-A848-10890974B845}" type="presParOf" srcId="{B9162B0B-57A6-427D-9934-F22556E6BF61}" destId="{03AAF431-7299-49F3-BA67-A13CD37674A0}" srcOrd="0" destOrd="0" presId="urn:microsoft.com/office/officeart/2018/2/layout/IconVerticalSolidList"/>
    <dgm:cxn modelId="{3B22EF18-9102-4F48-8F51-95B07BF0F747}" type="presParOf" srcId="{B9162B0B-57A6-427D-9934-F22556E6BF61}" destId="{6232B8BB-0D58-4D9C-B48C-83E701B02F01}" srcOrd="1" destOrd="0" presId="urn:microsoft.com/office/officeart/2018/2/layout/IconVerticalSolidList"/>
    <dgm:cxn modelId="{4ABC9C4A-3D65-0244-A734-19458D2F617D}" type="presParOf" srcId="{B9162B0B-57A6-427D-9934-F22556E6BF61}" destId="{32BE0A8C-78B0-4F37-8848-AA4B3212A5E5}" srcOrd="2" destOrd="0" presId="urn:microsoft.com/office/officeart/2018/2/layout/IconVerticalSolidList"/>
    <dgm:cxn modelId="{210CA461-784E-5840-B3F5-04F6FF19222E}" type="presParOf" srcId="{B9162B0B-57A6-427D-9934-F22556E6BF61}" destId="{1086E21E-34F1-4008-8818-578CA476C5A3}" srcOrd="3" destOrd="0" presId="urn:microsoft.com/office/officeart/2018/2/layout/IconVerticalSolidList"/>
    <dgm:cxn modelId="{81821467-C04D-E44E-88CE-340DF7BB47F1}" type="presParOf" srcId="{61362ED9-D7D4-497B-8F52-A7D9F5FC7267}" destId="{79D62F94-D2AB-407F-93AB-EAA5B306C558}" srcOrd="1" destOrd="0" presId="urn:microsoft.com/office/officeart/2018/2/layout/IconVerticalSolidList"/>
    <dgm:cxn modelId="{6B34292C-4971-0D41-AD8A-4DEF4B2100C1}" type="presParOf" srcId="{61362ED9-D7D4-497B-8F52-A7D9F5FC7267}" destId="{E38DAA6E-F9AB-457D-9EF0-C810D0FB1927}" srcOrd="2" destOrd="0" presId="urn:microsoft.com/office/officeart/2018/2/layout/IconVerticalSolidList"/>
    <dgm:cxn modelId="{92D67262-64D1-2A45-AFD6-1A5F408B804E}" type="presParOf" srcId="{E38DAA6E-F9AB-457D-9EF0-C810D0FB1927}" destId="{EE17ABA0-A5A6-45C0-B684-21EE9DD59129}" srcOrd="0" destOrd="0" presId="urn:microsoft.com/office/officeart/2018/2/layout/IconVerticalSolidList"/>
    <dgm:cxn modelId="{6ACACECA-0386-3549-AF39-780D1E6E278D}" type="presParOf" srcId="{E38DAA6E-F9AB-457D-9EF0-C810D0FB1927}" destId="{DBBFD764-FA80-42A0-A57F-0F9F34D20C4C}" srcOrd="1" destOrd="0" presId="urn:microsoft.com/office/officeart/2018/2/layout/IconVerticalSolidList"/>
    <dgm:cxn modelId="{97584AA1-D9C4-474E-8A72-3BC5DEB36233}" type="presParOf" srcId="{E38DAA6E-F9AB-457D-9EF0-C810D0FB1927}" destId="{60B42C86-D026-47C3-87AD-38A98348243E}" srcOrd="2" destOrd="0" presId="urn:microsoft.com/office/officeart/2018/2/layout/IconVerticalSolidList"/>
    <dgm:cxn modelId="{85EA7170-0F6C-364A-917D-45C6851A75F0}" type="presParOf" srcId="{E38DAA6E-F9AB-457D-9EF0-C810D0FB1927}" destId="{6FEE1D4D-0D0F-4EA4-823C-FC1654E1CB65}" srcOrd="3" destOrd="0" presId="urn:microsoft.com/office/officeart/2018/2/layout/IconVerticalSolidList"/>
    <dgm:cxn modelId="{DFB997BF-30FF-094B-80C5-CC4C28A0E401}" type="presParOf" srcId="{61362ED9-D7D4-497B-8F52-A7D9F5FC7267}" destId="{9DB2AEB4-374A-4BD9-9D03-11337DC7C341}" srcOrd="3" destOrd="0" presId="urn:microsoft.com/office/officeart/2018/2/layout/IconVerticalSolidList"/>
    <dgm:cxn modelId="{0BCFCED8-1D41-2944-8F61-A5F27595C3AD}" type="presParOf" srcId="{61362ED9-D7D4-497B-8F52-A7D9F5FC7267}" destId="{AE62EADD-2816-4AB1-A348-CE78C66D23F3}" srcOrd="4" destOrd="0" presId="urn:microsoft.com/office/officeart/2018/2/layout/IconVerticalSolidList"/>
    <dgm:cxn modelId="{A58C873F-9B06-E042-AFD6-C91E053446A8}" type="presParOf" srcId="{AE62EADD-2816-4AB1-A348-CE78C66D23F3}" destId="{55CF2454-C7FD-460A-9613-BE0C24E57D4E}" srcOrd="0" destOrd="0" presId="urn:microsoft.com/office/officeart/2018/2/layout/IconVerticalSolidList"/>
    <dgm:cxn modelId="{67598D7B-5677-1C4F-B177-97DDFC8066E4}" type="presParOf" srcId="{AE62EADD-2816-4AB1-A348-CE78C66D23F3}" destId="{505E4579-D91E-4C63-834D-1A9D9FFEFF5F}" srcOrd="1" destOrd="0" presId="urn:microsoft.com/office/officeart/2018/2/layout/IconVerticalSolidList"/>
    <dgm:cxn modelId="{BA562B8A-8A99-844E-9D4B-DCBC3B1D944D}" type="presParOf" srcId="{AE62EADD-2816-4AB1-A348-CE78C66D23F3}" destId="{3CE338B0-382B-4F8A-9CB6-B2D2911E249A}" srcOrd="2" destOrd="0" presId="urn:microsoft.com/office/officeart/2018/2/layout/IconVerticalSolidList"/>
    <dgm:cxn modelId="{E3F4ADE6-F604-C64E-96B3-A512E1136F82}" type="presParOf" srcId="{AE62EADD-2816-4AB1-A348-CE78C66D23F3}" destId="{9CA184B1-13F0-4E3A-B0C3-2CC3F670F23D}" srcOrd="3" destOrd="0" presId="urn:microsoft.com/office/officeart/2018/2/layout/IconVerticalSolidList"/>
    <dgm:cxn modelId="{271FB946-B46A-BA43-B77A-1DDEE491C1EC}" type="presParOf" srcId="{61362ED9-D7D4-497B-8F52-A7D9F5FC7267}" destId="{A027E609-96C4-4F3E-8C57-0403CA8B2C92}" srcOrd="5" destOrd="0" presId="urn:microsoft.com/office/officeart/2018/2/layout/IconVerticalSolidList"/>
    <dgm:cxn modelId="{2379D187-DDDD-F141-AC5D-ECD6D36AEDAD}" type="presParOf" srcId="{61362ED9-D7D4-497B-8F52-A7D9F5FC7267}" destId="{BAF8065C-2811-49C2-B194-3E7D881AB5E9}" srcOrd="6" destOrd="0" presId="urn:microsoft.com/office/officeart/2018/2/layout/IconVerticalSolidList"/>
    <dgm:cxn modelId="{C833B0E9-157B-CB44-828D-558D14C7F9B5}" type="presParOf" srcId="{BAF8065C-2811-49C2-B194-3E7D881AB5E9}" destId="{AC31CA8A-11F0-4C81-8564-694E7F7A7926}" srcOrd="0" destOrd="0" presId="urn:microsoft.com/office/officeart/2018/2/layout/IconVerticalSolidList"/>
    <dgm:cxn modelId="{B51D7634-1895-4B48-913C-D85481F36DB4}" type="presParOf" srcId="{BAF8065C-2811-49C2-B194-3E7D881AB5E9}" destId="{6B601047-1748-4B1F-B2F7-A41A455A322D}" srcOrd="1" destOrd="0" presId="urn:microsoft.com/office/officeart/2018/2/layout/IconVerticalSolidList"/>
    <dgm:cxn modelId="{A5364488-401C-DD40-943E-2C39B6F4FB01}" type="presParOf" srcId="{BAF8065C-2811-49C2-B194-3E7D881AB5E9}" destId="{B2DED39B-21D6-4BF2-86C3-3F1F9E31A274}" srcOrd="2" destOrd="0" presId="urn:microsoft.com/office/officeart/2018/2/layout/IconVerticalSolidList"/>
    <dgm:cxn modelId="{9EEE1181-C853-DD41-8579-7DE8AF4EF6A3}" type="presParOf" srcId="{BAF8065C-2811-49C2-B194-3E7D881AB5E9}" destId="{4EDCCD5C-D32C-4E5B-8DF6-E99D881F0284}" srcOrd="3" destOrd="0" presId="urn:microsoft.com/office/officeart/2018/2/layout/IconVerticalSolidList"/>
    <dgm:cxn modelId="{A977FD04-F4C7-F64F-8A59-22AE0B5D9A06}" type="presParOf" srcId="{61362ED9-D7D4-497B-8F52-A7D9F5FC7267}" destId="{B91093FE-C7A9-4BC4-ABA3-39A60B189A21}" srcOrd="7" destOrd="0" presId="urn:microsoft.com/office/officeart/2018/2/layout/IconVerticalSolidList"/>
    <dgm:cxn modelId="{67DA49FB-E444-8849-A6E4-AD1051CABE7C}" type="presParOf" srcId="{61362ED9-D7D4-497B-8F52-A7D9F5FC7267}" destId="{1FA89313-B354-456B-AC66-EA3EFD56C098}" srcOrd="8" destOrd="0" presId="urn:microsoft.com/office/officeart/2018/2/layout/IconVerticalSolidList"/>
    <dgm:cxn modelId="{4A4A8999-3B0F-C74C-AD5E-39BCA7A96740}" type="presParOf" srcId="{1FA89313-B354-456B-AC66-EA3EFD56C098}" destId="{D2F2F983-AE9F-44EA-B254-2D7FE1E8B3DD}" srcOrd="0" destOrd="0" presId="urn:microsoft.com/office/officeart/2018/2/layout/IconVerticalSolidList"/>
    <dgm:cxn modelId="{A6B72B6B-31EF-B34A-940E-123890844738}" type="presParOf" srcId="{1FA89313-B354-456B-AC66-EA3EFD56C098}" destId="{A88FDFE2-57AB-490C-82FB-15A28A81AA16}" srcOrd="1" destOrd="0" presId="urn:microsoft.com/office/officeart/2018/2/layout/IconVerticalSolidList"/>
    <dgm:cxn modelId="{E6E8615A-DA82-B242-AC1D-E3BF0339A246}" type="presParOf" srcId="{1FA89313-B354-456B-AC66-EA3EFD56C098}" destId="{818245DB-16D3-4B52-94ED-799A6EF36B34}" srcOrd="2" destOrd="0" presId="urn:microsoft.com/office/officeart/2018/2/layout/IconVerticalSolidList"/>
    <dgm:cxn modelId="{7EAD8928-D36C-884C-AC0A-058589E9B973}" type="presParOf" srcId="{1FA89313-B354-456B-AC66-EA3EFD56C098}" destId="{AB120E0C-A953-4B93-B235-2CB08B077835}" srcOrd="3" destOrd="0" presId="urn:microsoft.com/office/officeart/2018/2/layout/IconVerticalSolidList"/>
    <dgm:cxn modelId="{4C4621B1-0AF1-4B4F-8D7F-1C612827EDF5}" type="presParOf" srcId="{61362ED9-D7D4-497B-8F52-A7D9F5FC7267}" destId="{3311E854-29E1-418F-A67B-10CACDA6112F}" srcOrd="9" destOrd="0" presId="urn:microsoft.com/office/officeart/2018/2/layout/IconVerticalSolidList"/>
    <dgm:cxn modelId="{B9461760-0D6A-464C-8430-A087AC214929}" type="presParOf" srcId="{61362ED9-D7D4-497B-8F52-A7D9F5FC7267}" destId="{FD3FE2C1-603B-49E8-9DE5-E061FE1E56DC}" srcOrd="10" destOrd="0" presId="urn:microsoft.com/office/officeart/2018/2/layout/IconVerticalSolidList"/>
    <dgm:cxn modelId="{78DCEB3B-1E98-4D4A-A2A9-22DF41267619}" type="presParOf" srcId="{FD3FE2C1-603B-49E8-9DE5-E061FE1E56DC}" destId="{AD949764-794B-4C54-8978-1F679D2589EF}" srcOrd="0" destOrd="0" presId="urn:microsoft.com/office/officeart/2018/2/layout/IconVerticalSolidList"/>
    <dgm:cxn modelId="{DE8D749E-3845-654E-85DA-14C8F99B2B78}" type="presParOf" srcId="{FD3FE2C1-603B-49E8-9DE5-E061FE1E56DC}" destId="{6CC5F480-A32B-47C7-849B-5C59A443B4E6}" srcOrd="1" destOrd="0" presId="urn:microsoft.com/office/officeart/2018/2/layout/IconVerticalSolidList"/>
    <dgm:cxn modelId="{EA87A081-1277-9D44-8DAA-A47786A9CD25}" type="presParOf" srcId="{FD3FE2C1-603B-49E8-9DE5-E061FE1E56DC}" destId="{03578054-C1E3-4F7E-8425-7F57F453694B}" srcOrd="2" destOrd="0" presId="urn:microsoft.com/office/officeart/2018/2/layout/IconVerticalSolidList"/>
    <dgm:cxn modelId="{B6A45B95-CC2D-4247-B88A-8A635703A37C}" type="presParOf" srcId="{FD3FE2C1-603B-49E8-9DE5-E061FE1E56DC}" destId="{B6B453FD-D731-4EFA-8A4B-5A5411887C9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B347B70-8507-47CD-A841-40226B37363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E0FF85A-E2E9-4F4D-A85A-61F66857579A}">
      <dgm:prSet/>
      <dgm:spPr/>
      <dgm:t>
        <a:bodyPr/>
        <a:lstStyle/>
        <a:p>
          <a:r>
            <a:rPr lang="en-US"/>
            <a:t>BigQuery has built-in visualisation tools</a:t>
          </a:r>
        </a:p>
      </dgm:t>
    </dgm:pt>
    <dgm:pt modelId="{31EA3C2A-E3C6-4CD0-9547-D291D88290FA}" type="parTrans" cxnId="{03F75E3A-CFDD-4D0F-93B6-300051A5C82B}">
      <dgm:prSet/>
      <dgm:spPr/>
      <dgm:t>
        <a:bodyPr/>
        <a:lstStyle/>
        <a:p>
          <a:endParaRPr lang="en-US"/>
        </a:p>
      </dgm:t>
    </dgm:pt>
    <dgm:pt modelId="{603C47D2-6C81-4606-99CB-85FB3E38807A}" type="sibTrans" cxnId="{03F75E3A-CFDD-4D0F-93B6-300051A5C82B}">
      <dgm:prSet/>
      <dgm:spPr/>
      <dgm:t>
        <a:bodyPr/>
        <a:lstStyle/>
        <a:p>
          <a:endParaRPr lang="en-US"/>
        </a:p>
      </dgm:t>
    </dgm:pt>
    <dgm:pt modelId="{B1FF0C0F-EFC9-4CC1-A6A7-50BBFC6122BA}">
      <dgm:prSet/>
      <dgm:spPr/>
      <dgm:t>
        <a:bodyPr/>
        <a:lstStyle/>
        <a:p>
          <a:r>
            <a:rPr lang="en-US" dirty="0"/>
            <a:t>Charts generated directly from query results</a:t>
          </a:r>
        </a:p>
      </dgm:t>
    </dgm:pt>
    <dgm:pt modelId="{3434D6B8-1663-4333-8547-25DE02D4C007}" type="parTrans" cxnId="{220B0814-13DE-4127-95D3-E4D16554EBE0}">
      <dgm:prSet/>
      <dgm:spPr/>
      <dgm:t>
        <a:bodyPr/>
        <a:lstStyle/>
        <a:p>
          <a:endParaRPr lang="en-US"/>
        </a:p>
      </dgm:t>
    </dgm:pt>
    <dgm:pt modelId="{CD5FB239-65B0-4FB2-BF11-C3564D44902D}" type="sibTrans" cxnId="{220B0814-13DE-4127-95D3-E4D16554EBE0}">
      <dgm:prSet/>
      <dgm:spPr/>
      <dgm:t>
        <a:bodyPr/>
        <a:lstStyle/>
        <a:p>
          <a:endParaRPr lang="en-US"/>
        </a:p>
      </dgm:t>
    </dgm:pt>
    <dgm:pt modelId="{B8BB0E98-B9FD-4536-984D-C54AF249C1BE}">
      <dgm:prSet/>
      <dgm:spPr/>
      <dgm:t>
        <a:bodyPr/>
        <a:lstStyle/>
        <a:p>
          <a:r>
            <a:rPr lang="en-US"/>
            <a:t>No additional software needed</a:t>
          </a:r>
        </a:p>
      </dgm:t>
    </dgm:pt>
    <dgm:pt modelId="{9A50265E-92A5-419B-A6DC-12593C8A348F}" type="parTrans" cxnId="{C37A8E14-C36F-476D-B984-1CC81BF21D08}">
      <dgm:prSet/>
      <dgm:spPr/>
      <dgm:t>
        <a:bodyPr/>
        <a:lstStyle/>
        <a:p>
          <a:endParaRPr lang="en-US"/>
        </a:p>
      </dgm:t>
    </dgm:pt>
    <dgm:pt modelId="{FEDFBB53-9869-40F5-927A-2162C3A6E272}" type="sibTrans" cxnId="{C37A8E14-C36F-476D-B984-1CC81BF21D08}">
      <dgm:prSet/>
      <dgm:spPr/>
      <dgm:t>
        <a:bodyPr/>
        <a:lstStyle/>
        <a:p>
          <a:endParaRPr lang="en-US"/>
        </a:p>
      </dgm:t>
    </dgm:pt>
    <dgm:pt modelId="{703244E0-D280-4F83-B697-48BF3D38E770}">
      <dgm:prSet/>
      <dgm:spPr/>
      <dgm:t>
        <a:bodyPr/>
        <a:lstStyle/>
        <a:p>
          <a:r>
            <a:rPr lang="en-US"/>
            <a:t>Instant visual insights from structured data</a:t>
          </a:r>
        </a:p>
      </dgm:t>
    </dgm:pt>
    <dgm:pt modelId="{1F480F5A-A192-465E-ACC6-40FBD4014AE2}" type="parTrans" cxnId="{F1743E85-CEBC-433D-A5D6-BBE95F26CA87}">
      <dgm:prSet/>
      <dgm:spPr/>
      <dgm:t>
        <a:bodyPr/>
        <a:lstStyle/>
        <a:p>
          <a:endParaRPr lang="en-US"/>
        </a:p>
      </dgm:t>
    </dgm:pt>
    <dgm:pt modelId="{4BB5A9D4-FEC5-4A1D-82DA-4B8F92908146}" type="sibTrans" cxnId="{F1743E85-CEBC-433D-A5D6-BBE95F26CA87}">
      <dgm:prSet/>
      <dgm:spPr/>
      <dgm:t>
        <a:bodyPr/>
        <a:lstStyle/>
        <a:p>
          <a:endParaRPr lang="en-US"/>
        </a:p>
      </dgm:t>
    </dgm:pt>
    <dgm:pt modelId="{0BAFB7B0-9F3E-42CB-82EF-EC707F893258}">
      <dgm:prSet/>
      <dgm:spPr/>
      <dgm:t>
        <a:bodyPr/>
        <a:lstStyle/>
        <a:p>
          <a:r>
            <a:rPr lang="en-US"/>
            <a:t>Same data can be exported to Looker Studio for advanced dashboards</a:t>
          </a:r>
        </a:p>
      </dgm:t>
    </dgm:pt>
    <dgm:pt modelId="{582D11FB-8644-4339-AE97-9510293C7C7A}" type="parTrans" cxnId="{E7092164-F37A-49F0-A1D8-E94FBCAA7724}">
      <dgm:prSet/>
      <dgm:spPr/>
      <dgm:t>
        <a:bodyPr/>
        <a:lstStyle/>
        <a:p>
          <a:endParaRPr lang="en-US"/>
        </a:p>
      </dgm:t>
    </dgm:pt>
    <dgm:pt modelId="{64BFD58F-12FA-4D19-AA2F-7F84261D5A74}" type="sibTrans" cxnId="{E7092164-F37A-49F0-A1D8-E94FBCAA7724}">
      <dgm:prSet/>
      <dgm:spPr/>
      <dgm:t>
        <a:bodyPr/>
        <a:lstStyle/>
        <a:p>
          <a:endParaRPr lang="en-US"/>
        </a:p>
      </dgm:t>
    </dgm:pt>
    <dgm:pt modelId="{A385ED25-1AFB-9D4F-9A8A-653C3043AFEC}" type="pres">
      <dgm:prSet presAssocID="{7B347B70-8507-47CD-A841-40226B373633}" presName="vert0" presStyleCnt="0">
        <dgm:presLayoutVars>
          <dgm:dir/>
          <dgm:animOne val="branch"/>
          <dgm:animLvl val="lvl"/>
        </dgm:presLayoutVars>
      </dgm:prSet>
      <dgm:spPr/>
    </dgm:pt>
    <dgm:pt modelId="{D88678B1-1B7A-C846-8A8D-41C1231139CD}" type="pres">
      <dgm:prSet presAssocID="{AE0FF85A-E2E9-4F4D-A85A-61F66857579A}" presName="thickLine" presStyleLbl="alignNode1" presStyleIdx="0" presStyleCnt="5"/>
      <dgm:spPr/>
    </dgm:pt>
    <dgm:pt modelId="{9B218F48-93D4-DF45-AE90-901F13EBBD29}" type="pres">
      <dgm:prSet presAssocID="{AE0FF85A-E2E9-4F4D-A85A-61F66857579A}" presName="horz1" presStyleCnt="0"/>
      <dgm:spPr/>
    </dgm:pt>
    <dgm:pt modelId="{079056E8-E5E0-E749-A726-89E312D9277C}" type="pres">
      <dgm:prSet presAssocID="{AE0FF85A-E2E9-4F4D-A85A-61F66857579A}" presName="tx1" presStyleLbl="revTx" presStyleIdx="0" presStyleCnt="5"/>
      <dgm:spPr/>
    </dgm:pt>
    <dgm:pt modelId="{14E7DD88-27DB-F64D-8B3B-B33D4D4A36CC}" type="pres">
      <dgm:prSet presAssocID="{AE0FF85A-E2E9-4F4D-A85A-61F66857579A}" presName="vert1" presStyleCnt="0"/>
      <dgm:spPr/>
    </dgm:pt>
    <dgm:pt modelId="{F69E88E9-C1F4-3A45-B556-4A480BF089F1}" type="pres">
      <dgm:prSet presAssocID="{B1FF0C0F-EFC9-4CC1-A6A7-50BBFC6122BA}" presName="thickLine" presStyleLbl="alignNode1" presStyleIdx="1" presStyleCnt="5"/>
      <dgm:spPr/>
    </dgm:pt>
    <dgm:pt modelId="{AEFE319D-FEC6-C744-8A3B-EF85218D829F}" type="pres">
      <dgm:prSet presAssocID="{B1FF0C0F-EFC9-4CC1-A6A7-50BBFC6122BA}" presName="horz1" presStyleCnt="0"/>
      <dgm:spPr/>
    </dgm:pt>
    <dgm:pt modelId="{8BBBFECD-F8E0-5544-88ED-356C07ECFE28}" type="pres">
      <dgm:prSet presAssocID="{B1FF0C0F-EFC9-4CC1-A6A7-50BBFC6122BA}" presName="tx1" presStyleLbl="revTx" presStyleIdx="1" presStyleCnt="5"/>
      <dgm:spPr/>
    </dgm:pt>
    <dgm:pt modelId="{FFC0953D-AAB0-854C-8E40-76A5F1F530A5}" type="pres">
      <dgm:prSet presAssocID="{B1FF0C0F-EFC9-4CC1-A6A7-50BBFC6122BA}" presName="vert1" presStyleCnt="0"/>
      <dgm:spPr/>
    </dgm:pt>
    <dgm:pt modelId="{611E5F42-0719-C442-9EAC-0754AE801F45}" type="pres">
      <dgm:prSet presAssocID="{B8BB0E98-B9FD-4536-984D-C54AF249C1BE}" presName="thickLine" presStyleLbl="alignNode1" presStyleIdx="2" presStyleCnt="5"/>
      <dgm:spPr/>
    </dgm:pt>
    <dgm:pt modelId="{2130F757-DFE9-A749-969A-FD44773F4974}" type="pres">
      <dgm:prSet presAssocID="{B8BB0E98-B9FD-4536-984D-C54AF249C1BE}" presName="horz1" presStyleCnt="0"/>
      <dgm:spPr/>
    </dgm:pt>
    <dgm:pt modelId="{1F1603F0-1E4C-D740-A280-1B5CE051EF7F}" type="pres">
      <dgm:prSet presAssocID="{B8BB0E98-B9FD-4536-984D-C54AF249C1BE}" presName="tx1" presStyleLbl="revTx" presStyleIdx="2" presStyleCnt="5"/>
      <dgm:spPr/>
    </dgm:pt>
    <dgm:pt modelId="{C452E0A7-8BAA-BF45-805E-95143EC26DBD}" type="pres">
      <dgm:prSet presAssocID="{B8BB0E98-B9FD-4536-984D-C54AF249C1BE}" presName="vert1" presStyleCnt="0"/>
      <dgm:spPr/>
    </dgm:pt>
    <dgm:pt modelId="{0859976A-E955-8F45-9028-CCA34644B9C4}" type="pres">
      <dgm:prSet presAssocID="{703244E0-D280-4F83-B697-48BF3D38E770}" presName="thickLine" presStyleLbl="alignNode1" presStyleIdx="3" presStyleCnt="5"/>
      <dgm:spPr/>
    </dgm:pt>
    <dgm:pt modelId="{53F1E261-2594-EB46-B83C-99A623CA8A53}" type="pres">
      <dgm:prSet presAssocID="{703244E0-D280-4F83-B697-48BF3D38E770}" presName="horz1" presStyleCnt="0"/>
      <dgm:spPr/>
    </dgm:pt>
    <dgm:pt modelId="{070AEE8C-4DD8-654A-9640-EFC3384C1529}" type="pres">
      <dgm:prSet presAssocID="{703244E0-D280-4F83-B697-48BF3D38E770}" presName="tx1" presStyleLbl="revTx" presStyleIdx="3" presStyleCnt="5"/>
      <dgm:spPr/>
    </dgm:pt>
    <dgm:pt modelId="{A9544715-750D-FF45-B6F4-75F30F50EE5E}" type="pres">
      <dgm:prSet presAssocID="{703244E0-D280-4F83-B697-48BF3D38E770}" presName="vert1" presStyleCnt="0"/>
      <dgm:spPr/>
    </dgm:pt>
    <dgm:pt modelId="{D1B4DF0D-F676-B54F-B019-AC50C7B746C1}" type="pres">
      <dgm:prSet presAssocID="{0BAFB7B0-9F3E-42CB-82EF-EC707F893258}" presName="thickLine" presStyleLbl="alignNode1" presStyleIdx="4" presStyleCnt="5"/>
      <dgm:spPr/>
    </dgm:pt>
    <dgm:pt modelId="{637C5DB7-B17B-BF49-8E93-7173EA6627ED}" type="pres">
      <dgm:prSet presAssocID="{0BAFB7B0-9F3E-42CB-82EF-EC707F893258}" presName="horz1" presStyleCnt="0"/>
      <dgm:spPr/>
    </dgm:pt>
    <dgm:pt modelId="{95899A5D-B843-DD45-8E9E-0445AF714A25}" type="pres">
      <dgm:prSet presAssocID="{0BAFB7B0-9F3E-42CB-82EF-EC707F893258}" presName="tx1" presStyleLbl="revTx" presStyleIdx="4" presStyleCnt="5"/>
      <dgm:spPr/>
    </dgm:pt>
    <dgm:pt modelId="{E3650D6E-3AF4-9B4C-803B-58E1651AB7D3}" type="pres">
      <dgm:prSet presAssocID="{0BAFB7B0-9F3E-42CB-82EF-EC707F893258}" presName="vert1" presStyleCnt="0"/>
      <dgm:spPr/>
    </dgm:pt>
  </dgm:ptLst>
  <dgm:cxnLst>
    <dgm:cxn modelId="{220B0814-13DE-4127-95D3-E4D16554EBE0}" srcId="{7B347B70-8507-47CD-A841-40226B373633}" destId="{B1FF0C0F-EFC9-4CC1-A6A7-50BBFC6122BA}" srcOrd="1" destOrd="0" parTransId="{3434D6B8-1663-4333-8547-25DE02D4C007}" sibTransId="{CD5FB239-65B0-4FB2-BF11-C3564D44902D}"/>
    <dgm:cxn modelId="{C37A8E14-C36F-476D-B984-1CC81BF21D08}" srcId="{7B347B70-8507-47CD-A841-40226B373633}" destId="{B8BB0E98-B9FD-4536-984D-C54AF249C1BE}" srcOrd="2" destOrd="0" parTransId="{9A50265E-92A5-419B-A6DC-12593C8A348F}" sibTransId="{FEDFBB53-9869-40F5-927A-2162C3A6E272}"/>
    <dgm:cxn modelId="{81C8A51C-3602-4FF2-996C-A4B8BA7E7683}" type="presOf" srcId="{0BAFB7B0-9F3E-42CB-82EF-EC707F893258}" destId="{95899A5D-B843-DD45-8E9E-0445AF714A25}" srcOrd="0" destOrd="0" presId="urn:microsoft.com/office/officeart/2008/layout/LinedList"/>
    <dgm:cxn modelId="{92BB8827-34CA-49CD-A84E-291AD48FC9C2}" type="presOf" srcId="{703244E0-D280-4F83-B697-48BF3D38E770}" destId="{070AEE8C-4DD8-654A-9640-EFC3384C1529}" srcOrd="0" destOrd="0" presId="urn:microsoft.com/office/officeart/2008/layout/LinedList"/>
    <dgm:cxn modelId="{03F75E3A-CFDD-4D0F-93B6-300051A5C82B}" srcId="{7B347B70-8507-47CD-A841-40226B373633}" destId="{AE0FF85A-E2E9-4F4D-A85A-61F66857579A}" srcOrd="0" destOrd="0" parTransId="{31EA3C2A-E3C6-4CD0-9547-D291D88290FA}" sibTransId="{603C47D2-6C81-4606-99CB-85FB3E38807A}"/>
    <dgm:cxn modelId="{E7092164-F37A-49F0-A1D8-E94FBCAA7724}" srcId="{7B347B70-8507-47CD-A841-40226B373633}" destId="{0BAFB7B0-9F3E-42CB-82EF-EC707F893258}" srcOrd="4" destOrd="0" parTransId="{582D11FB-8644-4339-AE97-9510293C7C7A}" sibTransId="{64BFD58F-12FA-4D19-AA2F-7F84261D5A74}"/>
    <dgm:cxn modelId="{F1743E85-CEBC-433D-A5D6-BBE95F26CA87}" srcId="{7B347B70-8507-47CD-A841-40226B373633}" destId="{703244E0-D280-4F83-B697-48BF3D38E770}" srcOrd="3" destOrd="0" parTransId="{1F480F5A-A192-465E-ACC6-40FBD4014AE2}" sibTransId="{4BB5A9D4-FEC5-4A1D-82DA-4B8F92908146}"/>
    <dgm:cxn modelId="{CE78CB8D-87D5-4012-8ACC-6EC8816FBEA4}" type="presOf" srcId="{7B347B70-8507-47CD-A841-40226B373633}" destId="{A385ED25-1AFB-9D4F-9A8A-653C3043AFEC}" srcOrd="0" destOrd="0" presId="urn:microsoft.com/office/officeart/2008/layout/LinedList"/>
    <dgm:cxn modelId="{28AE47CB-3000-4713-AF24-9FA5DCD45E3B}" type="presOf" srcId="{B8BB0E98-B9FD-4536-984D-C54AF249C1BE}" destId="{1F1603F0-1E4C-D740-A280-1B5CE051EF7F}" srcOrd="0" destOrd="0" presId="urn:microsoft.com/office/officeart/2008/layout/LinedList"/>
    <dgm:cxn modelId="{52755DF0-D342-461A-ACDE-EA1D99B5D2B7}" type="presOf" srcId="{B1FF0C0F-EFC9-4CC1-A6A7-50BBFC6122BA}" destId="{8BBBFECD-F8E0-5544-88ED-356C07ECFE28}" srcOrd="0" destOrd="0" presId="urn:microsoft.com/office/officeart/2008/layout/LinedList"/>
    <dgm:cxn modelId="{85EBA8FA-B71D-48CC-AD1D-17A9487395C7}" type="presOf" srcId="{AE0FF85A-E2E9-4F4D-A85A-61F66857579A}" destId="{079056E8-E5E0-E749-A726-89E312D9277C}" srcOrd="0" destOrd="0" presId="urn:microsoft.com/office/officeart/2008/layout/LinedList"/>
    <dgm:cxn modelId="{D0E44B6F-57DA-4EFD-9C8A-CA60F21A37EC}" type="presParOf" srcId="{A385ED25-1AFB-9D4F-9A8A-653C3043AFEC}" destId="{D88678B1-1B7A-C846-8A8D-41C1231139CD}" srcOrd="0" destOrd="0" presId="urn:microsoft.com/office/officeart/2008/layout/LinedList"/>
    <dgm:cxn modelId="{6049CFBB-1636-477F-92CC-DB66B6B7DFEA}" type="presParOf" srcId="{A385ED25-1AFB-9D4F-9A8A-653C3043AFEC}" destId="{9B218F48-93D4-DF45-AE90-901F13EBBD29}" srcOrd="1" destOrd="0" presId="urn:microsoft.com/office/officeart/2008/layout/LinedList"/>
    <dgm:cxn modelId="{6032547D-DC14-44C8-B77D-F64F12C2C161}" type="presParOf" srcId="{9B218F48-93D4-DF45-AE90-901F13EBBD29}" destId="{079056E8-E5E0-E749-A726-89E312D9277C}" srcOrd="0" destOrd="0" presId="urn:microsoft.com/office/officeart/2008/layout/LinedList"/>
    <dgm:cxn modelId="{A7CD445E-EFFC-4C7F-9338-F3F54F182A91}" type="presParOf" srcId="{9B218F48-93D4-DF45-AE90-901F13EBBD29}" destId="{14E7DD88-27DB-F64D-8B3B-B33D4D4A36CC}" srcOrd="1" destOrd="0" presId="urn:microsoft.com/office/officeart/2008/layout/LinedList"/>
    <dgm:cxn modelId="{F3BD6F9C-FE29-406D-BB88-160FE1636F99}" type="presParOf" srcId="{A385ED25-1AFB-9D4F-9A8A-653C3043AFEC}" destId="{F69E88E9-C1F4-3A45-B556-4A480BF089F1}" srcOrd="2" destOrd="0" presId="urn:microsoft.com/office/officeart/2008/layout/LinedList"/>
    <dgm:cxn modelId="{46985037-B78A-415C-9404-65B3105A0AF4}" type="presParOf" srcId="{A385ED25-1AFB-9D4F-9A8A-653C3043AFEC}" destId="{AEFE319D-FEC6-C744-8A3B-EF85218D829F}" srcOrd="3" destOrd="0" presId="urn:microsoft.com/office/officeart/2008/layout/LinedList"/>
    <dgm:cxn modelId="{74CAC759-BA50-408A-8E8E-2D334DD8A117}" type="presParOf" srcId="{AEFE319D-FEC6-C744-8A3B-EF85218D829F}" destId="{8BBBFECD-F8E0-5544-88ED-356C07ECFE28}" srcOrd="0" destOrd="0" presId="urn:microsoft.com/office/officeart/2008/layout/LinedList"/>
    <dgm:cxn modelId="{81924793-5755-4B2C-B23C-C122B1E9A9DF}" type="presParOf" srcId="{AEFE319D-FEC6-C744-8A3B-EF85218D829F}" destId="{FFC0953D-AAB0-854C-8E40-76A5F1F530A5}" srcOrd="1" destOrd="0" presId="urn:microsoft.com/office/officeart/2008/layout/LinedList"/>
    <dgm:cxn modelId="{03002AC7-5CAF-4ED2-B11C-26952D42FCBD}" type="presParOf" srcId="{A385ED25-1AFB-9D4F-9A8A-653C3043AFEC}" destId="{611E5F42-0719-C442-9EAC-0754AE801F45}" srcOrd="4" destOrd="0" presId="urn:microsoft.com/office/officeart/2008/layout/LinedList"/>
    <dgm:cxn modelId="{81B0FD18-379E-4DB8-BDE0-996C5B0C7200}" type="presParOf" srcId="{A385ED25-1AFB-9D4F-9A8A-653C3043AFEC}" destId="{2130F757-DFE9-A749-969A-FD44773F4974}" srcOrd="5" destOrd="0" presId="urn:microsoft.com/office/officeart/2008/layout/LinedList"/>
    <dgm:cxn modelId="{B3272F88-B8F3-443D-9328-8F6C1A8AAB1A}" type="presParOf" srcId="{2130F757-DFE9-A749-969A-FD44773F4974}" destId="{1F1603F0-1E4C-D740-A280-1B5CE051EF7F}" srcOrd="0" destOrd="0" presId="urn:microsoft.com/office/officeart/2008/layout/LinedList"/>
    <dgm:cxn modelId="{3E773812-BFC0-4F01-A48E-817217FAED58}" type="presParOf" srcId="{2130F757-DFE9-A749-969A-FD44773F4974}" destId="{C452E0A7-8BAA-BF45-805E-95143EC26DBD}" srcOrd="1" destOrd="0" presId="urn:microsoft.com/office/officeart/2008/layout/LinedList"/>
    <dgm:cxn modelId="{B8F0B744-E6BD-4E87-9EF2-448B2BB187DB}" type="presParOf" srcId="{A385ED25-1AFB-9D4F-9A8A-653C3043AFEC}" destId="{0859976A-E955-8F45-9028-CCA34644B9C4}" srcOrd="6" destOrd="0" presId="urn:microsoft.com/office/officeart/2008/layout/LinedList"/>
    <dgm:cxn modelId="{29FF3060-4311-41AB-92B5-4BD9A97B47BB}" type="presParOf" srcId="{A385ED25-1AFB-9D4F-9A8A-653C3043AFEC}" destId="{53F1E261-2594-EB46-B83C-99A623CA8A53}" srcOrd="7" destOrd="0" presId="urn:microsoft.com/office/officeart/2008/layout/LinedList"/>
    <dgm:cxn modelId="{1BDFFA85-FFF2-422C-A8CF-61FF0F7E30E0}" type="presParOf" srcId="{53F1E261-2594-EB46-B83C-99A623CA8A53}" destId="{070AEE8C-4DD8-654A-9640-EFC3384C1529}" srcOrd="0" destOrd="0" presId="urn:microsoft.com/office/officeart/2008/layout/LinedList"/>
    <dgm:cxn modelId="{4A3E97C0-7BF3-4651-87A4-4614B7A87962}" type="presParOf" srcId="{53F1E261-2594-EB46-B83C-99A623CA8A53}" destId="{A9544715-750D-FF45-B6F4-75F30F50EE5E}" srcOrd="1" destOrd="0" presId="urn:microsoft.com/office/officeart/2008/layout/LinedList"/>
    <dgm:cxn modelId="{19613077-61C3-4E89-8CAA-A94D45FE25A7}" type="presParOf" srcId="{A385ED25-1AFB-9D4F-9A8A-653C3043AFEC}" destId="{D1B4DF0D-F676-B54F-B019-AC50C7B746C1}" srcOrd="8" destOrd="0" presId="urn:microsoft.com/office/officeart/2008/layout/LinedList"/>
    <dgm:cxn modelId="{6E2880EA-BA65-4564-A0DC-14E4227C43C3}" type="presParOf" srcId="{A385ED25-1AFB-9D4F-9A8A-653C3043AFEC}" destId="{637C5DB7-B17B-BF49-8E93-7173EA6627ED}" srcOrd="9" destOrd="0" presId="urn:microsoft.com/office/officeart/2008/layout/LinedList"/>
    <dgm:cxn modelId="{F9DB5E26-A446-46F3-BEC8-D3DAD7746EFB}" type="presParOf" srcId="{637C5DB7-B17B-BF49-8E93-7173EA6627ED}" destId="{95899A5D-B843-DD45-8E9E-0445AF714A25}" srcOrd="0" destOrd="0" presId="urn:microsoft.com/office/officeart/2008/layout/LinedList"/>
    <dgm:cxn modelId="{6C321AF1-1E3B-4EF1-BA3A-3DB83EDEC418}" type="presParOf" srcId="{637C5DB7-B17B-BF49-8E93-7173EA6627ED}" destId="{E3650D6E-3AF4-9B4C-803B-58E1651AB7D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61C77E-590A-45F5-83B5-A4239337742E}">
      <dsp:nvSpPr>
        <dsp:cNvPr id="0" name=""/>
        <dsp:cNvSpPr/>
      </dsp:nvSpPr>
      <dsp:spPr>
        <a:xfrm>
          <a:off x="973190" y="987327"/>
          <a:ext cx="1264141" cy="1264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8B0397-5991-47CA-B51B-410286C4BA2E}">
      <dsp:nvSpPr>
        <dsp:cNvPr id="0" name=""/>
        <dsp:cNvSpPr/>
      </dsp:nvSpPr>
      <dsp:spPr>
        <a:xfrm>
          <a:off x="1242597" y="1256734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FB2852-988B-4590-9FE1-C6064C33DC3F}">
      <dsp:nvSpPr>
        <dsp:cNvPr id="0" name=""/>
        <dsp:cNvSpPr/>
      </dsp:nvSpPr>
      <dsp:spPr>
        <a:xfrm>
          <a:off x="569079" y="2645217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All data Types </a:t>
          </a:r>
        </a:p>
      </dsp:txBody>
      <dsp:txXfrm>
        <a:off x="569079" y="2645217"/>
        <a:ext cx="2072362" cy="720000"/>
      </dsp:txXfrm>
    </dsp:sp>
    <dsp:sp modelId="{D270FB50-36D6-4F44-9013-4AA1ED344E67}">
      <dsp:nvSpPr>
        <dsp:cNvPr id="0" name=""/>
        <dsp:cNvSpPr/>
      </dsp:nvSpPr>
      <dsp:spPr>
        <a:xfrm>
          <a:off x="3408216" y="987327"/>
          <a:ext cx="1264141" cy="12641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C440CB-4512-48EB-B9AB-A7D3DDE584BF}">
      <dsp:nvSpPr>
        <dsp:cNvPr id="0" name=""/>
        <dsp:cNvSpPr/>
      </dsp:nvSpPr>
      <dsp:spPr>
        <a:xfrm>
          <a:off x="3677623" y="1256734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EFBA72-CCDD-4FAE-B7C0-EEB06293B363}">
      <dsp:nvSpPr>
        <dsp:cNvPr id="0" name=""/>
        <dsp:cNvSpPr/>
      </dsp:nvSpPr>
      <dsp:spPr>
        <a:xfrm>
          <a:off x="3004105" y="2645217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Schema-on-Read</a:t>
          </a:r>
        </a:p>
      </dsp:txBody>
      <dsp:txXfrm>
        <a:off x="3004105" y="2645217"/>
        <a:ext cx="2072362" cy="720000"/>
      </dsp:txXfrm>
    </dsp:sp>
    <dsp:sp modelId="{803518AA-317C-40E0-A3CB-295926944D69}">
      <dsp:nvSpPr>
        <dsp:cNvPr id="0" name=""/>
        <dsp:cNvSpPr/>
      </dsp:nvSpPr>
      <dsp:spPr>
        <a:xfrm>
          <a:off x="5843242" y="987327"/>
          <a:ext cx="1264141" cy="1264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76352D-F277-4E58-AEAA-BBA4515E0267}">
      <dsp:nvSpPr>
        <dsp:cNvPr id="0" name=""/>
        <dsp:cNvSpPr/>
      </dsp:nvSpPr>
      <dsp:spPr>
        <a:xfrm>
          <a:off x="6112649" y="1256734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D7310-EE38-43B8-BADF-324EB94E8F60}">
      <dsp:nvSpPr>
        <dsp:cNvPr id="0" name=""/>
        <dsp:cNvSpPr/>
      </dsp:nvSpPr>
      <dsp:spPr>
        <a:xfrm>
          <a:off x="5439131" y="2645217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Scalabel Storage</a:t>
          </a:r>
        </a:p>
      </dsp:txBody>
      <dsp:txXfrm>
        <a:off x="5439131" y="2645217"/>
        <a:ext cx="2072362" cy="720000"/>
      </dsp:txXfrm>
    </dsp:sp>
    <dsp:sp modelId="{55E25556-521C-46DD-A64A-46803CAE493A}">
      <dsp:nvSpPr>
        <dsp:cNvPr id="0" name=""/>
        <dsp:cNvSpPr/>
      </dsp:nvSpPr>
      <dsp:spPr>
        <a:xfrm>
          <a:off x="8278268" y="987327"/>
          <a:ext cx="1264141" cy="126414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F5EEA9-790D-4FCB-AB36-31D78C9EA69F}">
      <dsp:nvSpPr>
        <dsp:cNvPr id="0" name=""/>
        <dsp:cNvSpPr/>
      </dsp:nvSpPr>
      <dsp:spPr>
        <a:xfrm>
          <a:off x="8547675" y="1256734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309C66-2125-49C4-BE13-F140C4DFA171}">
      <dsp:nvSpPr>
        <dsp:cNvPr id="0" name=""/>
        <dsp:cNvSpPr/>
      </dsp:nvSpPr>
      <dsp:spPr>
        <a:xfrm>
          <a:off x="7874157" y="2645217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Low Cost</a:t>
          </a:r>
        </a:p>
      </dsp:txBody>
      <dsp:txXfrm>
        <a:off x="7874157" y="2645217"/>
        <a:ext cx="207236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7EAF7-E394-F241-8E26-1395E9FBDAC1}">
      <dsp:nvSpPr>
        <dsp:cNvPr id="0" name=""/>
        <dsp:cNvSpPr/>
      </dsp:nvSpPr>
      <dsp:spPr>
        <a:xfrm>
          <a:off x="0" y="0"/>
          <a:ext cx="3727804" cy="7423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Subject- oriented</a:t>
          </a:r>
        </a:p>
      </dsp:txBody>
      <dsp:txXfrm>
        <a:off x="21742" y="21742"/>
        <a:ext cx="2864068" cy="698826"/>
      </dsp:txXfrm>
    </dsp:sp>
    <dsp:sp modelId="{FB1C9BD0-BDB6-1D40-8BEC-25ED3FD8A14B}">
      <dsp:nvSpPr>
        <dsp:cNvPr id="0" name=""/>
        <dsp:cNvSpPr/>
      </dsp:nvSpPr>
      <dsp:spPr>
        <a:xfrm>
          <a:off x="312203" y="877275"/>
          <a:ext cx="3727804" cy="7423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Integrated </a:t>
          </a:r>
        </a:p>
      </dsp:txBody>
      <dsp:txXfrm>
        <a:off x="333945" y="899017"/>
        <a:ext cx="2889615" cy="698826"/>
      </dsp:txXfrm>
    </dsp:sp>
    <dsp:sp modelId="{6EA57474-346A-1140-BC81-54E96AA1652C}">
      <dsp:nvSpPr>
        <dsp:cNvPr id="0" name=""/>
        <dsp:cNvSpPr/>
      </dsp:nvSpPr>
      <dsp:spPr>
        <a:xfrm>
          <a:off x="619747" y="1754551"/>
          <a:ext cx="3727804" cy="7423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Time Variant </a:t>
          </a:r>
        </a:p>
      </dsp:txBody>
      <dsp:txXfrm>
        <a:off x="641489" y="1776293"/>
        <a:ext cx="2894275" cy="698826"/>
      </dsp:txXfrm>
    </dsp:sp>
    <dsp:sp modelId="{1464C56F-353B-4644-B837-0C71376A8F16}">
      <dsp:nvSpPr>
        <dsp:cNvPr id="0" name=""/>
        <dsp:cNvSpPr/>
      </dsp:nvSpPr>
      <dsp:spPr>
        <a:xfrm>
          <a:off x="931951" y="2631826"/>
          <a:ext cx="3727804" cy="7423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Non-Volatile</a:t>
          </a:r>
        </a:p>
      </dsp:txBody>
      <dsp:txXfrm>
        <a:off x="953693" y="2653568"/>
        <a:ext cx="2889615" cy="698826"/>
      </dsp:txXfrm>
    </dsp:sp>
    <dsp:sp modelId="{9907CE5C-E2B6-D349-B383-C78BE7CDA517}">
      <dsp:nvSpPr>
        <dsp:cNvPr id="0" name=""/>
        <dsp:cNvSpPr/>
      </dsp:nvSpPr>
      <dsp:spPr>
        <a:xfrm>
          <a:off x="3245303" y="568542"/>
          <a:ext cx="482501" cy="482501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353866" y="568542"/>
        <a:ext cx="265375" cy="363082"/>
      </dsp:txXfrm>
    </dsp:sp>
    <dsp:sp modelId="{62FC86FF-72C2-1F47-B5A1-82D2D2444DAB}">
      <dsp:nvSpPr>
        <dsp:cNvPr id="0" name=""/>
        <dsp:cNvSpPr/>
      </dsp:nvSpPr>
      <dsp:spPr>
        <a:xfrm>
          <a:off x="3557506" y="1445817"/>
          <a:ext cx="482501" cy="482501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666069" y="1445817"/>
        <a:ext cx="265375" cy="363082"/>
      </dsp:txXfrm>
    </dsp:sp>
    <dsp:sp modelId="{9DF216B4-A1B6-5941-AC3F-D2A6D372C366}">
      <dsp:nvSpPr>
        <dsp:cNvPr id="0" name=""/>
        <dsp:cNvSpPr/>
      </dsp:nvSpPr>
      <dsp:spPr>
        <a:xfrm>
          <a:off x="3865050" y="2323093"/>
          <a:ext cx="482501" cy="482501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3973613" y="2323093"/>
        <a:ext cx="265375" cy="3630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F1A3A8-E7F0-CD45-8704-14D51BC36A0B}">
      <dsp:nvSpPr>
        <dsp:cNvPr id="0" name=""/>
        <dsp:cNvSpPr/>
      </dsp:nvSpPr>
      <dsp:spPr>
        <a:xfrm>
          <a:off x="3249" y="651360"/>
          <a:ext cx="2578149" cy="15468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Managing and storing massive quantities of NYC Yellow Taxi trip data efficiently.</a:t>
          </a:r>
        </a:p>
      </dsp:txBody>
      <dsp:txXfrm>
        <a:off x="3249" y="651360"/>
        <a:ext cx="2578149" cy="1546889"/>
      </dsp:txXfrm>
    </dsp:sp>
    <dsp:sp modelId="{FBA1461B-4AF9-0B47-9F06-91783E35A1D3}">
      <dsp:nvSpPr>
        <dsp:cNvPr id="0" name=""/>
        <dsp:cNvSpPr/>
      </dsp:nvSpPr>
      <dsp:spPr>
        <a:xfrm>
          <a:off x="2839214" y="651360"/>
          <a:ext cx="2578149" cy="154688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Using cloud platforms to process vast amounts of structured taxi data in real time.</a:t>
          </a:r>
        </a:p>
      </dsp:txBody>
      <dsp:txXfrm>
        <a:off x="2839214" y="651360"/>
        <a:ext cx="2578149" cy="1546889"/>
      </dsp:txXfrm>
    </dsp:sp>
    <dsp:sp modelId="{9383FAB5-2215-414C-A393-F9FCED4DCE3C}">
      <dsp:nvSpPr>
        <dsp:cNvPr id="0" name=""/>
        <dsp:cNvSpPr/>
      </dsp:nvSpPr>
      <dsp:spPr>
        <a:xfrm>
          <a:off x="5675178" y="651360"/>
          <a:ext cx="2578149" cy="15468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Addressing scalability concerns with traditional database systems</a:t>
          </a:r>
        </a:p>
      </dsp:txBody>
      <dsp:txXfrm>
        <a:off x="5675178" y="651360"/>
        <a:ext cx="2578149" cy="1546889"/>
      </dsp:txXfrm>
    </dsp:sp>
    <dsp:sp modelId="{72232541-4903-9549-A516-2B485A62A1A9}">
      <dsp:nvSpPr>
        <dsp:cNvPr id="0" name=""/>
        <dsp:cNvSpPr/>
      </dsp:nvSpPr>
      <dsp:spPr>
        <a:xfrm>
          <a:off x="8511143" y="651360"/>
          <a:ext cx="2578149" cy="1546889"/>
        </a:xfrm>
        <a:prstGeom prst="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Comparison of Data Lakes and Data Warehouses for Taxi Analytics</a:t>
          </a:r>
        </a:p>
      </dsp:txBody>
      <dsp:txXfrm>
        <a:off x="8511143" y="651360"/>
        <a:ext cx="2578149" cy="1546889"/>
      </dsp:txXfrm>
    </dsp:sp>
    <dsp:sp modelId="{82029267-CF80-9447-A06A-91B74AA31B2A}">
      <dsp:nvSpPr>
        <dsp:cNvPr id="0" name=""/>
        <dsp:cNvSpPr/>
      </dsp:nvSpPr>
      <dsp:spPr>
        <a:xfrm>
          <a:off x="3249" y="2456065"/>
          <a:ext cx="2578149" cy="154688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Reducing storage and processing costs for large data workloads</a:t>
          </a:r>
        </a:p>
      </dsp:txBody>
      <dsp:txXfrm>
        <a:off x="3249" y="2456065"/>
        <a:ext cx="2578149" cy="1546889"/>
      </dsp:txXfrm>
    </dsp:sp>
    <dsp:sp modelId="{C153C8AB-0A15-7D41-8712-5EAE27225821}">
      <dsp:nvSpPr>
        <dsp:cNvPr id="0" name=""/>
        <dsp:cNvSpPr/>
      </dsp:nvSpPr>
      <dsp:spPr>
        <a:xfrm>
          <a:off x="2839214" y="2456065"/>
          <a:ext cx="2578149" cy="15468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Providing rapid analytical queries for fare, location, and trip analysis.</a:t>
          </a:r>
        </a:p>
      </dsp:txBody>
      <dsp:txXfrm>
        <a:off x="2839214" y="2456065"/>
        <a:ext cx="2578149" cy="1546889"/>
      </dsp:txXfrm>
    </dsp:sp>
    <dsp:sp modelId="{8D8D7F7B-4D96-5D41-A578-0C4BA5997266}">
      <dsp:nvSpPr>
        <dsp:cNvPr id="0" name=""/>
        <dsp:cNvSpPr/>
      </dsp:nvSpPr>
      <dsp:spPr>
        <a:xfrm>
          <a:off x="5675178" y="2456065"/>
          <a:ext cx="2578149" cy="154688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Ensure efficient integration of temporal, geographical, and fare-related taxi data.</a:t>
          </a:r>
        </a:p>
      </dsp:txBody>
      <dsp:txXfrm>
        <a:off x="5675178" y="2456065"/>
        <a:ext cx="2578149" cy="1546889"/>
      </dsp:txXfrm>
    </dsp:sp>
    <dsp:sp modelId="{FD1D05FA-53A5-3545-AD0C-0731AF4035CB}">
      <dsp:nvSpPr>
        <dsp:cNvPr id="0" name=""/>
        <dsp:cNvSpPr/>
      </dsp:nvSpPr>
      <dsp:spPr>
        <a:xfrm>
          <a:off x="8511143" y="2456065"/>
          <a:ext cx="2578149" cy="15468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Improving decision-making with cloud-based big data architectures.</a:t>
          </a:r>
        </a:p>
      </dsp:txBody>
      <dsp:txXfrm>
        <a:off x="8511143" y="2456065"/>
        <a:ext cx="2578149" cy="15468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4EBBB3-4E06-483D-A019-3C86D0BF640A}">
      <dsp:nvSpPr>
        <dsp:cNvPr id="0" name=""/>
        <dsp:cNvSpPr/>
      </dsp:nvSpPr>
      <dsp:spPr>
        <a:xfrm>
          <a:off x="0" y="1407"/>
          <a:ext cx="10515600" cy="599796"/>
        </a:xfrm>
        <a:prstGeom prst="roundRect">
          <a:avLst>
            <a:gd name="adj" fmla="val 10000"/>
          </a:avLst>
        </a:prstGeom>
        <a:solidFill>
          <a:schemeClr val="accent4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E6FD862-9FBA-497E-A4E5-005C321D79D1}">
      <dsp:nvSpPr>
        <dsp:cNvPr id="0" name=""/>
        <dsp:cNvSpPr/>
      </dsp:nvSpPr>
      <dsp:spPr>
        <a:xfrm>
          <a:off x="181438" y="136361"/>
          <a:ext cx="329887" cy="329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F59295-0F9A-402E-9FD6-4506DAE2F3FF}">
      <dsp:nvSpPr>
        <dsp:cNvPr id="0" name=""/>
        <dsp:cNvSpPr/>
      </dsp:nvSpPr>
      <dsp:spPr>
        <a:xfrm>
          <a:off x="692764" y="1407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Collect the NYC Yellow Taxi dataset, which includes journey, fare, time, and geographic information.</a:t>
          </a:r>
        </a:p>
      </dsp:txBody>
      <dsp:txXfrm>
        <a:off x="692764" y="1407"/>
        <a:ext cx="9822835" cy="599796"/>
      </dsp:txXfrm>
    </dsp:sp>
    <dsp:sp modelId="{D76280C5-DD60-4CA6-907D-AC650F3CF21B}">
      <dsp:nvSpPr>
        <dsp:cNvPr id="0" name=""/>
        <dsp:cNvSpPr/>
      </dsp:nvSpPr>
      <dsp:spPr>
        <a:xfrm>
          <a:off x="0" y="751152"/>
          <a:ext cx="10515600" cy="599796"/>
        </a:xfrm>
        <a:prstGeom prst="roundRect">
          <a:avLst>
            <a:gd name="adj" fmla="val 10000"/>
          </a:avLst>
        </a:prstGeom>
        <a:solidFill>
          <a:schemeClr val="accent4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2DC327B-9EE9-44A0-B6E0-5999CBF433C6}">
      <dsp:nvSpPr>
        <dsp:cNvPr id="0" name=""/>
        <dsp:cNvSpPr/>
      </dsp:nvSpPr>
      <dsp:spPr>
        <a:xfrm>
          <a:off x="181438" y="886107"/>
          <a:ext cx="329887" cy="329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6D2E834-E071-42ED-BB58-4AA2E6C8765E}">
      <dsp:nvSpPr>
        <dsp:cNvPr id="0" name=""/>
        <dsp:cNvSpPr/>
      </dsp:nvSpPr>
      <dsp:spPr>
        <a:xfrm>
          <a:off x="692764" y="751152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Store the raw dataset in Google Cloud Storage as a Data Lake. Then, process and transform it for structured analytics.</a:t>
          </a:r>
        </a:p>
      </dsp:txBody>
      <dsp:txXfrm>
        <a:off x="692764" y="751152"/>
        <a:ext cx="9822835" cy="599796"/>
      </dsp:txXfrm>
    </dsp:sp>
    <dsp:sp modelId="{D4DFF23B-34AF-4F3A-8963-8DE21419619A}">
      <dsp:nvSpPr>
        <dsp:cNvPr id="0" name=""/>
        <dsp:cNvSpPr/>
      </dsp:nvSpPr>
      <dsp:spPr>
        <a:xfrm>
          <a:off x="0" y="1500898"/>
          <a:ext cx="10515600" cy="599796"/>
        </a:xfrm>
        <a:prstGeom prst="roundRect">
          <a:avLst>
            <a:gd name="adj" fmla="val 10000"/>
          </a:avLst>
        </a:prstGeom>
        <a:solidFill>
          <a:schemeClr val="accent4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1367998-FC95-4CEC-A5B4-E940466F3BD0}">
      <dsp:nvSpPr>
        <dsp:cNvPr id="0" name=""/>
        <dsp:cNvSpPr/>
      </dsp:nvSpPr>
      <dsp:spPr>
        <a:xfrm>
          <a:off x="181438" y="1635852"/>
          <a:ext cx="329887" cy="329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B4DAF43-3320-432E-AB53-6AAC6429AB31}">
      <dsp:nvSpPr>
        <dsp:cNvPr id="0" name=""/>
        <dsp:cNvSpPr/>
      </dsp:nvSpPr>
      <dsp:spPr>
        <a:xfrm>
          <a:off x="692764" y="1500898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Load processed data to a cloud-based Data Warehouse for querying and reporting.</a:t>
          </a:r>
        </a:p>
      </dsp:txBody>
      <dsp:txXfrm>
        <a:off x="692764" y="1500898"/>
        <a:ext cx="9822835" cy="599796"/>
      </dsp:txXfrm>
    </dsp:sp>
    <dsp:sp modelId="{8AC05AAD-B449-4EDC-9BEC-8DC740A3D299}">
      <dsp:nvSpPr>
        <dsp:cNvPr id="0" name=""/>
        <dsp:cNvSpPr/>
      </dsp:nvSpPr>
      <dsp:spPr>
        <a:xfrm>
          <a:off x="0" y="2250643"/>
          <a:ext cx="10515600" cy="599796"/>
        </a:xfrm>
        <a:prstGeom prst="roundRect">
          <a:avLst>
            <a:gd name="adj" fmla="val 10000"/>
          </a:avLst>
        </a:prstGeom>
        <a:solidFill>
          <a:schemeClr val="accent4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3897C38-5A72-484A-AA45-69BD1A4DC8A6}">
      <dsp:nvSpPr>
        <dsp:cNvPr id="0" name=""/>
        <dsp:cNvSpPr/>
      </dsp:nvSpPr>
      <dsp:spPr>
        <a:xfrm>
          <a:off x="181438" y="2385597"/>
          <a:ext cx="329887" cy="329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B0D8C0-693E-4FAD-A582-40893FCB45FA}">
      <dsp:nvSpPr>
        <dsp:cNvPr id="0" name=""/>
        <dsp:cNvSpPr/>
      </dsp:nvSpPr>
      <dsp:spPr>
        <a:xfrm>
          <a:off x="692764" y="2250643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Conduct analytical queries to investigate journey patterns, tariff trends, and location-based information.</a:t>
          </a:r>
        </a:p>
      </dsp:txBody>
      <dsp:txXfrm>
        <a:off x="692764" y="2250643"/>
        <a:ext cx="9822835" cy="599796"/>
      </dsp:txXfrm>
    </dsp:sp>
    <dsp:sp modelId="{01BE2242-3539-4D9B-9C0B-C372C22AC85B}">
      <dsp:nvSpPr>
        <dsp:cNvPr id="0" name=""/>
        <dsp:cNvSpPr/>
      </dsp:nvSpPr>
      <dsp:spPr>
        <a:xfrm>
          <a:off x="0" y="3000388"/>
          <a:ext cx="10515600" cy="599796"/>
        </a:xfrm>
        <a:prstGeom prst="roundRect">
          <a:avLst>
            <a:gd name="adj" fmla="val 10000"/>
          </a:avLst>
        </a:prstGeom>
        <a:solidFill>
          <a:schemeClr val="accent4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9BEFD67-7253-4BDE-9788-382B88DA0867}">
      <dsp:nvSpPr>
        <dsp:cNvPr id="0" name=""/>
        <dsp:cNvSpPr/>
      </dsp:nvSpPr>
      <dsp:spPr>
        <a:xfrm>
          <a:off x="181438" y="3135342"/>
          <a:ext cx="329887" cy="329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A88F528-3F91-4721-9065-2C9109389A2B}">
      <dsp:nvSpPr>
        <dsp:cNvPr id="0" name=""/>
        <dsp:cNvSpPr/>
      </dsp:nvSpPr>
      <dsp:spPr>
        <a:xfrm>
          <a:off x="692764" y="3000388"/>
          <a:ext cx="9822835" cy="599796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Compare the performance of Data Lake with Data Warehouse based on scalability, storage efficiency, query speed, and cost.</a:t>
          </a:r>
        </a:p>
      </dsp:txBody>
      <dsp:txXfrm>
        <a:off x="692764" y="3000388"/>
        <a:ext cx="9822835" cy="599796"/>
      </dsp:txXfrm>
    </dsp:sp>
    <dsp:sp modelId="{3708E668-76A8-46EA-90F8-24CB36B93A36}">
      <dsp:nvSpPr>
        <dsp:cNvPr id="0" name=""/>
        <dsp:cNvSpPr/>
      </dsp:nvSpPr>
      <dsp:spPr>
        <a:xfrm>
          <a:off x="0" y="3750134"/>
          <a:ext cx="10515600" cy="599796"/>
        </a:xfrm>
        <a:prstGeom prst="roundRect">
          <a:avLst>
            <a:gd name="adj" fmla="val 10000"/>
          </a:avLst>
        </a:prstGeom>
        <a:solidFill>
          <a:schemeClr val="accent4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5AFAF58-CFF6-40B7-B918-3421142864E4}">
      <dsp:nvSpPr>
        <dsp:cNvPr id="0" name=""/>
        <dsp:cNvSpPr/>
      </dsp:nvSpPr>
      <dsp:spPr>
        <a:xfrm>
          <a:off x="181438" y="3885088"/>
          <a:ext cx="329887" cy="3298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A08F02C-5FE1-46D5-9F2F-9AC49DBBFE13}">
      <dsp:nvSpPr>
        <dsp:cNvPr id="0" name=""/>
        <dsp:cNvSpPr/>
      </dsp:nvSpPr>
      <dsp:spPr>
        <a:xfrm>
          <a:off x="692764" y="3750134"/>
          <a:ext cx="9822835" cy="599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478" tIns="63478" rIns="63478" bIns="6347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Assess the applicability of cloud infrastructures for large-scale taxi data analytics.</a:t>
          </a:r>
        </a:p>
      </dsp:txBody>
      <dsp:txXfrm>
        <a:off x="692764" y="3750134"/>
        <a:ext cx="9822835" cy="5997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AAF431-7299-49F3-BA67-A13CD37674A0}">
      <dsp:nvSpPr>
        <dsp:cNvPr id="0" name=""/>
        <dsp:cNvSpPr/>
      </dsp:nvSpPr>
      <dsp:spPr>
        <a:xfrm>
          <a:off x="0" y="4559"/>
          <a:ext cx="5849557" cy="707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32B8BB-0D58-4D9C-B48C-83E701B02F01}">
      <dsp:nvSpPr>
        <dsp:cNvPr id="0" name=""/>
        <dsp:cNvSpPr/>
      </dsp:nvSpPr>
      <dsp:spPr>
        <a:xfrm>
          <a:off x="213985" y="163721"/>
          <a:ext cx="389444" cy="3890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86E21E-34F1-4008-8818-578CA476C5A3}">
      <dsp:nvSpPr>
        <dsp:cNvPr id="0" name=""/>
        <dsp:cNvSpPr/>
      </dsp:nvSpPr>
      <dsp:spPr>
        <a:xfrm>
          <a:off x="817415" y="4559"/>
          <a:ext cx="4995212" cy="773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884" tIns="81884" rIns="81884" bIns="8188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Large-scale, unstructured data management is constrained by data warehouses.</a:t>
          </a:r>
        </a:p>
      </dsp:txBody>
      <dsp:txXfrm>
        <a:off x="817415" y="4559"/>
        <a:ext cx="4995212" cy="773707"/>
      </dsp:txXfrm>
    </dsp:sp>
    <dsp:sp modelId="{EE17ABA0-A5A6-45C0-B684-21EE9DD59129}">
      <dsp:nvSpPr>
        <dsp:cNvPr id="0" name=""/>
        <dsp:cNvSpPr/>
      </dsp:nvSpPr>
      <dsp:spPr>
        <a:xfrm>
          <a:off x="0" y="971694"/>
          <a:ext cx="5849557" cy="707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BFD764-FA80-42A0-A57F-0F9F34D20C4C}">
      <dsp:nvSpPr>
        <dsp:cNvPr id="0" name=""/>
        <dsp:cNvSpPr/>
      </dsp:nvSpPr>
      <dsp:spPr>
        <a:xfrm>
          <a:off x="213985" y="1130856"/>
          <a:ext cx="389444" cy="3890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EE1D4D-0D0F-4EA4-823C-FC1654E1CB65}">
      <dsp:nvSpPr>
        <dsp:cNvPr id="0" name=""/>
        <dsp:cNvSpPr/>
      </dsp:nvSpPr>
      <dsp:spPr>
        <a:xfrm>
          <a:off x="817415" y="971694"/>
          <a:ext cx="4995212" cy="773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884" tIns="81884" rIns="81884" bIns="8188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Big data and machine learning can benefit from Data Lake (James Dixon), which uses schema-on-read to store structured, semi-structured, and unstructured data.</a:t>
          </a:r>
        </a:p>
      </dsp:txBody>
      <dsp:txXfrm>
        <a:off x="817415" y="971694"/>
        <a:ext cx="4995212" cy="773707"/>
      </dsp:txXfrm>
    </dsp:sp>
    <dsp:sp modelId="{55CF2454-C7FD-460A-9613-BE0C24E57D4E}">
      <dsp:nvSpPr>
        <dsp:cNvPr id="0" name=""/>
        <dsp:cNvSpPr/>
      </dsp:nvSpPr>
      <dsp:spPr>
        <a:xfrm>
          <a:off x="0" y="1938829"/>
          <a:ext cx="5849557" cy="707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5E4579-D91E-4C63-834D-1A9D9FFEFF5F}">
      <dsp:nvSpPr>
        <dsp:cNvPr id="0" name=""/>
        <dsp:cNvSpPr/>
      </dsp:nvSpPr>
      <dsp:spPr>
        <a:xfrm>
          <a:off x="213985" y="2097991"/>
          <a:ext cx="389444" cy="3890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A184B1-13F0-4E3A-B0C3-2CC3F670F23D}">
      <dsp:nvSpPr>
        <dsp:cNvPr id="0" name=""/>
        <dsp:cNvSpPr/>
      </dsp:nvSpPr>
      <dsp:spPr>
        <a:xfrm>
          <a:off x="817415" y="1938829"/>
          <a:ext cx="4995212" cy="773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884" tIns="81884" rIns="81884" bIns="8188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 structured system for BI and reporting, Data Warehouse (Inmon &amp; Kimball) uses schema-on-write to guarantee good data quality and quick query speed.</a:t>
          </a:r>
        </a:p>
      </dsp:txBody>
      <dsp:txXfrm>
        <a:off x="817415" y="1938829"/>
        <a:ext cx="4995212" cy="773707"/>
      </dsp:txXfrm>
    </dsp:sp>
    <dsp:sp modelId="{AC31CA8A-11F0-4C81-8564-694E7F7A7926}">
      <dsp:nvSpPr>
        <dsp:cNvPr id="0" name=""/>
        <dsp:cNvSpPr/>
      </dsp:nvSpPr>
      <dsp:spPr>
        <a:xfrm>
          <a:off x="0" y="2905963"/>
          <a:ext cx="5849557" cy="707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601047-1748-4B1F-B2F7-A41A455A322D}">
      <dsp:nvSpPr>
        <dsp:cNvPr id="0" name=""/>
        <dsp:cNvSpPr/>
      </dsp:nvSpPr>
      <dsp:spPr>
        <a:xfrm>
          <a:off x="213985" y="3065126"/>
          <a:ext cx="389444" cy="3890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DCCD5C-D32C-4E5B-8DF6-E99D881F0284}">
      <dsp:nvSpPr>
        <dsp:cNvPr id="0" name=""/>
        <dsp:cNvSpPr/>
      </dsp:nvSpPr>
      <dsp:spPr>
        <a:xfrm>
          <a:off x="817415" y="2905963"/>
          <a:ext cx="4995212" cy="773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884" tIns="81884" rIns="81884" bIns="8188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Cloud services like Google Cloud, Microsoft Azure, and Amazon Web Services save costs and increase scalability.</a:t>
          </a:r>
        </a:p>
      </dsp:txBody>
      <dsp:txXfrm>
        <a:off x="817415" y="2905963"/>
        <a:ext cx="4995212" cy="773707"/>
      </dsp:txXfrm>
    </dsp:sp>
    <dsp:sp modelId="{D2F2F983-AE9F-44EA-B254-2D7FE1E8B3DD}">
      <dsp:nvSpPr>
        <dsp:cNvPr id="0" name=""/>
        <dsp:cNvSpPr/>
      </dsp:nvSpPr>
      <dsp:spPr>
        <a:xfrm>
          <a:off x="0" y="3873098"/>
          <a:ext cx="5849557" cy="707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8FDFE2-57AB-490C-82FB-15A28A81AA16}">
      <dsp:nvSpPr>
        <dsp:cNvPr id="0" name=""/>
        <dsp:cNvSpPr/>
      </dsp:nvSpPr>
      <dsp:spPr>
        <a:xfrm>
          <a:off x="213985" y="4032261"/>
          <a:ext cx="389444" cy="3890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120E0C-A953-4B93-B235-2CB08B077835}">
      <dsp:nvSpPr>
        <dsp:cNvPr id="0" name=""/>
        <dsp:cNvSpPr/>
      </dsp:nvSpPr>
      <dsp:spPr>
        <a:xfrm>
          <a:off x="817415" y="3873098"/>
          <a:ext cx="4995212" cy="773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884" tIns="81884" rIns="81884" bIns="8188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 this project, we analysed the NYC Yellow Taxi dataset using SQL ,Google Cloud, BigQuery and Google Colab.</a:t>
          </a:r>
        </a:p>
      </dsp:txBody>
      <dsp:txXfrm>
        <a:off x="817415" y="3873098"/>
        <a:ext cx="4995212" cy="773707"/>
      </dsp:txXfrm>
    </dsp:sp>
    <dsp:sp modelId="{AD949764-794B-4C54-8978-1F679D2589EF}">
      <dsp:nvSpPr>
        <dsp:cNvPr id="0" name=""/>
        <dsp:cNvSpPr/>
      </dsp:nvSpPr>
      <dsp:spPr>
        <a:xfrm>
          <a:off x="0" y="4840233"/>
          <a:ext cx="5849557" cy="7073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C5F480-A32B-47C7-849B-5C59A443B4E6}">
      <dsp:nvSpPr>
        <dsp:cNvPr id="0" name=""/>
        <dsp:cNvSpPr/>
      </dsp:nvSpPr>
      <dsp:spPr>
        <a:xfrm>
          <a:off x="213985" y="4999396"/>
          <a:ext cx="389444" cy="3890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B453FD-D731-4EFA-8A4B-5A5411887C9C}">
      <dsp:nvSpPr>
        <dsp:cNvPr id="0" name=""/>
        <dsp:cNvSpPr/>
      </dsp:nvSpPr>
      <dsp:spPr>
        <a:xfrm>
          <a:off x="817415" y="4840233"/>
          <a:ext cx="4995212" cy="7737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884" tIns="81884" rIns="81884" bIns="8188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 move toward hybrid Lakehouse architecture that combines both strategies is suggested by recent studies.</a:t>
          </a:r>
        </a:p>
      </dsp:txBody>
      <dsp:txXfrm>
        <a:off x="817415" y="4840233"/>
        <a:ext cx="4995212" cy="77370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8678B1-1B7A-C846-8A8D-41C1231139CD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9056E8-E5E0-E749-A726-89E312D9277C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BigQuery has built-in visualisation tools</a:t>
          </a:r>
        </a:p>
      </dsp:txBody>
      <dsp:txXfrm>
        <a:off x="0" y="675"/>
        <a:ext cx="6900512" cy="1106957"/>
      </dsp:txXfrm>
    </dsp:sp>
    <dsp:sp modelId="{F69E88E9-C1F4-3A45-B556-4A480BF089F1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BBFECD-F8E0-5544-88ED-356C07ECFE28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Charts generated directly from query results</a:t>
          </a:r>
        </a:p>
      </dsp:txBody>
      <dsp:txXfrm>
        <a:off x="0" y="1107633"/>
        <a:ext cx="6900512" cy="1106957"/>
      </dsp:txXfrm>
    </dsp:sp>
    <dsp:sp modelId="{611E5F42-0719-C442-9EAC-0754AE801F45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1603F0-1E4C-D740-A280-1B5CE051EF7F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No additional software needed</a:t>
          </a:r>
        </a:p>
      </dsp:txBody>
      <dsp:txXfrm>
        <a:off x="0" y="2214591"/>
        <a:ext cx="6900512" cy="1106957"/>
      </dsp:txXfrm>
    </dsp:sp>
    <dsp:sp modelId="{0859976A-E955-8F45-9028-CCA34644B9C4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AEE8C-4DD8-654A-9640-EFC3384C1529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Instant visual insights from structured data</a:t>
          </a:r>
        </a:p>
      </dsp:txBody>
      <dsp:txXfrm>
        <a:off x="0" y="3321549"/>
        <a:ext cx="6900512" cy="1106957"/>
      </dsp:txXfrm>
    </dsp:sp>
    <dsp:sp modelId="{D1B4DF0D-F676-B54F-B019-AC50C7B746C1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899A5D-B843-DD45-8E9E-0445AF714A25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Same data can be exported to Looker Studio for advanced dashboards</a:t>
          </a:r>
        </a:p>
      </dsp:txBody>
      <dsp:txXfrm>
        <a:off x="0" y="4428507"/>
        <a:ext cx="6900512" cy="1106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2BE543-1376-4457-A606-1C5CA2BE087D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D29F38-8CBF-41DA-8EB7-72C850691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247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DBC44-5B4A-7E47-8609-B65514A524B0}" type="slidenum">
              <a:rPr lang="en-NP" smtClean="0"/>
              <a:t>2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990992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  <a:p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DBC44-5B4A-7E47-8609-B65514A524B0}" type="slidenum">
              <a:rPr lang="en-NP" smtClean="0"/>
              <a:t>3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517580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DBC44-5B4A-7E47-8609-B65514A524B0}" type="slidenum">
              <a:rPr lang="en-NP" smtClean="0"/>
              <a:t>5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142049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DBC44-5B4A-7E47-8609-B65514A524B0}" type="slidenum">
              <a:rPr lang="en-NP" smtClean="0"/>
              <a:t>6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87751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Sajan Bhattarai(260071929)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74473F-9639-41F1-88DC-537E8536934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71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74473F-9639-41F1-88DC-537E8536934A}" type="slidenum">
              <a:rPr lang="en-US" smtClean="0"/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Sajan Bhattarai(260071929)</a:t>
            </a:r>
          </a:p>
        </p:txBody>
      </p:sp>
    </p:spTree>
    <p:extLst>
      <p:ext uri="{BB962C8B-B14F-4D97-AF65-F5344CB8AC3E}">
        <p14:creationId xmlns:p14="http://schemas.microsoft.com/office/powerpoint/2010/main" val="956363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74473F-9639-41F1-88DC-537E8536934A}" type="slidenum">
              <a:rPr lang="en-US" smtClean="0"/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Sajan Bhattarai(260071929)</a:t>
            </a:r>
          </a:p>
        </p:txBody>
      </p:sp>
    </p:spTree>
    <p:extLst>
      <p:ext uri="{BB962C8B-B14F-4D97-AF65-F5344CB8AC3E}">
        <p14:creationId xmlns:p14="http://schemas.microsoft.com/office/powerpoint/2010/main" val="2486637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B08DA4-8101-2448-85DA-F031D66E3B5F}" type="slidenum">
              <a:rPr lang="x-none" smtClean="0"/>
              <a:t>30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064158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08DA4-8101-2448-85DA-F031D66E3B5F}" type="slidenum">
              <a:rPr lang="x-none" smtClean="0"/>
              <a:t>40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24391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6851A-EABB-4AF9-AA81-0CA1AC3ABDE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DCF9-C634-4035-8688-B9AFE745D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699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6851A-EABB-4AF9-AA81-0CA1AC3ABDE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DCF9-C634-4035-8688-B9AFE745D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30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6851A-EABB-4AF9-AA81-0CA1AC3ABDE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DCF9-C634-4035-8688-B9AFE745D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7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6851A-EABB-4AF9-AA81-0CA1AC3ABDE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DCF9-C634-4035-8688-B9AFE745D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710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6851A-EABB-4AF9-AA81-0CA1AC3ABDE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DCF9-C634-4035-8688-B9AFE745D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857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6851A-EABB-4AF9-AA81-0CA1AC3ABDE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DCF9-C634-4035-8688-B9AFE745D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149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6851A-EABB-4AF9-AA81-0CA1AC3ABDE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DCF9-C634-4035-8688-B9AFE745D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229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6851A-EABB-4AF9-AA81-0CA1AC3ABDE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DCF9-C634-4035-8688-B9AFE745D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594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6851A-EABB-4AF9-AA81-0CA1AC3ABDE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DCF9-C634-4035-8688-B9AFE745D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946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6851A-EABB-4AF9-AA81-0CA1AC3ABDE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DCF9-C634-4035-8688-B9AFE745D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076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6851A-EABB-4AF9-AA81-0CA1AC3ABDE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DCF9-C634-4035-8688-B9AFE745D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16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6851A-EABB-4AF9-AA81-0CA1AC3ABDE0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37DCF9-C634-4035-8688-B9AFE745D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3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0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jpeg"/><Relationship Id="rId3" Type="http://schemas.openxmlformats.org/officeDocument/2006/relationships/image" Target="../media/image74.png"/><Relationship Id="rId7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biglake/docs" TargetMode="External"/><Relationship Id="rId7" Type="http://schemas.openxmlformats.org/officeDocument/2006/relationships/hyperlink" Target="https://cloud.google.com/bigquery/pricing?utm_source=chatgpt.com" TargetMode="External"/><Relationship Id="rId2" Type="http://schemas.openxmlformats.org/officeDocument/2006/relationships/hyperlink" Target="https://jamesdixon.wordpress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loud.google.com/storage/pricing?utm_source=chatgpt.com" TargetMode="External"/><Relationship Id="rId5" Type="http://schemas.openxmlformats.org/officeDocument/2006/relationships/hyperlink" Target="https://www.qlik.com/us/data-lake/data-lake-architecture" TargetMode="External"/><Relationship Id="rId4" Type="http://schemas.openxmlformats.org/officeDocument/2006/relationships/hyperlink" Target="https://www.nyc.gov/site/tlc/about/tlc-trip-record-data.page" TargetMode="Externa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4" descr="York St John University Logo">
            <a:extLst>
              <a:ext uri="{FF2B5EF4-FFF2-40B4-BE49-F238E27FC236}">
                <a16:creationId xmlns:a16="http://schemas.microsoft.com/office/drawing/2014/main" id="{24D5954E-C2BA-8732-8BF0-4A107D8B0C3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37394" y="228584"/>
            <a:ext cx="2325587" cy="10398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BCE83BF-6832-F9F4-927F-45911C6104AE}"/>
              </a:ext>
            </a:extLst>
          </p:cNvPr>
          <p:cNvSpPr txBox="1"/>
          <p:nvPr/>
        </p:nvSpPr>
        <p:spPr>
          <a:xfrm>
            <a:off x="327235" y="1582081"/>
            <a:ext cx="8650385" cy="10451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5449" tIns="27725" rIns="55449" bIns="27725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668" b="1">
                <a:latin typeface="Times New Roman"/>
                <a:cs typeface="Times New Roman"/>
              </a:rPr>
              <a:t>Data Lakes vs. Data Warehouses: Practical Implementation</a:t>
            </a:r>
            <a:endParaRPr lang="en-US" sz="1092"/>
          </a:p>
          <a:p>
            <a:pPr algn="l"/>
            <a:endParaRPr lang="en-GB" sz="1092"/>
          </a:p>
        </p:txBody>
      </p:sp>
      <p:pic>
        <p:nvPicPr>
          <p:cNvPr id="14" name="Picture 1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60FC894-0982-24AD-1301-80BFADE189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12" t="-5333" r="-3480" b="5778"/>
          <a:stretch>
            <a:fillRect/>
          </a:stretch>
        </p:blipFill>
        <p:spPr>
          <a:xfrm>
            <a:off x="8901799" y="4786882"/>
            <a:ext cx="2529593" cy="13168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B1C4A4-A0E5-3FB8-F22E-E79D3C0BEFD6}"/>
              </a:ext>
            </a:extLst>
          </p:cNvPr>
          <p:cNvSpPr txBox="1"/>
          <p:nvPr/>
        </p:nvSpPr>
        <p:spPr>
          <a:xfrm>
            <a:off x="326248" y="2900160"/>
            <a:ext cx="8076669" cy="6530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5449" tIns="27725" rIns="55449" bIns="27725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940" b="1">
                <a:latin typeface="30"/>
              </a:rPr>
              <a:t>LDS7005M: </a:t>
            </a:r>
            <a:r>
              <a:rPr lang="en-GB" sz="1940" b="1">
                <a:highlight>
                  <a:srgbClr val="FFFFFF"/>
                </a:highlight>
                <a:latin typeface="30"/>
                <a:ea typeface="Roboto"/>
                <a:cs typeface="Roboto"/>
              </a:rPr>
              <a:t>Big Data and Cloud Computing</a:t>
            </a:r>
            <a:endParaRPr lang="en-US" sz="1940" b="1">
              <a:latin typeface="30"/>
            </a:endParaRPr>
          </a:p>
          <a:p>
            <a:endParaRPr lang="en-GB" sz="194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751A54-0B68-9C1E-2470-35EF8518D815}"/>
              </a:ext>
            </a:extLst>
          </p:cNvPr>
          <p:cNvSpPr txBox="1"/>
          <p:nvPr/>
        </p:nvSpPr>
        <p:spPr>
          <a:xfrm>
            <a:off x="323123" y="3381237"/>
            <a:ext cx="4041833" cy="354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5449" tIns="27725" rIns="55449" bIns="27725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940" b="1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Seminar Lead: Dr Gayathri Karthick</a:t>
            </a:r>
            <a:endParaRPr lang="en-US" sz="1940" b="1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177457-4CB6-C4DB-E66A-8AE8C9D0D764}"/>
              </a:ext>
            </a:extLst>
          </p:cNvPr>
          <p:cNvSpPr txBox="1"/>
          <p:nvPr/>
        </p:nvSpPr>
        <p:spPr>
          <a:xfrm>
            <a:off x="328587" y="3909546"/>
            <a:ext cx="2961616" cy="9516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5449" tIns="27725" rIns="55449" bIns="27725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55" b="1">
                <a:latin typeface="Calibri"/>
                <a:ea typeface="Calibri"/>
                <a:cs typeface="Calibri"/>
              </a:rPr>
              <a:t>12th May 2026 (Tuesday)</a:t>
            </a:r>
          </a:p>
          <a:p>
            <a:r>
              <a:rPr lang="en-GB" sz="1455" b="1">
                <a:latin typeface="Calibri"/>
                <a:ea typeface="Calibri"/>
                <a:cs typeface="Calibri"/>
              </a:rPr>
              <a:t>11:00-11:30 AM</a:t>
            </a:r>
          </a:p>
          <a:p>
            <a:r>
              <a:rPr lang="en-GB" sz="1455" b="1">
                <a:latin typeface="Calibri"/>
                <a:ea typeface="Calibri"/>
                <a:cs typeface="Calibri"/>
              </a:rPr>
              <a:t>Group No: 03</a:t>
            </a:r>
          </a:p>
          <a:p>
            <a:r>
              <a:rPr lang="en-GB" sz="1455" b="1">
                <a:latin typeface="Calibri"/>
                <a:ea typeface="Calibri"/>
                <a:cs typeface="Calibri"/>
              </a:rPr>
              <a:t>Room No: LX621</a:t>
            </a:r>
            <a:endParaRPr lang="en-GB" sz="1092" b="1">
              <a:latin typeface="Calibri"/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79827-8811-9785-4783-BACB269CB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01D0F-0AB0-0A04-FD8B-24791870A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526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Mobile device with apps">
            <a:extLst>
              <a:ext uri="{FF2B5EF4-FFF2-40B4-BE49-F238E27FC236}">
                <a16:creationId xmlns:a16="http://schemas.microsoft.com/office/drawing/2014/main" id="{342EA382-FB88-10D6-1AF7-11BBF99DF0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98" r="8027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B3ECD9-3916-FB79-336A-76F8ABFDB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2514" y="1"/>
            <a:ext cx="5977771" cy="12931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A4D588-ECED-E79A-DEBB-84C5E6324CA9}"/>
              </a:ext>
            </a:extLst>
          </p:cNvPr>
          <p:cNvSpPr txBox="1"/>
          <p:nvPr/>
        </p:nvSpPr>
        <p:spPr>
          <a:xfrm>
            <a:off x="5718629" y="1045030"/>
            <a:ext cx="5644028" cy="3352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Organization today generates a large amount of data from various sources such as :-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Website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Mobile application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Transactions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Social media and so on …..</a:t>
            </a:r>
          </a:p>
          <a:p>
            <a:pPr marL="57150" defTabSz="914400">
              <a:lnSpc>
                <a:spcPct val="90000"/>
              </a:lnSpc>
              <a:spcAft>
                <a:spcPts val="600"/>
              </a:spcAft>
            </a:pP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F92021-BC9D-B2E2-8E16-56C1E9A416C6}"/>
              </a:ext>
            </a:extLst>
          </p:cNvPr>
          <p:cNvSpPr txBox="1"/>
          <p:nvPr/>
        </p:nvSpPr>
        <p:spPr>
          <a:xfrm>
            <a:off x="5410196" y="4143737"/>
            <a:ext cx="63754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NP" sz="2400" dirty="0"/>
              <a:t>To manage and analyze these data efficiently company use specific architecture such as Data warehouse and Data lake.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1479B0-645A-57E4-E40A-19C4BB93F929}"/>
              </a:ext>
            </a:extLst>
          </p:cNvPr>
          <p:cNvSpPr txBox="1"/>
          <p:nvPr/>
        </p:nvSpPr>
        <p:spPr>
          <a:xfrm>
            <a:off x="10104699" y="6551271"/>
            <a:ext cx="1886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sz="1200" dirty="0"/>
              <a:t>Shruti Malla-260028303</a:t>
            </a:r>
          </a:p>
        </p:txBody>
      </p:sp>
    </p:spTree>
    <p:extLst>
      <p:ext uri="{BB962C8B-B14F-4D97-AF65-F5344CB8AC3E}">
        <p14:creationId xmlns:p14="http://schemas.microsoft.com/office/powerpoint/2010/main" val="2021356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611AB9-934C-3227-9240-2EA3D0420C07}"/>
              </a:ext>
            </a:extLst>
          </p:cNvPr>
          <p:cNvSpPr txBox="1"/>
          <p:nvPr/>
        </p:nvSpPr>
        <p:spPr>
          <a:xfrm>
            <a:off x="7576457" y="1128094"/>
            <a:ext cx="4011123" cy="14152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                                           </a:t>
            </a:r>
            <a:r>
              <a: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Lake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3D1E5B-BF17-C874-2E73-4E5F7B388B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24" r="3" b="3"/>
          <a:stretch>
            <a:fillRect/>
          </a:stretch>
        </p:blipFill>
        <p:spPr>
          <a:xfrm>
            <a:off x="765767" y="690791"/>
            <a:ext cx="6028831" cy="54598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2A2B361-C669-E776-40CD-02AB18AB298B}"/>
              </a:ext>
            </a:extLst>
          </p:cNvPr>
          <p:cNvSpPr txBox="1"/>
          <p:nvPr/>
        </p:nvSpPr>
        <p:spPr>
          <a:xfrm>
            <a:off x="7373257" y="2423886"/>
            <a:ext cx="4214323" cy="3718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A data lakes stores all types of data such as structured, semi structured and unstructured. It uses schema-on-read, meaning data is stored in a raw format and structured only when needed. This makes useful for advanced analytics like machine learning.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1D8694-931E-757F-12AB-900DFF5D9612}"/>
              </a:ext>
            </a:extLst>
          </p:cNvPr>
          <p:cNvSpPr txBox="1"/>
          <p:nvPr/>
        </p:nvSpPr>
        <p:spPr>
          <a:xfrm>
            <a:off x="9155575" y="6539696"/>
            <a:ext cx="24320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sz="1200" dirty="0"/>
              <a:t>Shruti Malla-260028303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80102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F0E162-F39C-3474-238D-DC1FC2064E23}"/>
              </a:ext>
            </a:extLst>
          </p:cNvPr>
          <p:cNvSpPr txBox="1"/>
          <p:nvPr/>
        </p:nvSpPr>
        <p:spPr>
          <a:xfrm>
            <a:off x="838200" y="557188"/>
            <a:ext cx="10515600" cy="1133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Defining Features of data lake</a:t>
            </a:r>
          </a:p>
        </p:txBody>
      </p:sp>
      <p:graphicFrame>
        <p:nvGraphicFramePr>
          <p:cNvPr id="19" name="TextBox 4">
            <a:extLst>
              <a:ext uri="{FF2B5EF4-FFF2-40B4-BE49-F238E27FC236}">
                <a16:creationId xmlns:a16="http://schemas.microsoft.com/office/drawing/2014/main" id="{042288F4-74A1-271D-B993-67242155B63C}"/>
              </a:ext>
            </a:extLst>
          </p:cNvPr>
          <p:cNvGraphicFramePr/>
          <p:nvPr/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D210522-4496-8C8B-DB03-A35AF1E2015D}"/>
              </a:ext>
            </a:extLst>
          </p:cNvPr>
          <p:cNvSpPr txBox="1"/>
          <p:nvPr/>
        </p:nvSpPr>
        <p:spPr>
          <a:xfrm>
            <a:off x="9549114" y="6300812"/>
            <a:ext cx="20602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sz="1200" dirty="0"/>
              <a:t>Shruti Malla-260028303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303229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AB7DD-B041-0C0A-17B0-1B347D69A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266218"/>
            <a:ext cx="10109199" cy="7870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                              Data warehouse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DD79D7-7DC8-1DB3-FF2B-ADEECFD38916}"/>
              </a:ext>
            </a:extLst>
          </p:cNvPr>
          <p:cNvSpPr txBox="1"/>
          <p:nvPr/>
        </p:nvSpPr>
        <p:spPr>
          <a:xfrm>
            <a:off x="7199453" y="1398422"/>
            <a:ext cx="3671747" cy="6335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                                                                                “SINGLE SOURCE OF TRUTH”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C67EE0-4C66-6194-592E-B5D117E7042A}"/>
              </a:ext>
            </a:extLst>
          </p:cNvPr>
          <p:cNvSpPr txBox="1"/>
          <p:nvPr/>
        </p:nvSpPr>
        <p:spPr>
          <a:xfrm>
            <a:off x="277792" y="1743551"/>
            <a:ext cx="4595149" cy="3514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7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						</a:t>
            </a:r>
            <a:endParaRPr lang="en-US" sz="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8C2A4A-2DEB-4CA7-D5B7-42BC53601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5" y="1398422"/>
            <a:ext cx="6820397" cy="5089463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1805C7A-2C4F-BC79-F8D9-5B698964AA74}"/>
              </a:ext>
            </a:extLst>
          </p:cNvPr>
          <p:cNvSpPr txBox="1"/>
          <p:nvPr/>
        </p:nvSpPr>
        <p:spPr>
          <a:xfrm>
            <a:off x="7098189" y="2032000"/>
            <a:ext cx="481601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sz="2400" dirty="0"/>
              <a:t>It is the place where companies stores a valuable data such as 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Sales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Customer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P" sz="2400" dirty="0"/>
              <a:t>Employee data </a:t>
            </a:r>
          </a:p>
          <a:p>
            <a:r>
              <a:rPr lang="en-NP" sz="2400" dirty="0"/>
              <a:t>It can be created and use primarily for data reporting and analysis purposes.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E9BD79-E9CC-C613-49FA-15340B5413FE}"/>
              </a:ext>
            </a:extLst>
          </p:cNvPr>
          <p:cNvSpPr txBox="1"/>
          <p:nvPr/>
        </p:nvSpPr>
        <p:spPr>
          <a:xfrm>
            <a:off x="8843058" y="6204030"/>
            <a:ext cx="2028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sz="1200" dirty="0"/>
              <a:t>Shruti Malla-260028303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8874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oxes On Rack In Warehouse">
            <a:extLst>
              <a:ext uri="{FF2B5EF4-FFF2-40B4-BE49-F238E27FC236}">
                <a16:creationId xmlns:a16="http://schemas.microsoft.com/office/drawing/2014/main" id="{288B1169-3612-E323-7FD9-7B97FB5E08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370" r="20364" b="-1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5D1A9D-B45B-1529-9C38-AB200871E941}"/>
              </a:ext>
            </a:extLst>
          </p:cNvPr>
          <p:cNvSpPr txBox="1"/>
          <p:nvPr/>
        </p:nvSpPr>
        <p:spPr>
          <a:xfrm>
            <a:off x="1" y="328512"/>
            <a:ext cx="5863770" cy="16289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latin typeface="+mj-lt"/>
                <a:ea typeface="+mj-ea"/>
                <a:cs typeface="+mj-cs"/>
              </a:rPr>
              <a:t>Defining Features of data warehouse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8CC3E53-E4BA-C790-AE6B-C6FAB072BC66}"/>
              </a:ext>
            </a:extLst>
          </p:cNvPr>
          <p:cNvGraphicFramePr/>
          <p:nvPr/>
        </p:nvGraphicFramePr>
        <p:xfrm>
          <a:off x="761801" y="2884929"/>
          <a:ext cx="4659756" cy="33741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2F0BFC7-152D-0E45-ECE0-7A8F8B6A49DA}"/>
              </a:ext>
            </a:extLst>
          </p:cNvPr>
          <p:cNvSpPr txBox="1"/>
          <p:nvPr/>
        </p:nvSpPr>
        <p:spPr>
          <a:xfrm>
            <a:off x="3483980" y="6470248"/>
            <a:ext cx="20602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sz="1200" dirty="0"/>
              <a:t>Shruti Malla-260028303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4202417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2A4034-EAEB-7574-ADB1-03CAA98CB1AA}"/>
              </a:ext>
            </a:extLst>
          </p:cNvPr>
          <p:cNvSpPr txBox="1"/>
          <p:nvPr/>
        </p:nvSpPr>
        <p:spPr>
          <a:xfrm>
            <a:off x="261256" y="255247"/>
            <a:ext cx="11092544" cy="1435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 Statement 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2EC0BAAE-1A7D-E308-7DA2-421FC34DB7D5}"/>
              </a:ext>
            </a:extLst>
          </p:cNvPr>
          <p:cNvGraphicFramePr/>
          <p:nvPr/>
        </p:nvGraphicFramePr>
        <p:xfrm>
          <a:off x="261257" y="1509487"/>
          <a:ext cx="11092543" cy="4654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8D66718-6C57-8330-B8FB-E7C670E94EB0}"/>
              </a:ext>
            </a:extLst>
          </p:cNvPr>
          <p:cNvSpPr txBox="1"/>
          <p:nvPr/>
        </p:nvSpPr>
        <p:spPr>
          <a:xfrm>
            <a:off x="9051403" y="6400800"/>
            <a:ext cx="2013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sz="1200" dirty="0"/>
              <a:t>Shruti Malla-260028303</a:t>
            </a:r>
          </a:p>
          <a:p>
            <a:endParaRPr lang="en-NP" sz="1200" dirty="0"/>
          </a:p>
        </p:txBody>
      </p:sp>
    </p:spTree>
    <p:extLst>
      <p:ext uri="{BB962C8B-B14F-4D97-AF65-F5344CB8AC3E}">
        <p14:creationId xmlns:p14="http://schemas.microsoft.com/office/powerpoint/2010/main" val="1431012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ity&#10;&#10;AI-generated content may be incorrect.">
            <a:extLst>
              <a:ext uri="{FF2B5EF4-FFF2-40B4-BE49-F238E27FC236}">
                <a16:creationId xmlns:a16="http://schemas.microsoft.com/office/drawing/2014/main" id="{CBE600EE-0E96-55A5-60F6-ACC6AFB1E02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407" r="9091" b="14985"/>
          <a:stretch>
            <a:fillRect/>
          </a:stretch>
        </p:blipFill>
        <p:spPr>
          <a:xfrm>
            <a:off x="0" y="168355"/>
            <a:ext cx="12191980" cy="68579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301144-0CEC-AC05-B9D6-FE05DB44FBB4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latin typeface="+mj-lt"/>
                <a:ea typeface="+mj-ea"/>
                <a:cs typeface="+mj-cs"/>
              </a:rPr>
              <a:t>Methodology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3F6001F0-7E66-154E-7EEF-F52BF43132C6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9F83A7D-3B47-9AD0-2830-2B0721D26E74}"/>
              </a:ext>
            </a:extLst>
          </p:cNvPr>
          <p:cNvSpPr txBox="1"/>
          <p:nvPr/>
        </p:nvSpPr>
        <p:spPr>
          <a:xfrm>
            <a:off x="9664861" y="6447099"/>
            <a:ext cx="1921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sz="1200" dirty="0"/>
              <a:t>Shruti Malla-260028303</a:t>
            </a:r>
          </a:p>
          <a:p>
            <a:endParaRPr lang="en-NP" sz="1200" dirty="0"/>
          </a:p>
        </p:txBody>
      </p:sp>
    </p:spTree>
    <p:extLst>
      <p:ext uri="{BB962C8B-B14F-4D97-AF65-F5344CB8AC3E}">
        <p14:creationId xmlns:p14="http://schemas.microsoft.com/office/powerpoint/2010/main" val="3692378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CD0C8E-C212-1A44-1B33-C41200317FFA}"/>
              </a:ext>
            </a:extLst>
          </p:cNvPr>
          <p:cNvSpPr txBox="1"/>
          <p:nvPr/>
        </p:nvSpPr>
        <p:spPr>
          <a:xfrm>
            <a:off x="761802" y="858982"/>
            <a:ext cx="3160341" cy="51529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Literature Review</a:t>
            </a:r>
          </a:p>
        </p:txBody>
      </p:sp>
      <p:graphicFrame>
        <p:nvGraphicFramePr>
          <p:cNvPr id="19" name="TextBox 6">
            <a:extLst>
              <a:ext uri="{FF2B5EF4-FFF2-40B4-BE49-F238E27FC236}">
                <a16:creationId xmlns:a16="http://schemas.microsoft.com/office/drawing/2014/main" id="{DCD7EFB3-C51E-E22D-2F2B-3D04CAF2EC89}"/>
              </a:ext>
            </a:extLst>
          </p:cNvPr>
          <p:cNvGraphicFramePr/>
          <p:nvPr/>
        </p:nvGraphicFramePr>
        <p:xfrm>
          <a:off x="5368169" y="601324"/>
          <a:ext cx="5849557" cy="5618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3EFBA68-FBDA-870C-CA43-A33105AEE398}"/>
              </a:ext>
            </a:extLst>
          </p:cNvPr>
          <p:cNvSpPr txBox="1"/>
          <p:nvPr/>
        </p:nvSpPr>
        <p:spPr>
          <a:xfrm>
            <a:off x="9347200" y="6219825"/>
            <a:ext cx="24819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sz="1200" dirty="0"/>
              <a:t>Shruti Malla-260028303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962036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8470" y="1959585"/>
            <a:ext cx="3358547" cy="2645991"/>
          </a:xfrm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>
            <a:noAutofit/>
          </a:bodyPr>
          <a:lstStyle/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diagram shows a data lake architecture where structured, semi-structured, and unstructured data are brought together in centralized storage systems for ETL, analytics, machine learning, reporting, and business intelligence.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44F5A-AFD6-4E54-97AA-FB2BD1FE95BB}" type="slidenum"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265" y="681097"/>
            <a:ext cx="7035453" cy="4575654"/>
          </a:xfrm>
          <a:prstGeom prst="rect">
            <a:avLst/>
          </a:prstGeom>
          <a:ln w="15875">
            <a:solidFill>
              <a:schemeClr val="tx1"/>
            </a:solidFill>
          </a:ln>
          <a:effectLst>
            <a:softEdge rad="0"/>
          </a:effectLst>
        </p:spPr>
      </p:pic>
      <p:sp>
        <p:nvSpPr>
          <p:cNvPr id="7" name="TextBox 6"/>
          <p:cNvSpPr txBox="1"/>
          <p:nvPr/>
        </p:nvSpPr>
        <p:spPr>
          <a:xfrm>
            <a:off x="6982216" y="5502690"/>
            <a:ext cx="3512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Architectural Diagram of Data Lake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94725" y="4964222"/>
            <a:ext cx="1252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Qlik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2026)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Sajan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Bhattarai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(260071929)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469" y="1224978"/>
            <a:ext cx="3358547" cy="461665"/>
          </a:xfrm>
          <a:prstGeom prst="rect">
            <a:avLst/>
          </a:prstGeom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Lake Architecture</a:t>
            </a:r>
          </a:p>
        </p:txBody>
      </p:sp>
    </p:spTree>
    <p:extLst>
      <p:ext uri="{BB962C8B-B14F-4D97-AF65-F5344CB8AC3E}">
        <p14:creationId xmlns:p14="http://schemas.microsoft.com/office/powerpoint/2010/main" val="1345019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Freeform: Shape 33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3C4934-A4E3-B8AF-DC3A-C15DD411F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Warehouse Architecture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99402E-51EF-8346-4FB6-A888BFA0C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658" y="344937"/>
            <a:ext cx="6772869" cy="541196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68309" y="5824840"/>
            <a:ext cx="3833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Architecture Diagram of Data Warehouse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Aashutosh Gupta(260081537)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71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4311" y="581691"/>
            <a:ext cx="8670603" cy="1108024"/>
          </a:xfrm>
        </p:spPr>
        <p:style>
          <a:lnRef idx="0">
            <a:scrgbClr r="0" g="0" b="0"/>
          </a:lnRef>
          <a:fillRef idx="1003">
            <a:schemeClr val="lt2"/>
          </a:fillRef>
          <a:effectRef idx="0">
            <a:scrgbClr r="0" g="0" b="0"/>
          </a:effectRef>
          <a:fontRef idx="major"/>
        </p:style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Overview: 2024 Yellow Taxi Trip Data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NYC Open Data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44F5A-AFD6-4E54-97AA-FB2BD1FE95BB}" type="slidenum">
              <a:rPr lang="en-US" sz="1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14312" y="1871177"/>
          <a:ext cx="1580445" cy="1048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971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Trips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163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Nearly 3 million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001782" y="1899325"/>
          <a:ext cx="1557866" cy="99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7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403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54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6069" y="1907319"/>
          <a:ext cx="1603022" cy="963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3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8849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75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816428" y="1907319"/>
          <a:ext cx="1457003" cy="893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7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9953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 Level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04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614311" y="3176259"/>
          <a:ext cx="4018844" cy="2988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463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6C90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Key </a:t>
                      </a:r>
                      <a:r>
                        <a:rPr lang="en-US" sz="1800" dirty="0">
                          <a:solidFill>
                            <a:srgbClr val="F6C90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Fields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410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05526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05526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🕐  </a:t>
                      </a:r>
                      <a:r>
                        <a:rPr lang="en-US" sz="1200" b="1" dirty="0">
                          <a:solidFill>
                            <a:srgbClr val="05526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Temporal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  Pickup &amp; drop-off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  date and time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 35"/>
          <p:cNvSpPr/>
          <p:nvPr/>
        </p:nvSpPr>
        <p:spPr>
          <a:xfrm>
            <a:off x="1719839" y="4730429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526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📍  Spatial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37"/>
          <p:cNvSpPr/>
          <p:nvPr/>
        </p:nvSpPr>
        <p:spPr>
          <a:xfrm>
            <a:off x="1783873" y="53308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5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</a:t>
            </a:r>
            <a:r>
              <a:rPr lang="en-US" sz="1200" b="1" dirty="0">
                <a:solidFill>
                  <a:srgbClr val="05526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Trip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39"/>
          <p:cNvSpPr/>
          <p:nvPr/>
        </p:nvSpPr>
        <p:spPr>
          <a:xfrm>
            <a:off x="3774875" y="41501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5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</a:t>
            </a:r>
            <a:r>
              <a:rPr lang="en-US" sz="1200" b="1" dirty="0">
                <a:solidFill>
                  <a:srgbClr val="05526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41"/>
          <p:cNvSpPr/>
          <p:nvPr/>
        </p:nvSpPr>
        <p:spPr>
          <a:xfrm>
            <a:off x="3774875" y="51132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5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</a:t>
            </a:r>
            <a:r>
              <a:rPr lang="en-US" sz="1200" b="1" dirty="0">
                <a:solidFill>
                  <a:srgbClr val="05526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Payment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83512" y="4928051"/>
            <a:ext cx="13757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Zone IDs for origin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&amp; destination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719839" y="5527229"/>
            <a:ext cx="9242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Distance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passengers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defRPr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rate code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  <a:p>
            <a:endParaRPr lang="en-US" sz="1100" dirty="0"/>
          </a:p>
        </p:txBody>
      </p:sp>
      <p:sp>
        <p:nvSpPr>
          <p:cNvPr id="21" name="TextBox 20"/>
          <p:cNvSpPr txBox="1"/>
          <p:nvPr/>
        </p:nvSpPr>
        <p:spPr>
          <a:xfrm>
            <a:off x="3692204" y="4421388"/>
            <a:ext cx="10385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fare, surcharges,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MTA tax &amp; tips</a:t>
            </a:r>
            <a:endParaRPr lang="en-US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3730612" y="5326736"/>
            <a:ext cx="77893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Type &amp; total amount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254587" y="3173813"/>
          <a:ext cx="4018844" cy="2988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463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F6C90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Dataset Details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410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 spc="200" dirty="0">
                          <a:solidFill>
                            <a:srgbClr val="0A7E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THIS DATASET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NYC Yellow Taxi Data set consists of structured trip level information related to taxis along with the time, geographical, and fare information of the taxis for large scale analysis.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rgbClr val="33415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rgbClr val="33415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0" spc="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AVAILABLE</a:t>
                      </a:r>
                      <a:r>
                        <a:rPr lang="en-US" sz="1000" b="1" kern="0" spc="2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kern="0" spc="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FORMAT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5" name="Group 24"/>
          <p:cNvGrpSpPr/>
          <p:nvPr/>
        </p:nvGrpSpPr>
        <p:grpSpPr>
          <a:xfrm>
            <a:off x="6332555" y="5583542"/>
            <a:ext cx="590328" cy="256032"/>
            <a:chOff x="6183676" y="4766540"/>
            <a:chExt cx="590328" cy="256032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3500000" scaled="1"/>
            <a:tileRect/>
          </a:gradFill>
        </p:grpSpPr>
        <p:sp>
          <p:nvSpPr>
            <p:cNvPr id="26" name="Shape 54"/>
            <p:cNvSpPr/>
            <p:nvPr/>
          </p:nvSpPr>
          <p:spPr>
            <a:xfrm>
              <a:off x="6225364" y="4766540"/>
              <a:ext cx="548640" cy="256032"/>
            </a:xfrm>
            <a:prstGeom prst="rect">
              <a:avLst/>
            </a:prstGeom>
            <a:grpFill/>
            <a:ln w="12700">
              <a:solidFill>
                <a:srgbClr val="0A7EA4"/>
              </a:solidFill>
              <a:prstDash val="solid"/>
            </a:ln>
          </p:spPr>
          <p:txBody>
            <a:bodyPr/>
            <a:lstStyle/>
            <a:p>
              <a:endParaRPr lang="en-NP"/>
            </a:p>
          </p:txBody>
        </p:sp>
        <p:sp>
          <p:nvSpPr>
            <p:cNvPr id="27" name="Text 55"/>
            <p:cNvSpPr/>
            <p:nvPr/>
          </p:nvSpPr>
          <p:spPr>
            <a:xfrm>
              <a:off x="6183676" y="4766540"/>
              <a:ext cx="548640" cy="25603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PARQUET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1614311" y="6194995"/>
            <a:ext cx="5176929" cy="261610"/>
          </a:xfrm>
          <a:prstGeom prst="rect">
            <a:avLst/>
          </a:prstGeom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Source:https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://d37ci6vzurychx.cloudfront.net/trip-data/yellow_tripdata_2024-01.parquet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20078" y="6446901"/>
            <a:ext cx="4114800" cy="365125"/>
          </a:xfrm>
        </p:spPr>
        <p:txBody>
          <a:bodyPr/>
          <a:lstStyle/>
          <a:p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Sajan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Bhattarai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(260071929)</a:t>
            </a:r>
          </a:p>
        </p:txBody>
      </p:sp>
    </p:spTree>
    <p:extLst>
      <p:ext uri="{BB962C8B-B14F-4D97-AF65-F5344CB8AC3E}">
        <p14:creationId xmlns:p14="http://schemas.microsoft.com/office/powerpoint/2010/main" val="417087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: Shape 66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44345-A07D-D124-C71C-4DA841447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7967" y="2519803"/>
            <a:ext cx="4688032" cy="2960660"/>
          </a:xfrm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managed zero installation needed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millions of rows in seconds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tier 1TB queries free per month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security with IAM roles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directly to Looker Studio</a:t>
            </a:r>
          </a:p>
          <a:p>
            <a:pPr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Scales from gigabytes to petabytes</a:t>
            </a:r>
          </a:p>
          <a:p>
            <a:pPr marL="0" indent="0">
              <a:buNone/>
            </a:pPr>
            <a:endParaRPr lang="x-non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90CA4770-796E-EA50-1CE7-119A0D31F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747" y="2155115"/>
            <a:ext cx="4788505" cy="2596396"/>
          </a:xfrm>
          <a:prstGeom prst="rect">
            <a:avLst/>
          </a:prstGeom>
        </p:spPr>
      </p:pic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Aashutosh</a:t>
            </a:r>
            <a:r>
              <a:rPr lang="en-US" dirty="0"/>
              <a:t> Gupta(260081537)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550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1219" y="1078142"/>
            <a:ext cx="7639243" cy="801310"/>
          </a:xfrm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Lake Practical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1219" y="2220036"/>
            <a:ext cx="8430981" cy="3455146"/>
          </a:xfrm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Create a  new project on google cloud storage.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Configuring GCS Bucket.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Upload Raw Dataset.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Creating Dataset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Studio.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External Table Creation.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Running some Queries for Schema Validation.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44F5A-AFD6-4E54-97AA-FB2BD1FE95BB}" type="slidenum">
              <a:rPr lang="en-US" smtClean="0"/>
              <a:t>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Sajan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Bhattarai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(260071929)</a:t>
            </a:r>
          </a:p>
        </p:txBody>
      </p:sp>
    </p:spTree>
    <p:extLst>
      <p:ext uri="{BB962C8B-B14F-4D97-AF65-F5344CB8AC3E}">
        <p14:creationId xmlns:p14="http://schemas.microsoft.com/office/powerpoint/2010/main" val="2564248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1668" y="680457"/>
            <a:ext cx="6264615" cy="578399"/>
          </a:xfrm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 new project on google cloud storage: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1668" y="1648178"/>
            <a:ext cx="2542999" cy="3258359"/>
          </a:xfrm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Cloud Console.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Create / Select a project.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name 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NYC Yellow Taxi Record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new project.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44F5A-AFD6-4E54-97AA-FB2BD1FE95BB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078133" y="6175022"/>
            <a:ext cx="3141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 New Project Creation In GCS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404" y="1330791"/>
            <a:ext cx="7605132" cy="4657413"/>
          </a:xfrm>
          <a:prstGeom prst="rect">
            <a:avLst/>
          </a:prstGeom>
        </p:spPr>
      </p:pic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Sajan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Bhattarai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(260071929)</a:t>
            </a:r>
          </a:p>
        </p:txBody>
      </p:sp>
    </p:spTree>
    <p:extLst>
      <p:ext uri="{BB962C8B-B14F-4D97-AF65-F5344CB8AC3E}">
        <p14:creationId xmlns:p14="http://schemas.microsoft.com/office/powerpoint/2010/main" val="3196617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3" y="734940"/>
            <a:ext cx="3613654" cy="647811"/>
          </a:xfrm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Configuring GCS Bucket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702962"/>
            <a:ext cx="2949399" cy="2400687"/>
          </a:xfrm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Navigation Bar and Click Bucket Tab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create a bucket named </a:t>
            </a:r>
            <a:r>
              <a:rPr lang="en-US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mini_data_lake</a:t>
            </a:r>
            <a:endParaRPr lang="en-US" sz="24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44F5A-AFD6-4E54-97AA-FB2BD1FE95BB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623824" y="5997017"/>
            <a:ext cx="4188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Bucket(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mini_data_lake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creation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219" y="1583473"/>
            <a:ext cx="7259443" cy="4331210"/>
          </a:xfrm>
          <a:prstGeom prst="rect">
            <a:avLst/>
          </a:prstGeom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Sajan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Bhattarai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(260071929)</a:t>
            </a:r>
          </a:p>
        </p:txBody>
      </p:sp>
    </p:spTree>
    <p:extLst>
      <p:ext uri="{BB962C8B-B14F-4D97-AF65-F5344CB8AC3E}">
        <p14:creationId xmlns:p14="http://schemas.microsoft.com/office/powerpoint/2010/main" val="991848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474" y="1725232"/>
            <a:ext cx="2734909" cy="661363"/>
          </a:xfrm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>
            <a:normAutofit fontScale="9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 Raw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0475" y="2697124"/>
            <a:ext cx="2734909" cy="2169126"/>
          </a:xfrm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Upload and select raw dataset(</a:t>
            </a: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yellow_tripdata_2024.parquet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to upload into bucket.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44F5A-AFD6-4E54-97AA-FB2BD1FE95BB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685764" y="6056174"/>
            <a:ext cx="42870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3: Dataset upload in bucket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347" y="1092820"/>
            <a:ext cx="7493619" cy="4742012"/>
          </a:xfrm>
          <a:prstGeom prst="rect">
            <a:avLst/>
          </a:prstGeom>
        </p:spPr>
      </p:pic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Sajan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Bhattarai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(260071929)</a:t>
            </a:r>
          </a:p>
        </p:txBody>
      </p:sp>
    </p:spTree>
    <p:extLst>
      <p:ext uri="{BB962C8B-B14F-4D97-AF65-F5344CB8AC3E}">
        <p14:creationId xmlns:p14="http://schemas.microsoft.com/office/powerpoint/2010/main" val="1084506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41429"/>
            <a:ext cx="4717625" cy="698749"/>
          </a:xfrm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>
            <a:normAutofit fontScale="9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Dataset in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741612"/>
            <a:ext cx="2080155" cy="3580238"/>
          </a:xfrm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to Navigation Bar and click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and then Studio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studio, create Dataset(</a:t>
            </a:r>
            <a:r>
              <a:rPr lang="en-US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nyc_dataset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with default configuration.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44F5A-AFD6-4E54-97AA-FB2BD1FE95BB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659342" y="5957587"/>
            <a:ext cx="4086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4: Dataset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Creatiion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Studio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052" y="1227638"/>
            <a:ext cx="8040031" cy="4608186"/>
          </a:xfrm>
          <a:prstGeom prst="rect">
            <a:avLst/>
          </a:prstGeom>
        </p:spPr>
      </p:pic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Sajan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Bhattarai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(260071929)</a:t>
            </a:r>
          </a:p>
        </p:txBody>
      </p:sp>
    </p:spTree>
    <p:extLst>
      <p:ext uri="{BB962C8B-B14F-4D97-AF65-F5344CB8AC3E}">
        <p14:creationId xmlns:p14="http://schemas.microsoft.com/office/powerpoint/2010/main" val="1737415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61" y="689785"/>
            <a:ext cx="4193515" cy="655392"/>
          </a:xfrm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Table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61" y="1742969"/>
            <a:ext cx="2712332" cy="4055665"/>
          </a:xfrm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nyc_dataset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click on create 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external table as shown in figure and click create.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Table with name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external_table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created from </a:t>
            </a:r>
            <a:r>
              <a:rPr lang="en-US" sz="22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yellow_tripdata_2024.parquet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44F5A-AFD6-4E54-97AA-FB2BD1FE95BB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434575" y="1551409"/>
          <a:ext cx="8599381" cy="4510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1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1072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4376" y="6026750"/>
            <a:ext cx="31598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5: External Table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7507" y="5991367"/>
            <a:ext cx="18493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6: External Table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575" y="1551409"/>
            <a:ext cx="4371279" cy="43688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436" y="1551409"/>
            <a:ext cx="4118520" cy="4336327"/>
          </a:xfrm>
          <a:prstGeom prst="rect">
            <a:avLst/>
          </a:prstGeom>
        </p:spPr>
      </p:pic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Sajan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Bhattarai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(260071929)</a:t>
            </a:r>
          </a:p>
        </p:txBody>
      </p:sp>
    </p:spTree>
    <p:extLst>
      <p:ext uri="{BB962C8B-B14F-4D97-AF65-F5344CB8AC3E}">
        <p14:creationId xmlns:p14="http://schemas.microsoft.com/office/powerpoint/2010/main" val="1298975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2909" y="906579"/>
            <a:ext cx="9132886" cy="449563"/>
          </a:xfrm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>
            <a:normAutofit fontScale="90000"/>
          </a:bodyPr>
          <a:lstStyle/>
          <a:p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some queries on External Table for Schema Validation: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3932" y="1810038"/>
            <a:ext cx="3446055" cy="3486791"/>
          </a:xfrm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Check Query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quality check queries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ensure the accuracy of the data set by looking out for missing values, duplicate entries, and any other forms of data inconsistencies.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44F5A-AFD6-4E54-97AA-FB2BD1FE95BB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990885" y="5916325"/>
            <a:ext cx="32394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7: Quality Check with result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186" y="1746674"/>
            <a:ext cx="7159082" cy="3940447"/>
          </a:xfrm>
          <a:prstGeom prst="rect">
            <a:avLst/>
          </a:prstGeom>
        </p:spPr>
      </p:pic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Sajan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Bhattarai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(260071929)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23932" y="1810038"/>
            <a:ext cx="3446055" cy="4546312"/>
          </a:xfrm>
          <a:prstGeom prst="rect">
            <a:avLst/>
          </a:prstGeom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Quality Check Query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quality check queries in BigQuery help ensure the accuracy of the data set by looking out for missing values, duplicate entries, and any other forms of data inconsistencies.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totoal_trips</a:t>
            </a:r>
          </a:p>
          <a:p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null_passengers_counts</a:t>
            </a:r>
          </a:p>
          <a:p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null_trip_distance</a:t>
            </a:r>
          </a:p>
          <a:p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null_fare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4683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694" y="2080418"/>
            <a:ext cx="3691712" cy="496188"/>
          </a:xfrm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Detection Query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44F5A-AFD6-4E54-97AA-FB2BD1FE95BB}" type="slidenum">
              <a:rPr lang="en-US" smtClean="0"/>
              <a:t>21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69223" y="6079351"/>
            <a:ext cx="25218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7: Duplicate Detect with result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467694" y="2847697"/>
            <a:ext cx="3691712" cy="2246769"/>
          </a:xfrm>
          <a:prstGeom prst="rect">
            <a:avLst/>
          </a:prstGeom>
          <a:ln>
            <a:noFill/>
          </a:ln>
          <a:effectLst/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Duplicate detection queries in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identify repeated records within a dataset by checking for multiple rows with the same key fields, helping ensure data accuracy, consistency, and reliable analysis.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694" y="1572322"/>
            <a:ext cx="7356087" cy="4241845"/>
          </a:xfrm>
          <a:prstGeom prst="rect">
            <a:avLst/>
          </a:prstGeom>
        </p:spPr>
      </p:pic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Sajan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Bhattarai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(260071929)</a:t>
            </a:r>
          </a:p>
        </p:txBody>
      </p:sp>
    </p:spTree>
    <p:extLst>
      <p:ext uri="{BB962C8B-B14F-4D97-AF65-F5344CB8AC3E}">
        <p14:creationId xmlns:p14="http://schemas.microsoft.com/office/powerpoint/2010/main" val="180853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64" y="3145986"/>
            <a:ext cx="3803222" cy="1306470"/>
          </a:xfrm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be used to analyze revenue trends based on payment methods.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98282" y="6358035"/>
            <a:ext cx="2743200" cy="365125"/>
          </a:xfrm>
        </p:spPr>
        <p:txBody>
          <a:bodyPr/>
          <a:lstStyle/>
          <a:p>
            <a:fld id="{4CC44F5A-AFD6-4E54-97AA-FB2BD1FE95BB}" type="slidenum">
              <a:rPr lang="en-US" smtClean="0"/>
              <a:t>22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633500" y="6079351"/>
            <a:ext cx="480798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9: Revenue by Payment Type query with result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4302" y="1516566"/>
            <a:ext cx="7114479" cy="4326673"/>
          </a:xfrm>
          <a:prstGeom prst="rect">
            <a:avLst/>
          </a:prstGeom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Sajan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Bhattarai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(260071929)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64" y="2314989"/>
            <a:ext cx="3803222" cy="461665"/>
          </a:xfrm>
          <a:prstGeom prst="rect">
            <a:avLst/>
          </a:prstGeom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by Payment Type</a:t>
            </a:r>
          </a:p>
        </p:txBody>
      </p:sp>
    </p:spTree>
    <p:extLst>
      <p:ext uri="{BB962C8B-B14F-4D97-AF65-F5344CB8AC3E}">
        <p14:creationId xmlns:p14="http://schemas.microsoft.com/office/powerpoint/2010/main" val="1932770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21E29-9391-8963-A1A8-C163BACF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E149CDF-5DAC-4860-A285-9492CF209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62DF46-51BD-F2A0-1322-21124B689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451" y="240982"/>
            <a:ext cx="4983614" cy="18891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fontAlgn="base"/>
            <a:r>
              <a:rPr lang="en-US" sz="48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US" sz="48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​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B967D-442C-D4D0-E633-49E9847CC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658852"/>
            <a:ext cx="4891065" cy="3465814"/>
          </a:xfrm>
        </p:spPr>
        <p:txBody>
          <a:bodyPr vert="horz" lIns="91440" tIns="45720" rIns="91440" bIns="45720" rtlCol="0">
            <a:normAutofit/>
          </a:bodyPr>
          <a:lstStyle/>
          <a:p>
            <a:pPr algn="l" fontAlgn="base"/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Did We Use It?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285750" indent="-228600" algn="l" fontAlgn="base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NYC Taxi dataset was in Parquet format which is a Big Data file type. ​</a:t>
            </a:r>
          </a:p>
          <a:p>
            <a:pPr marL="285750" indent="-228600" algn="l" fontAlgn="base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load this into 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it first needs to be stored in Cloud Storage as an intermediate step before ingestion.​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C543B8-E15F-6D96-5991-DC064A38E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013" y="1460054"/>
            <a:ext cx="5692933" cy="3230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92C009-5899-6544-455B-29698D0CF374}"/>
              </a:ext>
            </a:extLst>
          </p:cNvPr>
          <p:cNvSpPr txBox="1"/>
          <p:nvPr/>
        </p:nvSpPr>
        <p:spPr>
          <a:xfrm>
            <a:off x="8191918" y="4809653"/>
            <a:ext cx="13356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x-non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igure</a:t>
            </a:r>
            <a:r>
              <a:rPr lang="x-non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Aashutosh Gupta(260081537)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104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CC4D6-AF59-7E6E-E0F2-2F9A74802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pPr fontAlgn="base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Native Table​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521D30-C450-6D88-B7A5-B57B8CA42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966" y="963096"/>
            <a:ext cx="6488034" cy="47390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CD6169-216B-F396-AAA4-3CE50E085F72}"/>
              </a:ext>
            </a:extLst>
          </p:cNvPr>
          <p:cNvSpPr txBox="1"/>
          <p:nvPr/>
        </p:nvSpPr>
        <p:spPr>
          <a:xfrm>
            <a:off x="665085" y="2351109"/>
            <a:ext cx="5264954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 Create a Native Table in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the 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window in Google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 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Cloud Storage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as the source.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the uploaded Parquet file: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mini_data_lake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/yellow_tripdata_2024.parquet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the file format as 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Parquet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destination project:nyc-yellow-taxi-record-495915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the dataset: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nyc_dataset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the table type as 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Native Table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 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load the dataset into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BigQuery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x-non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AA658D-8310-DE66-72A2-C6AF85D7D2E4}"/>
              </a:ext>
            </a:extLst>
          </p:cNvPr>
          <p:cNvSpPr txBox="1"/>
          <p:nvPr/>
        </p:nvSpPr>
        <p:spPr>
          <a:xfrm>
            <a:off x="7641771" y="5998029"/>
            <a:ext cx="18318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x-non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ig: Creating Native Table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Aashutosh Gupta(260081537)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46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7203A-82AF-2550-0DE6-9A43986D4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E44C88E0-850F-107D-9D81-CC7A3910E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808C6C-DDDA-E4FE-CEC5-0CA13B423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pPr fontAlgn="base"/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Verification</a:t>
            </a:r>
            <a:br>
              <a:rPr lang="en-US" sz="3700" dirty="0"/>
            </a:br>
            <a:endParaRPr lang="x-none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C8822-0EAD-3EF3-676F-5ABCA55C0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917452" cy="4211809"/>
          </a:xfrm>
        </p:spPr>
        <p:txBody>
          <a:bodyPr anchor="ctr">
            <a:normAutofit/>
          </a:bodyPr>
          <a:lstStyle/>
          <a:p>
            <a:pPr marL="0" indent="0" fontAlgn="base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Verifying Data Loaded Correctly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Written:</a:t>
            </a:r>
          </a:p>
          <a:p>
            <a:pPr marL="0" indent="0" fontAlgn="base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COUNT(*) AS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Total_Rows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nyc-yellow-taxi-record-495915.nyc_dataset.native_table</a:t>
            </a:r>
          </a:p>
          <a:p>
            <a:pPr marL="0" indent="0" fontAlgn="base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fontAlgn="base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2,964,624 rows loaded</a:t>
            </a:r>
          </a:p>
          <a:p>
            <a:pPr fontAlgn="base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Nearly 3 million transactions</a:t>
            </a:r>
          </a:p>
          <a:p>
            <a:pPr fontAlgn="base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to proceed with analysis</a:t>
            </a:r>
          </a:p>
          <a:p>
            <a:pPr fontAlgn="base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Justifies Big Data architecture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85F447C-6357-B179-35EF-57FFFA733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E7304F7-B686-33E4-DB3C-7EB563353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BBA680C-F9EE-BEA0-5A7F-A913B9B390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1B2A7AD1-E2D3-3F34-C7FF-D89A70DF8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0B0CC57-5D25-1AC1-A91D-63F7DCA89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457F7F1-0E9E-C9E9-B8C4-E2D41E9F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D1456E-59ED-3045-5594-50124854FAF3}"/>
              </a:ext>
            </a:extLst>
          </p:cNvPr>
          <p:cNvSpPr txBox="1"/>
          <p:nvPr/>
        </p:nvSpPr>
        <p:spPr>
          <a:xfrm>
            <a:off x="7720983" y="5697370"/>
            <a:ext cx="21493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Data Verification Query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Aashutosh Gupta(260081537)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5AB35D-8861-1FC5-C516-3A1900448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62" y="1250044"/>
            <a:ext cx="6910833" cy="395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1290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BF30A-4B6F-E93E-4A23-0B09AF4AF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14D9B9-C54C-AAF1-DD97-65E1C76FA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pPr fontAlgn="base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Check</a:t>
            </a:r>
            <a:endParaRPr lang="x-none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9" name="Rectangle 98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50AA93-3FA7-D384-96EB-45099B4A2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008" y="396747"/>
            <a:ext cx="5961312" cy="29557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A40D15-D1C2-D477-4331-F32C5DD0DBAE}"/>
              </a:ext>
            </a:extLst>
          </p:cNvPr>
          <p:cNvSpPr txBox="1"/>
          <p:nvPr/>
        </p:nvSpPr>
        <p:spPr>
          <a:xfrm>
            <a:off x="589560" y="2520741"/>
            <a:ext cx="46772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Data Quality Check Before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I checked for missing values across all key columns. Missing data can lead to inaccurate results and misleading business insights if not addressed early.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Finding: </a:t>
            </a: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140,162 rows had missing passenger counts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Requiring data cleaning before analysis</a:t>
            </a:r>
            <a:endParaRPr lang="x-non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C3D22C-6B6C-2BB2-C0FF-FFFD2C99E5B6}"/>
              </a:ext>
            </a:extLst>
          </p:cNvPr>
          <p:cNvSpPr txBox="1"/>
          <p:nvPr/>
        </p:nvSpPr>
        <p:spPr>
          <a:xfrm>
            <a:off x="8041741" y="6152067"/>
            <a:ext cx="18950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ure</a:t>
            </a:r>
            <a:r>
              <a:rPr lang="x-non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 Quality Check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Aashutosh Gupta(260081537)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28D168-F5D5-ECB8-5A5A-88E3D8083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151" y="3889013"/>
            <a:ext cx="6055024" cy="217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026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49BD5-8013-7C27-1CB3-94DA00985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FF68FAF4-BA8C-6D73-D9D5-64D9184DB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19FCD-EF62-2F2A-BFB3-4C066DBF5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pPr fontAlgn="base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Pre-Processing</a:t>
            </a: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BAF23-66C2-2550-A416-26FB67B31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 fontScale="70000" lnSpcReduction="20000"/>
          </a:bodyPr>
          <a:lstStyle/>
          <a:p>
            <a:pPr marL="0" indent="0" fontAlgn="base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Removed: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 with missing passenger counts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Trips with zero distance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Trips with invalid fare amounts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Trips with invalid total amounts</a:t>
            </a:r>
          </a:p>
          <a:p>
            <a:pPr marL="0" indent="0" fontAlgn="base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rows: 2,964,624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rows: 210,159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(7.1%)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rows: 2,754,465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(92.9%) </a:t>
            </a:r>
          </a:p>
          <a:p>
            <a:pPr marL="0" indent="0" fontAlgn="base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table created: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nyc_taxi_clean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fontAlgn="base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only valid records are used in our analysis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08E4F3F-61DE-5AA4-D628-CC976F64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DB4B1A1B-8AD4-CC1C-C204-548C5A0A26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AE560F33-829A-5132-B6A7-0C78F7A98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9" name="Rectangle 98">
            <a:extLst>
              <a:ext uri="{FF2B5EF4-FFF2-40B4-BE49-F238E27FC236}">
                <a16:creationId xmlns:a16="http://schemas.microsoft.com/office/drawing/2014/main" id="{FD749E1D-DC89-946B-C060-CC642450F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297D547-E8EF-66AC-2ADF-F68701639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F978B0C-9D00-1283-B2E8-BC0EECFAD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178A61D-0B39-D66C-6905-BE3E5F922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32E23A-0BA7-43ED-45C3-1583550BDC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370"/>
          <a:stretch>
            <a:fillRect/>
          </a:stretch>
        </p:blipFill>
        <p:spPr>
          <a:xfrm>
            <a:off x="6103333" y="356812"/>
            <a:ext cx="5566978" cy="28687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08FF29-DC6D-4FED-25C4-FF1D9E6ECCB3}"/>
              </a:ext>
            </a:extLst>
          </p:cNvPr>
          <p:cNvSpPr txBox="1"/>
          <p:nvPr/>
        </p:nvSpPr>
        <p:spPr>
          <a:xfrm>
            <a:off x="4775200" y="21110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33D9AB-14F8-1954-3CBA-0EA09A5EE15A}"/>
              </a:ext>
            </a:extLst>
          </p:cNvPr>
          <p:cNvSpPr txBox="1"/>
          <p:nvPr/>
        </p:nvSpPr>
        <p:spPr>
          <a:xfrm>
            <a:off x="7440352" y="3327203"/>
            <a:ext cx="26666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sz="1200" dirty="0"/>
              <a:t>Figure: Query cleaning SQL Code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306ACD-16B9-586D-3EFD-06062CCD716B}"/>
              </a:ext>
            </a:extLst>
          </p:cNvPr>
          <p:cNvSpPr txBox="1"/>
          <p:nvPr/>
        </p:nvSpPr>
        <p:spPr>
          <a:xfrm>
            <a:off x="8072871" y="6104577"/>
            <a:ext cx="3073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sz="1200" dirty="0"/>
              <a:t>Figure: </a:t>
            </a:r>
            <a:r>
              <a:rPr lang="en-US" sz="1200" dirty="0"/>
              <a:t>Result </a:t>
            </a:r>
            <a:r>
              <a:rPr lang="en-US" sz="1200" dirty="0" err="1"/>
              <a:t>nyc_taxi_clean</a:t>
            </a:r>
            <a:r>
              <a:rPr lang="en-US" sz="1200" dirty="0"/>
              <a:t> created</a:t>
            </a:r>
            <a:endParaRPr lang="x-none" sz="12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Aashutosh Gupta(260081537)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27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D9AC8B-91E2-AD6B-A520-EC37E46AE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632466"/>
            <a:ext cx="5412154" cy="255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536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3D31-CC33-7AAE-9626-A49B301E5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A63A4C27-E759-AB04-1687-14DA0C660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0B3DBD-F3A1-E6CF-258A-B00DFD8E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pPr fontAlgn="base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Data Verification</a:t>
            </a: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80512-2BD2-F05B-E02E-A71B6F788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 fontScale="70000" lnSpcReduction="20000"/>
          </a:bodyPr>
          <a:lstStyle/>
          <a:p>
            <a:pPr marL="0" indent="0" fontAlgn="base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cleaning verifying how many valid records remained for analysis:</a:t>
            </a:r>
          </a:p>
          <a:p>
            <a:pPr marL="0" indent="0" fontAlgn="base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Cleaning:  2,964,624 rows</a:t>
            </a:r>
          </a:p>
          <a:p>
            <a:pPr marL="0" indent="0" fontAlgn="base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Cleaning:   2,754,451 rows </a:t>
            </a:r>
          </a:p>
          <a:p>
            <a:pPr marL="0" indent="0" fontAlgn="base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Removed:            210,159 rows (7.1%)</a:t>
            </a:r>
          </a:p>
          <a:p>
            <a:pPr marL="0" indent="0" fontAlgn="base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Was Removed: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140,162 missing passenger counts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zero distance trips</a:t>
            </a:r>
          </a:p>
          <a:p>
            <a:pPr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fare &amp; total amounts</a:t>
            </a:r>
          </a:p>
          <a:p>
            <a:pPr marL="0" indent="0" fontAlgn="base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92.9% of data retained confirming dataset is clean and reliable for </a:t>
            </a:r>
          </a:p>
          <a:p>
            <a:pPr marL="0" indent="0" fontAlgn="base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AECE8BC-6E0B-759B-528B-5588146E5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5C58FA8-424D-7AFA-B6D9-1FEE214D3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44F0DEE-4341-3778-8E64-2D79A49EB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9" name="Rectangle 98">
            <a:extLst>
              <a:ext uri="{FF2B5EF4-FFF2-40B4-BE49-F238E27FC236}">
                <a16:creationId xmlns:a16="http://schemas.microsoft.com/office/drawing/2014/main" id="{B0E8F17C-798B-CAFA-35DE-86E50A0775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3B8C301-EE5B-A20D-711D-B77BB337A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0C03829-5FA1-81B5-083F-23A33640C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2C9AA3A-BF7F-98AA-1BA4-A47D7011C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012B8F-337C-12D0-04AB-1E3C67EC4E5E}"/>
              </a:ext>
            </a:extLst>
          </p:cNvPr>
          <p:cNvSpPr txBox="1"/>
          <p:nvPr/>
        </p:nvSpPr>
        <p:spPr>
          <a:xfrm>
            <a:off x="4775200" y="21110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x-non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E9D5E4-38E0-9B09-8771-697F5CE1CDBA}"/>
              </a:ext>
            </a:extLst>
          </p:cNvPr>
          <p:cNvSpPr txBox="1"/>
          <p:nvPr/>
        </p:nvSpPr>
        <p:spPr>
          <a:xfrm>
            <a:off x="8184444" y="5892800"/>
            <a:ext cx="2187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Data Verification Query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Aashutosh Gupta(260081537)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5624DA-1500-1557-D969-C5C0E0B0D2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150" y="796867"/>
            <a:ext cx="6067595" cy="480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3154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EB19A28B-F973-480F-51A7-10A645EEA7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0" b="14330"/>
          <a:stretch>
            <a:fillRect/>
          </a:stretch>
        </p:blipFill>
        <p:spPr>
          <a:xfrm>
            <a:off x="20" y="-7619"/>
            <a:ext cx="12191979" cy="6887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620"/>
            <a:ext cx="5566593" cy="6887364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863442" y="855815"/>
            <a:ext cx="6887365" cy="516047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7648"/>
            <a:ext cx="2079513" cy="6865647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706777" y="3068761"/>
            <a:ext cx="4504659" cy="3789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774557" y="-6485"/>
            <a:ext cx="3427160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64705" y="-1061856"/>
            <a:ext cx="3682024" cy="12211438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" y="-7639"/>
            <a:ext cx="4879823" cy="6887373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0872DF-9F34-18A4-CAB5-4256F4FAD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028" y="2155188"/>
            <a:ext cx="4160233" cy="28392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Analysis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Aashutosh Gupta(260081537)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1274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94E9D-D973-0029-0D66-017A4E695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BF34B9BA-6703-B22A-B029-9F913F590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56C678-CBC8-E758-61F0-68631A924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pPr fontAlgn="base"/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1</a:t>
            </a:r>
            <a:b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by Payment Method</a:t>
            </a: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0DBDA9D5-2EB3-94D0-8742-086083615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205DF65-3E60-2042-4854-0B8E0F81B4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673EDE22-17B0-C4A3-48DF-C785762BC0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9" name="Rectangle 98">
            <a:extLst>
              <a:ext uri="{FF2B5EF4-FFF2-40B4-BE49-F238E27FC236}">
                <a16:creationId xmlns:a16="http://schemas.microsoft.com/office/drawing/2014/main" id="{E4452620-D625-F112-E4D8-7A875EF5C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58BC58D-4CC4-720D-2FE4-DEB5CB4E7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5E130FC-4DBD-3418-547C-65927CC9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D636FF8-B312-EAD1-009B-FBBADD86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903120-C6FD-33FB-AB6A-AADFF1501646}"/>
              </a:ext>
            </a:extLst>
          </p:cNvPr>
          <p:cNvSpPr txBox="1"/>
          <p:nvPr/>
        </p:nvSpPr>
        <p:spPr>
          <a:xfrm>
            <a:off x="4775200" y="21110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55D2A5-8EF9-0329-EDFF-EA5DD04066C3}"/>
              </a:ext>
            </a:extLst>
          </p:cNvPr>
          <p:cNvSpPr txBox="1"/>
          <p:nvPr/>
        </p:nvSpPr>
        <p:spPr>
          <a:xfrm>
            <a:off x="7571250" y="5341732"/>
            <a:ext cx="2954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Query payment method SQL Code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0CD056-D4C0-A608-A2BF-750871962D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795"/>
          <a:stretch>
            <a:fillRect/>
          </a:stretch>
        </p:blipFill>
        <p:spPr>
          <a:xfrm>
            <a:off x="5868785" y="1019975"/>
            <a:ext cx="6323214" cy="38934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04587D-BAB2-ABD3-AA55-E0C3097533AB}"/>
              </a:ext>
            </a:extLst>
          </p:cNvPr>
          <p:cNvSpPr txBox="1"/>
          <p:nvPr/>
        </p:nvSpPr>
        <p:spPr>
          <a:xfrm>
            <a:off x="555568" y="2464593"/>
            <a:ext cx="475764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Querying to understand how passengers prefer to pay for their taxi rides.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identify revenue patterns by payment method.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types: 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Charge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Dispute</a:t>
            </a:r>
          </a:p>
          <a:p>
            <a:pPr algn="just"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x-non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Aashutosh Gupta(260081537)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731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D2C0C-4522-8F91-8ED5-55C8439E7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44C09F54-245F-06C4-68D2-B4518D99B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1CEDAF-DB23-E566-6A52-D8B0CE521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401" y="1127759"/>
            <a:ext cx="5279408" cy="1128068"/>
          </a:xfrm>
        </p:spPr>
        <p:txBody>
          <a:bodyPr anchor="ctr">
            <a:normAutofit/>
          </a:bodyPr>
          <a:lstStyle/>
          <a:p>
            <a:pPr fontAlgn="base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8E238-DA35-6A15-EB80-A7762CCD6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 fontScale="70000" lnSpcReduction="20000"/>
          </a:bodyPr>
          <a:lstStyle/>
          <a:p>
            <a:pPr marL="0" indent="0" algn="just" fontAlgn="base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 dominates completely</a:t>
            </a:r>
          </a:p>
          <a:p>
            <a:pPr marL="0" indent="0" algn="just" fontAlgn="base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2,298,390 trips (84% of all journeys)</a:t>
            </a:r>
          </a:p>
          <a:p>
            <a:pPr marL="0" indent="0" algn="just" fontAlgn="base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$64,528,784 total revenue generated</a:t>
            </a:r>
          </a:p>
          <a:p>
            <a:pPr marL="0" indent="0" algn="just" fontAlgn="base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Cashless payments preferred by most riders</a:t>
            </a:r>
          </a:p>
          <a:p>
            <a:pPr marL="0" indent="0" algn="just" fontAlgn="base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still significant</a:t>
            </a:r>
          </a:p>
          <a:p>
            <a:pPr marL="0" indent="0" algn="just" fontAlgn="base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422,753 trips (15% of all journeys)</a:t>
            </a:r>
          </a:p>
          <a:p>
            <a:pPr marL="0" indent="0" algn="just" fontAlgn="base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$10,089,183 total revenue</a:t>
            </a:r>
          </a:p>
          <a:p>
            <a:pPr marL="0" indent="0" algn="just" fontAlgn="base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Average fare slightly higher than card ($18.62)</a:t>
            </a:r>
          </a:p>
          <a:p>
            <a:pPr marL="0" indent="0" algn="just" fontAlgn="base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Tipping behavior is revealing</a:t>
            </a:r>
          </a:p>
          <a:p>
            <a:pPr marL="0" indent="0" algn="just" fontAlgn="base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Credit Card average tip: $4.16 per trip </a:t>
            </a:r>
          </a:p>
          <a:p>
            <a:pPr marL="0" indent="0" algn="just" fontAlgn="base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Cash average tip: $0.00  tips not recorded</a:t>
            </a:r>
          </a:p>
          <a:p>
            <a:pPr marL="0" indent="0" algn="just" fontAlgn="base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Card users tip 100% more than cash users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24D197C-7203-E2AF-BE31-4A36F4040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BCB7F74-9A9A-66C6-2B79-DDF55ED183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0E20B3F-7A61-22CB-05F1-DEB04C9D67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9" name="Rectangle 98">
            <a:extLst>
              <a:ext uri="{FF2B5EF4-FFF2-40B4-BE49-F238E27FC236}">
                <a16:creationId xmlns:a16="http://schemas.microsoft.com/office/drawing/2014/main" id="{2894DA1F-4C04-8172-D52C-F9AAC67A6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684BEEA-7A82-608D-9BE6-E7DF204F0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52983E9C-A6E4-904D-261C-7F9BC6EC3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1841CED-1259-3EB8-24DA-FD79FC8CE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71A6B3-BF4F-571F-A5EC-B14D1B40AA0B}"/>
              </a:ext>
            </a:extLst>
          </p:cNvPr>
          <p:cNvSpPr txBox="1"/>
          <p:nvPr/>
        </p:nvSpPr>
        <p:spPr>
          <a:xfrm>
            <a:off x="4775200" y="21110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612F0B-A3BC-A70F-6D68-F229F1702C59}"/>
              </a:ext>
            </a:extLst>
          </p:cNvPr>
          <p:cNvSpPr txBox="1"/>
          <p:nvPr/>
        </p:nvSpPr>
        <p:spPr>
          <a:xfrm>
            <a:off x="7334008" y="4983095"/>
            <a:ext cx="3073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Payment Method</a:t>
            </a:r>
            <a:endParaRPr lang="x-none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Aashutosh Gupta(260081537)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2BAC24-5CF4-6DF1-7966-A823DD631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000" y="1964649"/>
            <a:ext cx="5838961" cy="279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5219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4EE8F-4254-9A90-D4E3-D0E8B5274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8F2EA6FD-2A90-E7DA-B87E-1EA25736A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2731D-9F91-95BF-630F-899FD29C8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pPr fontAlgn="base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2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Busiest Hours </a:t>
            </a: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7B8071A-57C4-5BE2-074B-F7ADA415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C0DFEE8-6645-4BCD-4993-8D21224BE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BEE6AF8-5A48-FCBD-8FD7-4268614258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9" name="Rectangle 98">
            <a:extLst>
              <a:ext uri="{FF2B5EF4-FFF2-40B4-BE49-F238E27FC236}">
                <a16:creationId xmlns:a16="http://schemas.microsoft.com/office/drawing/2014/main" id="{48F4F977-BCC5-C3F5-87B6-8CC5FAC00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F7E6096-81D7-C4C1-2DE4-2DDBCFF8F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9E05C2-54FC-4BF6-2C2E-DF902C95CE09}"/>
              </a:ext>
            </a:extLst>
          </p:cNvPr>
          <p:cNvSpPr txBox="1"/>
          <p:nvPr/>
        </p:nvSpPr>
        <p:spPr>
          <a:xfrm>
            <a:off x="4775200" y="21110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x-non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4676B5-40DA-380B-E344-C03B843E4ABA}"/>
              </a:ext>
            </a:extLst>
          </p:cNvPr>
          <p:cNvSpPr txBox="1"/>
          <p:nvPr/>
        </p:nvSpPr>
        <p:spPr>
          <a:xfrm>
            <a:off x="589560" y="2290826"/>
            <a:ext cx="497985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Querying the busiest hours of the day for NYC 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taxi operations It helps to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peak demand 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periods, customer travel patterns and revenue 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concentration over the day.</a:t>
            </a: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query determines: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Number of trips per hour total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Total revenue earned per hour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Average fare value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Average trip length</a:t>
            </a: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helps to understand which time periods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produce the most taxi activity and revenues.</a:t>
            </a:r>
            <a:endParaRPr lang="x-non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D2D8B2-FA0C-3B31-4674-3F84381B082B}"/>
              </a:ext>
            </a:extLst>
          </p:cNvPr>
          <p:cNvSpPr txBox="1"/>
          <p:nvPr/>
        </p:nvSpPr>
        <p:spPr>
          <a:xfrm>
            <a:off x="7785364" y="5496546"/>
            <a:ext cx="2625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Query Busiest Hour SQL Code </a:t>
            </a:r>
          </a:p>
          <a:p>
            <a:endParaRPr lang="x-none" sz="1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Aashutosh Gupta(260081537)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32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683E3C8-DBA0-325D-8637-EC4DA648E7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32585" y="1369042"/>
            <a:ext cx="6441077" cy="369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2767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93D82-EC33-650A-3748-CD5D08611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1BAB54FB-9AEC-C90A-5B78-0F1BFB655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96E321-7B32-2849-F045-B9C240DA1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pPr fontAlgn="base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C1EF8-3438-6BE2-4FBC-BB6FE7E06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902" y="2679067"/>
            <a:ext cx="5278066" cy="3979585"/>
          </a:xfrm>
        </p:spPr>
        <p:txBody>
          <a:bodyPr anchor="ctr">
            <a:noAutofit/>
          </a:bodyPr>
          <a:lstStyle/>
          <a:p>
            <a:pPr marL="0" indent="0" algn="just" fontAlgn="base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Evening Rush Hour is Peak Time</a:t>
            </a:r>
          </a:p>
          <a:p>
            <a:pPr algn="just" fontAlgn="base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6PM (Hour 18) busiest with 198,014 trips </a:t>
            </a:r>
          </a:p>
          <a:p>
            <a:pPr algn="just" fontAlgn="base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5PM (Hour 17) second busiest 193,368 trips </a:t>
            </a:r>
          </a:p>
          <a:p>
            <a:pPr algn="just" fontAlgn="base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4PM-7PM generates highest trip volume overall</a:t>
            </a:r>
          </a:p>
          <a:p>
            <a:pPr marL="0" indent="0" algn="just" fontAlgn="base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Morning is Most Profitable Per Trip </a:t>
            </a:r>
          </a:p>
          <a:p>
            <a:pPr algn="just" fontAlgn="base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5AM average fare: $27.55 — highest of all hours </a:t>
            </a:r>
          </a:p>
          <a:p>
            <a:pPr algn="just" fontAlgn="base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6AM average fare: $21.99 — second highest </a:t>
            </a:r>
          </a:p>
          <a:p>
            <a:pPr algn="just" fontAlgn="base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distances at night = higher fares </a:t>
            </a:r>
          </a:p>
          <a:p>
            <a:pPr marL="0" indent="0" algn="just" fontAlgn="base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Quietest Period is 4AM-6AM </a:t>
            </a:r>
          </a:p>
          <a:p>
            <a:pPr algn="just" fontAlgn="base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4AM only 12,909 trips — lowest volume </a:t>
            </a:r>
          </a:p>
          <a:p>
            <a:pPr algn="just" fontAlgn="base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highest average fare at $22.98 </a:t>
            </a:r>
          </a:p>
          <a:p>
            <a:pPr algn="just" fontAlgn="base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Airport runs likely driving up average </a:t>
            </a:r>
          </a:p>
          <a:p>
            <a:pPr marL="0" indent="0" algn="just" fontAlgn="base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F36B027-ED05-C88E-6292-00483303E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09E71E4-800A-DCB6-7A70-0C9A9793A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95E3ED66-C23D-2192-0BC3-302DC6E9A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9" name="Rectangle 98">
            <a:extLst>
              <a:ext uri="{FF2B5EF4-FFF2-40B4-BE49-F238E27FC236}">
                <a16:creationId xmlns:a16="http://schemas.microsoft.com/office/drawing/2014/main" id="{585DE434-F51C-83EB-A587-AA6F12603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F32900B-1CCD-A6A1-A03A-5FA80A2F1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5C7BE31-9891-AC67-43A4-9986F2C5C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682AD68-96ED-7689-0852-94D9A42DE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249694-55D2-638C-C68B-8D17A1454EEB}"/>
              </a:ext>
            </a:extLst>
          </p:cNvPr>
          <p:cNvSpPr txBox="1"/>
          <p:nvPr/>
        </p:nvSpPr>
        <p:spPr>
          <a:xfrm>
            <a:off x="4775200" y="21110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8AF2CA-1A75-9BB3-B030-4B1FFC245EB6}"/>
              </a:ext>
            </a:extLst>
          </p:cNvPr>
          <p:cNvSpPr txBox="1"/>
          <p:nvPr/>
        </p:nvSpPr>
        <p:spPr>
          <a:xfrm>
            <a:off x="8142514" y="5736771"/>
            <a:ext cx="19094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Result Busiest Hour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Aashutosh Gupta(260081537)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5B2E8A-529B-A10F-21C4-9CA5E77D5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589" y="1696759"/>
            <a:ext cx="6586409" cy="356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080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5B370-A136-D430-ADD1-56765E888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A5F86358-E08B-2693-104E-FB756854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CEA405-2DFD-414F-51AB-7122439C1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 fontScale="90000"/>
          </a:bodyPr>
          <a:lstStyle/>
          <a:p>
            <a:pPr fontAlgn="base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3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 Performance Comparison</a:t>
            </a: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D7F49-6EAC-0867-3179-C46352751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196" y="2431014"/>
            <a:ext cx="5278066" cy="3979585"/>
          </a:xfrm>
        </p:spPr>
        <p:txBody>
          <a:bodyPr anchor="ctr">
            <a:noAutofit/>
          </a:bodyPr>
          <a:lstStyle/>
          <a:p>
            <a:pPr marL="0" indent="0" fontAlgn="base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Querying to compare the performance of the two taxi vendors:</a:t>
            </a:r>
          </a:p>
          <a:p>
            <a:pPr marL="0" indent="0" fontAlgn="base">
              <a:buNone/>
            </a:pPr>
            <a:b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Vendor1 = Creative Mobile Technologies</a:t>
            </a:r>
            <a:b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 2 = VeriFone Inc</a:t>
            </a: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query calculates: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Total trips completed by each vendor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Average trip distance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Average fare amount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Average customer tip amount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Average total trip amount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Total revenue generated by each vendor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helps identify which taxi company performs better in terms of revenue generation and customer spending patterns.</a:t>
            </a:r>
          </a:p>
          <a:p>
            <a:pPr marL="0" indent="0" fontAlgn="base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D1680CB-4D95-1A9F-0271-2B4A770E5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51D198F-07DC-D35F-0544-F53705D89D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4ACAA8BC-6509-1FF9-E1B8-2F36C74C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9" name="Rectangle 98">
            <a:extLst>
              <a:ext uri="{FF2B5EF4-FFF2-40B4-BE49-F238E27FC236}">
                <a16:creationId xmlns:a16="http://schemas.microsoft.com/office/drawing/2014/main" id="{C1A4685B-E152-3543-F5D4-98E9EC66B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3E9084F-4182-B028-F443-D2C3E9D59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F4C0BB1-65ED-DDEB-61BE-3112C3379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3C3E61A-F136-0D6D-69EE-F6C0FFBFD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8FDA25-E2A7-8D09-7A40-7EFB4B4988C0}"/>
              </a:ext>
            </a:extLst>
          </p:cNvPr>
          <p:cNvSpPr txBox="1"/>
          <p:nvPr/>
        </p:nvSpPr>
        <p:spPr>
          <a:xfrm>
            <a:off x="4775200" y="21110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x-non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CA79EF-1C71-BB48-C2EC-8B6D4ACAE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223" y="1174222"/>
            <a:ext cx="6469776" cy="36995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7B8ED8-5644-F6B6-0A56-0ADD05ABB42A}"/>
              </a:ext>
            </a:extLst>
          </p:cNvPr>
          <p:cNvSpPr txBox="1"/>
          <p:nvPr/>
        </p:nvSpPr>
        <p:spPr>
          <a:xfrm>
            <a:off x="8099778" y="5690528"/>
            <a:ext cx="2597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Query performance SQL Code </a:t>
            </a:r>
          </a:p>
          <a:p>
            <a:endParaRPr lang="x-none" sz="1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Aashutosh Gupta(260081537)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628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E93A5-D42D-32D6-7BDC-981AAB483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D311731B-7F9D-468B-DE5E-D1363B994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9D37D5-7781-479B-3D3B-E7E18912E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pPr fontAlgn="base"/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2BB3CD1-FC28-DDD6-8AE2-18AF3A3CD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6916ABB-1C99-1AA1-C925-791FFF326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EB90398-1A90-1C4D-BA2D-952E4F6E1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9" name="Rectangle 98">
            <a:extLst>
              <a:ext uri="{FF2B5EF4-FFF2-40B4-BE49-F238E27FC236}">
                <a16:creationId xmlns:a16="http://schemas.microsoft.com/office/drawing/2014/main" id="{895A6A4C-0015-FAC8-F968-CFE3DB79D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0276AF9-6154-862E-A7B0-4F28E187D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F34412-731B-F862-50F2-EB1DA57BCCDC}"/>
              </a:ext>
            </a:extLst>
          </p:cNvPr>
          <p:cNvSpPr txBox="1"/>
          <p:nvPr/>
        </p:nvSpPr>
        <p:spPr>
          <a:xfrm>
            <a:off x="4775200" y="21110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x-non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78F31E-BFD5-5CE8-EB9F-9F562C449C0E}"/>
              </a:ext>
            </a:extLst>
          </p:cNvPr>
          <p:cNvSpPr txBox="1"/>
          <p:nvPr/>
        </p:nvSpPr>
        <p:spPr>
          <a:xfrm>
            <a:off x="412214" y="2411540"/>
            <a:ext cx="505292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/>
              <a:t>VeriFone dominates 76% market share </a:t>
            </a:r>
          </a:p>
          <a:p>
            <a:pPr algn="just"/>
            <a:endParaRPr lang="en-US" sz="14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VeriFone Inc generated the highest total revenue among both vendors.</a:t>
            </a:r>
          </a:p>
          <a:p>
            <a:pPr algn="just"/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VeriFone completed significantly more taxi trips than Creative Mobile Technologies.</a:t>
            </a:r>
          </a:p>
          <a:p>
            <a:pPr algn="just"/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Customers gave higher average tips to VeriFone drivers.</a:t>
            </a:r>
          </a:p>
          <a:p>
            <a:pPr algn="just"/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Average fare amount and total trip amount were slightly higher for VeriFone Inc.</a:t>
            </a:r>
          </a:p>
          <a:p>
            <a:pPr algn="just"/>
            <a:endParaRPr lang="en-US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Both vendors showed similar average trip distances, indicating comparable travel coverage.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679EF4-E2F4-D381-B55D-7EFBAF6281F8}"/>
              </a:ext>
            </a:extLst>
          </p:cNvPr>
          <p:cNvSpPr txBox="1"/>
          <p:nvPr/>
        </p:nvSpPr>
        <p:spPr>
          <a:xfrm>
            <a:off x="8697686" y="5268686"/>
            <a:ext cx="22711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</a:t>
            </a:r>
            <a:r>
              <a:rPr lang="x-none" sz="12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 </a:t>
            </a:r>
            <a:r>
              <a:rPr lang="x-none" sz="120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  <a:r>
              <a:rPr lang="x-non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Aashutosh Gupta(260081537)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35</a:t>
            </a:fld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97679AD-49E1-258C-F691-152A30579A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349" y="2480354"/>
            <a:ext cx="6404517" cy="238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7908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D39BD-2924-87F7-7036-F73C5630E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C7DF5731-2AC2-38C8-1249-7D283FBAB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019EE9-F5D3-DAD1-8DDF-F12325399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pPr fontAlgn="base"/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4</a:t>
            </a:r>
            <a:b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Revenue Trend</a:t>
            </a: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A8DD3-BC58-CA87-B870-119F0EB49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560" y="2376946"/>
            <a:ext cx="418563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Querying to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daily taxi trip activity and revenue trends during January 2024.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identify busy days, weekly travel patterns, and unusual changes in taxi demand throughout the month.</a:t>
            </a: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query calculates:</a:t>
            </a:r>
          </a:p>
          <a:p>
            <a:pPr marL="0" indent="0">
              <a:buNone/>
            </a:pP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Total trips per day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Daily revenue generated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Average fare amount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Average trip distance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Total customer tips collected</a:t>
            </a:r>
          </a:p>
          <a:p>
            <a:endParaRPr lang="x-non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973BA02-0AD6-5187-A8B6-5B9B91387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112BFE3-191F-71A4-4B82-14835E84E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4E29ED4F-84A7-468B-C91C-B0B2D0EA6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9" name="Rectangle 98">
            <a:extLst>
              <a:ext uri="{FF2B5EF4-FFF2-40B4-BE49-F238E27FC236}">
                <a16:creationId xmlns:a16="http://schemas.microsoft.com/office/drawing/2014/main" id="{DECA7A7E-F88C-CE7F-0B3B-97009D9E7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3D5E8CD-E8BE-BE4C-2CAC-41F021F6B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44E6FC9-4873-6D8C-EE17-EA31846E6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31EA7B6-761E-ADBB-4371-D8EEC9EA6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1FDB30-EF15-9C5F-3158-7FB0A15D9441}"/>
              </a:ext>
            </a:extLst>
          </p:cNvPr>
          <p:cNvSpPr txBox="1"/>
          <p:nvPr/>
        </p:nvSpPr>
        <p:spPr>
          <a:xfrm>
            <a:off x="4775200" y="21110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x-non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AAE580-4F8F-4FA4-1354-4336FF5A3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565" y="1083484"/>
            <a:ext cx="7299743" cy="41812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DBB367-517E-0C40-18D3-69734C663E9F}"/>
              </a:ext>
            </a:extLst>
          </p:cNvPr>
          <p:cNvSpPr txBox="1"/>
          <p:nvPr/>
        </p:nvSpPr>
        <p:spPr>
          <a:xfrm>
            <a:off x="7641771" y="5774516"/>
            <a:ext cx="2756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Query Revenue Trend SQL Code </a:t>
            </a:r>
          </a:p>
          <a:p>
            <a:endParaRPr lang="x-none" sz="1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Aashutosh Gupta(260081537)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796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BD55F-5A2F-3164-E3DA-F8828F131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5E00E804-F2DC-CB5D-1307-870B3A194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461739-4A77-9D75-9B38-C4AD0AE62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pPr fontAlgn="base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x-none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8EEBC2-B46D-2FD6-44C8-9B139194C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25" y="2349163"/>
            <a:ext cx="6240304" cy="4310292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Busiest day: Jan 18 (102,081 trips) 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Quietest day: Jan 1 (68,116 trips) 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Thursdays consistently strongest day 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Sundays consistently weakest day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weekly pattern across month </a:t>
            </a: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Recommendations: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supply Sundays &amp; holidays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supply Thursday/Friday peaks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pricing on high demand days (NYC TLC, 2024)</a:t>
            </a:r>
            <a:endParaRPr lang="x-none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5F0D1838-A780-0886-D807-2D1DB8249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4161DD74-A7A6-2EAE-4A12-F1DFAE4D12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16D9338E-3F6E-7284-4D36-DE011F231A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9" name="Rectangle 98">
            <a:extLst>
              <a:ext uri="{FF2B5EF4-FFF2-40B4-BE49-F238E27FC236}">
                <a16:creationId xmlns:a16="http://schemas.microsoft.com/office/drawing/2014/main" id="{7E6B7371-B0C2-3CB1-B5D4-1E27AF0AB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A277FDC-403E-FF6E-C2D1-D5F0206B4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6A38DD-A90E-85B9-5C7D-0031232425D5}"/>
              </a:ext>
            </a:extLst>
          </p:cNvPr>
          <p:cNvSpPr txBox="1"/>
          <p:nvPr/>
        </p:nvSpPr>
        <p:spPr>
          <a:xfrm>
            <a:off x="4775200" y="21110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x-non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927EE6-6EB4-7BA3-803C-A77435B6A7CF}"/>
              </a:ext>
            </a:extLst>
          </p:cNvPr>
          <p:cNvSpPr txBox="1"/>
          <p:nvPr/>
        </p:nvSpPr>
        <p:spPr>
          <a:xfrm>
            <a:off x="8697686" y="5660571"/>
            <a:ext cx="18436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Result Revenue Trend</a:t>
            </a:r>
            <a:endParaRPr lang="x-none" sz="1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Aashutosh Gupta(260081537)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A6FD40-857E-AE54-B8BB-9799EE976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129" y="1420214"/>
            <a:ext cx="7032859" cy="397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6442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7176B-01B2-9E18-320A-66801ECD5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8" name="Rectangle 137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5EBFE6-F592-CF5E-B256-66CB71E14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r>
              <a:rPr lang="en-US" sz="46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4600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</a:t>
            </a:r>
            <a:r>
              <a:rPr lang="en-US" sz="46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Big query</a:t>
            </a:r>
            <a:endParaRPr lang="en-US" sz="4600" b="1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02D5F0-3BD5-48D2-69C2-F600F258F548}"/>
              </a:ext>
            </a:extLst>
          </p:cNvPr>
          <p:cNvSpPr txBox="1"/>
          <p:nvPr/>
        </p:nvSpPr>
        <p:spPr>
          <a:xfrm>
            <a:off x="4775200" y="21110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x-none" dirty="0"/>
          </a:p>
        </p:txBody>
      </p:sp>
      <p:graphicFrame>
        <p:nvGraphicFramePr>
          <p:cNvPr id="133" name="TextBox 2">
            <a:extLst>
              <a:ext uri="{FF2B5EF4-FFF2-40B4-BE49-F238E27FC236}">
                <a16:creationId xmlns:a16="http://schemas.microsoft.com/office/drawing/2014/main" id="{8C2E10A0-3DE7-6DE8-A156-66CDBB4280B1}"/>
              </a:ext>
            </a:extLst>
          </p:cNvPr>
          <p:cNvGraphicFramePr/>
          <p:nvPr/>
        </p:nvGraphicFramePr>
        <p:xfrm>
          <a:off x="4815067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Aashutosh Gupta(260081537)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470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A3CC463-F933-4AC4-86E1-5AC14B0C3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25D2DB-A12A-44DB-B00E-F4D622329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48006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rgbClr val="A35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D3BE93-7AD5-7F6D-3816-908491D63C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5065" y="643467"/>
            <a:ext cx="3009913" cy="247565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E7E7877-F64E-4EEA-B778-138031EFF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360367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rgbClr val="A35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5553B4-4B67-B382-A49A-81BB3FE834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3683" y="4137876"/>
            <a:ext cx="3032677" cy="16922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D6C4F3-70FD-4F13-919C-702EE4886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0596" y="487090"/>
            <a:ext cx="6741849" cy="5897880"/>
          </a:xfrm>
          <a:prstGeom prst="rect">
            <a:avLst/>
          </a:prstGeom>
          <a:solidFill>
            <a:srgbClr val="FFFFF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BC9D53-FE17-597A-BFED-55CD716988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44764" y="1516543"/>
            <a:ext cx="6410084" cy="383897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46943" y="3282527"/>
            <a:ext cx="28016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Visualization Payment Methods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52953" y="6494585"/>
            <a:ext cx="24134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Visualization Busy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48246" y="6494585"/>
            <a:ext cx="2743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visualization Daily Revenue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Aashutosh Gupta(260081537)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7362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BD2B0-5836-9219-C1EB-AE20105D6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EBD3CBBD-164B-82B6-67F5-4FB8BAA22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5A3D9-AF08-9A23-2122-D02A0B40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pPr fontAlgn="base"/>
            <a:r>
              <a:rPr lang="x-none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Time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4D8BBA-D21F-C339-81E6-DDCD6339E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25" y="2349163"/>
            <a:ext cx="6240304" cy="43102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1 (Vendor Performance Analysis)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vendor records processed in under 1 second</a:t>
            </a: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2 (Hourly Taxi Demand Analysis)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 hourly records processed in under 1 second</a:t>
            </a: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3 (Payment Method Analysis)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payment categories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under 1 second</a:t>
            </a: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4 (Daily Revenue Trend - January 2024)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 daily records processed in under 1 second</a:t>
            </a: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8EE0D5A5-9E30-A3D6-8B07-54FAEF09E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F94B07B-3776-A3A9-B038-C0FBAE023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3AF57089-88D5-0916-21D2-033B282B9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9" name="Rectangle 98">
            <a:extLst>
              <a:ext uri="{FF2B5EF4-FFF2-40B4-BE49-F238E27FC236}">
                <a16:creationId xmlns:a16="http://schemas.microsoft.com/office/drawing/2014/main" id="{99CD4979-B7EE-399E-9937-36565E772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8E45A13-9C62-9ECA-CD1D-2BCB66B29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266BC1D-DDE0-9F9A-42A7-9F66A91B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40700C5-F092-6EA8-2E45-B1B45E349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04727B-A86C-156D-F800-C8FD7A3C83C0}"/>
              </a:ext>
            </a:extLst>
          </p:cNvPr>
          <p:cNvSpPr txBox="1"/>
          <p:nvPr/>
        </p:nvSpPr>
        <p:spPr>
          <a:xfrm>
            <a:off x="4775200" y="21110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x-non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062B45-4F67-4B27-48D9-749E14114A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42" r="-275" b="27910"/>
          <a:stretch>
            <a:fillRect/>
          </a:stretch>
        </p:blipFill>
        <p:spPr>
          <a:xfrm>
            <a:off x="5732794" y="270494"/>
            <a:ext cx="6495194" cy="25421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A8426C4-C634-390F-D8E1-84672A689E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500" r="-214" b="30661"/>
          <a:stretch>
            <a:fillRect/>
          </a:stretch>
        </p:blipFill>
        <p:spPr>
          <a:xfrm>
            <a:off x="5696804" y="3192237"/>
            <a:ext cx="6495195" cy="24379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1157FB-4118-0BBB-4985-5F7911F11AA7}"/>
              </a:ext>
            </a:extLst>
          </p:cNvPr>
          <p:cNvSpPr txBox="1"/>
          <p:nvPr/>
        </p:nvSpPr>
        <p:spPr>
          <a:xfrm>
            <a:off x="7969518" y="5943461"/>
            <a:ext cx="16482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: Execution time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Aashutosh Gupta(260081537)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4809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4FF742-6AF2-C80C-4490-E4D3DCE2BE86}"/>
              </a:ext>
            </a:extLst>
          </p:cNvPr>
          <p:cNvSpPr txBox="1"/>
          <p:nvPr/>
        </p:nvSpPr>
        <p:spPr>
          <a:xfrm>
            <a:off x="2412269" y="158105"/>
            <a:ext cx="79568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Data Lake vs Data Warehouse</a:t>
            </a:r>
            <a:endParaRPr lang="en-IN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5AD046-D8EC-74C4-BB1E-5A8299D89FAE}"/>
              </a:ext>
            </a:extLst>
          </p:cNvPr>
          <p:cNvSpPr txBox="1"/>
          <p:nvPr/>
        </p:nvSpPr>
        <p:spPr>
          <a:xfrm>
            <a:off x="750670" y="1325400"/>
            <a:ext cx="795688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An analysis of two data architecture systems, comparing their differences in terms of structure, cost, security, and efficiency, and which one to choose under what circumstances.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7018139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AB67E-45C3-769B-9024-22E4CDB3E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data storage&#10;&#10;AI-generated content may be incorrect.">
            <a:extLst>
              <a:ext uri="{FF2B5EF4-FFF2-40B4-BE49-F238E27FC236}">
                <a16:creationId xmlns:a16="http://schemas.microsoft.com/office/drawing/2014/main" id="{B8DA2E1E-2787-B8C8-D5E6-96D382B64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589" y="2173266"/>
            <a:ext cx="5011541" cy="3341027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C52B388D-17CC-334C-C230-9912A2586666}"/>
              </a:ext>
            </a:extLst>
          </p:cNvPr>
          <p:cNvSpPr txBox="1"/>
          <p:nvPr/>
        </p:nvSpPr>
        <p:spPr>
          <a:xfrm>
            <a:off x="3845164" y="173725"/>
            <a:ext cx="4110058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800" b="1" dirty="0"/>
              <a:t>Key Differences</a:t>
            </a:r>
            <a:endParaRPr lang="en-US" sz="4800" b="1" dirty="0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5B7BCA-1E60-A4BF-1E56-EA5CD042A681}"/>
              </a:ext>
            </a:extLst>
          </p:cNvPr>
          <p:cNvSpPr txBox="1"/>
          <p:nvPr/>
        </p:nvSpPr>
        <p:spPr>
          <a:xfrm>
            <a:off x="75065" y="1381604"/>
            <a:ext cx="11650256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ea typeface="+mn-lt"/>
                <a:cs typeface="+mn-lt"/>
              </a:rPr>
              <a:t>A data lake values flexibility and scalability, whereas a data warehouse emphasizes structured data and quick analysis.</a:t>
            </a:r>
            <a:endParaRPr lang="en-US" sz="1100" b="1" dirty="0">
              <a:ea typeface="+mn-lt"/>
              <a:cs typeface="+mn-lt"/>
            </a:endParaRPr>
          </a:p>
          <a:p>
            <a:pPr algn="l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D471EF-5837-6384-E550-D88DBD13BB55}"/>
              </a:ext>
            </a:extLst>
          </p:cNvPr>
          <p:cNvSpPr txBox="1"/>
          <p:nvPr/>
        </p:nvSpPr>
        <p:spPr>
          <a:xfrm>
            <a:off x="75065" y="2404817"/>
            <a:ext cx="7073226" cy="196977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200" b="1" dirty="0"/>
              <a:t>Data Lake</a:t>
            </a:r>
            <a:endParaRPr lang="en-GB" b="1" dirty="0"/>
          </a:p>
          <a:p>
            <a:pPr marL="342900" indent="-342900">
              <a:buChar char="•"/>
            </a:pPr>
            <a:r>
              <a:rPr lang="en-US" dirty="0"/>
              <a:t>Unstructured or semi-structured data stored</a:t>
            </a:r>
          </a:p>
          <a:p>
            <a:pPr marL="342900" indent="-342900">
              <a:buChar char="•"/>
            </a:pPr>
            <a:r>
              <a:rPr lang="en-US" dirty="0"/>
              <a:t>Schema-on-read – schema added during query execution</a:t>
            </a:r>
          </a:p>
          <a:p>
            <a:pPr marL="342900" indent="-342900">
              <a:buChar char="•"/>
            </a:pPr>
            <a:r>
              <a:rPr lang="en-US" dirty="0"/>
              <a:t>Target audience: data scientists, engineers</a:t>
            </a:r>
          </a:p>
          <a:p>
            <a:pPr marL="342900" indent="-342900">
              <a:buChar char="•"/>
            </a:pPr>
            <a:r>
              <a:rPr lang="en-US" dirty="0"/>
              <a:t>Applications: machine learning, big data analysis</a:t>
            </a:r>
          </a:p>
          <a:p>
            <a:pPr marL="342900" indent="-342900">
              <a:buChar char="•"/>
            </a:pPr>
            <a:r>
              <a:rPr lang="en-US" dirty="0"/>
              <a:t>ELT approach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08CD38-8C05-6F53-80A1-1E11F630F9CC}"/>
              </a:ext>
            </a:extLst>
          </p:cNvPr>
          <p:cNvSpPr txBox="1"/>
          <p:nvPr/>
        </p:nvSpPr>
        <p:spPr>
          <a:xfrm>
            <a:off x="1989373" y="4611231"/>
            <a:ext cx="5365610" cy="252376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200" b="1" dirty="0"/>
              <a:t>Data Warehouse</a:t>
            </a:r>
          </a:p>
          <a:p>
            <a:pPr marL="342900" indent="-342900">
              <a:buChar char="•"/>
            </a:pPr>
            <a:r>
              <a:rPr lang="en-US" dirty="0"/>
              <a:t>Data is pre-structured and pre-processed.</a:t>
            </a:r>
          </a:p>
          <a:p>
            <a:pPr marL="342900" indent="-342900">
              <a:buChar char="•"/>
            </a:pPr>
            <a:r>
              <a:rPr lang="en-US" dirty="0"/>
              <a:t>Schema-on-write: Schema defined before storage</a:t>
            </a:r>
          </a:p>
          <a:p>
            <a:pPr marL="342900" indent="-342900">
              <a:buChar char="•"/>
            </a:pPr>
            <a:r>
              <a:rPr lang="en-US" dirty="0"/>
              <a:t>Users: Business analysts, managers</a:t>
            </a:r>
          </a:p>
          <a:p>
            <a:pPr marL="342900" indent="-342900">
              <a:buChar char="•"/>
            </a:pPr>
            <a:r>
              <a:rPr lang="en-US" dirty="0"/>
              <a:t>Applications: Dashboards, business intelligence, reporting</a:t>
            </a:r>
          </a:p>
          <a:p>
            <a:pPr marL="342900" indent="-342900">
              <a:buChar char="•"/>
            </a:pPr>
            <a:r>
              <a:rPr lang="en-US" dirty="0"/>
              <a:t>ETL Approach</a:t>
            </a:r>
          </a:p>
          <a:p>
            <a:pPr algn="l"/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BA0DAD-B163-4859-ECAE-41029A34007A}"/>
              </a:ext>
            </a:extLst>
          </p:cNvPr>
          <p:cNvSpPr txBox="1"/>
          <p:nvPr/>
        </p:nvSpPr>
        <p:spPr>
          <a:xfrm>
            <a:off x="7955222" y="5722070"/>
            <a:ext cx="2065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20017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E9C04-A4BE-E824-6AFE-357D3B617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56CA47-7933-3D4E-67C5-142C46C5A01C}"/>
              </a:ext>
            </a:extLst>
          </p:cNvPr>
          <p:cNvSpPr txBox="1"/>
          <p:nvPr/>
        </p:nvSpPr>
        <p:spPr>
          <a:xfrm>
            <a:off x="3762938" y="131975"/>
            <a:ext cx="4523224" cy="98488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800" b="1" dirty="0"/>
              <a:t>Cost Comparison</a:t>
            </a:r>
            <a:endParaRPr lang="en-US" sz="4800" b="1" dirty="0">
              <a:ea typeface="Calibri"/>
              <a:cs typeface="Calibri"/>
            </a:endParaRPr>
          </a:p>
          <a:p>
            <a:pPr algn="ctr"/>
            <a:endParaRPr lang="en-GB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AF1B7-A5FB-2311-A100-F1DF41A6AA26}"/>
              </a:ext>
            </a:extLst>
          </p:cNvPr>
          <p:cNvSpPr txBox="1"/>
          <p:nvPr/>
        </p:nvSpPr>
        <p:spPr>
          <a:xfrm>
            <a:off x="231744" y="1116859"/>
            <a:ext cx="6759732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Data Lake on GCS- Cost Optimisation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Data Tiering:</a:t>
            </a:r>
            <a:r>
              <a:rPr lang="en-IN" sz="1600" dirty="0"/>
              <a:t> Automate the process of moving cold data through Nearline → </a:t>
            </a:r>
            <a:r>
              <a:rPr lang="en-IN" sz="1600" dirty="0" err="1"/>
              <a:t>Coldline</a:t>
            </a:r>
            <a:r>
              <a:rPr lang="en-IN" sz="1600" dirty="0"/>
              <a:t> → Archive tiers based on lifecycles for optimised storage cost savings.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Optimal File Format:</a:t>
            </a:r>
            <a:r>
              <a:rPr lang="en-IN" sz="1600" dirty="0"/>
              <a:t> Utilise Parquet/ORC formats to minimise data scanning and optimise query costs in </a:t>
            </a:r>
            <a:r>
              <a:rPr lang="en-IN" sz="1600" dirty="0" err="1"/>
              <a:t>BigQuery</a:t>
            </a:r>
            <a:r>
              <a:rPr lang="en-IN" sz="1600" dirty="0"/>
              <a:t>.</a:t>
            </a: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Minimising Egress Cost:</a:t>
            </a:r>
            <a:r>
              <a:rPr lang="en-IN" sz="1600" dirty="0"/>
              <a:t> Have your GCS bucket and </a:t>
            </a:r>
            <a:r>
              <a:rPr lang="en-IN" sz="1600" dirty="0" err="1"/>
              <a:t>BigQuery</a:t>
            </a:r>
            <a:r>
              <a:rPr lang="en-IN" sz="1600" dirty="0"/>
              <a:t> within the same geographic location for no extra egress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Inexpensive APIs:</a:t>
            </a:r>
            <a:r>
              <a:rPr lang="en-IN" sz="1600" dirty="0"/>
              <a:t> The storage APIs are low-cost but frequent listing can be costly for Class A operations.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ED016C-3195-126B-8B0A-C53DA7E47990}"/>
              </a:ext>
            </a:extLst>
          </p:cNvPr>
          <p:cNvSpPr txBox="1"/>
          <p:nvPr/>
        </p:nvSpPr>
        <p:spPr>
          <a:xfrm>
            <a:off x="5929460" y="4071514"/>
            <a:ext cx="60307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Data Warehouse on GCS – Cost Optimization</a:t>
            </a:r>
          </a:p>
          <a:p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Pay per use model: </a:t>
            </a:r>
            <a:r>
              <a:rPr lang="en-IN" sz="1600" dirty="0"/>
              <a:t>Pay per TB scan cost ($6.25 per TB), which means inefficient queries can be expensive.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Fixed rate/Capacity-based model: </a:t>
            </a:r>
            <a:r>
              <a:rPr lang="en-IN" sz="1600" dirty="0"/>
              <a:t>Better suited for high-frequency and high-volume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Partition and Clustering: </a:t>
            </a:r>
            <a:r>
              <a:rPr lang="en-IN" sz="1600" dirty="0"/>
              <a:t>Helps in reducing scanning cost by minimizing scanning of data for each query.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Materialized Views: </a:t>
            </a:r>
            <a:r>
              <a:rPr lang="en-IN" sz="1600" dirty="0"/>
              <a:t>Pre-aggregated views that avoid complete table scan and reduce computation costs.</a:t>
            </a:r>
          </a:p>
        </p:txBody>
      </p:sp>
    </p:spTree>
    <p:extLst>
      <p:ext uri="{BB962C8B-B14F-4D97-AF65-F5344CB8AC3E}">
        <p14:creationId xmlns:p14="http://schemas.microsoft.com/office/powerpoint/2010/main" val="26075034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48695-923C-588D-1C6A-0002A5A43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B298D0-CD0C-158F-EB95-1B3553A05F3B}"/>
              </a:ext>
            </a:extLst>
          </p:cNvPr>
          <p:cNvSpPr txBox="1"/>
          <p:nvPr/>
        </p:nvSpPr>
        <p:spPr>
          <a:xfrm>
            <a:off x="4496585" y="5196103"/>
            <a:ext cx="226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24791-0704-B6BE-241A-5D81B5955D00}"/>
              </a:ext>
            </a:extLst>
          </p:cNvPr>
          <p:cNvSpPr txBox="1"/>
          <p:nvPr/>
        </p:nvSpPr>
        <p:spPr>
          <a:xfrm>
            <a:off x="3626176" y="5944442"/>
            <a:ext cx="535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Google Cloud </a:t>
            </a:r>
            <a:r>
              <a:rPr lang="en-US" b="1" dirty="0" err="1"/>
              <a:t>BigQuery</a:t>
            </a:r>
            <a:r>
              <a:rPr lang="en-US" b="1" dirty="0"/>
              <a:t> Analysis Cost Structure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341AFA-DE29-CBD0-3419-D449FCBC6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481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9048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47479940-6E5B-5F66-F775-BC40FD1814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4416" y="365126"/>
            <a:ext cx="4590854" cy="7571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800" b="1" dirty="0">
                <a:ea typeface="Calibri"/>
                <a:cs typeface="Calibri"/>
              </a:rPr>
              <a:t>Security features</a:t>
            </a:r>
            <a:endParaRPr lang="en-US" sz="4800" b="1" dirty="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F616AE-9631-F01A-026C-745415EC1DDA}"/>
              </a:ext>
            </a:extLst>
          </p:cNvPr>
          <p:cNvSpPr txBox="1"/>
          <p:nvPr/>
        </p:nvSpPr>
        <p:spPr>
          <a:xfrm>
            <a:off x="518473" y="1432874"/>
            <a:ext cx="11576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IAM</a:t>
            </a:r>
            <a:r>
              <a:rPr lang="en-IN" dirty="0"/>
              <a:t> - </a:t>
            </a:r>
            <a:r>
              <a:rPr lang="en-US" dirty="0"/>
              <a:t>A security model that controls who can access cloud computing resources and what they can do on those resources through roles and permissions.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E144DC-F7BA-686C-304F-CD459ABFF133}"/>
              </a:ext>
            </a:extLst>
          </p:cNvPr>
          <p:cNvSpPr txBox="1"/>
          <p:nvPr/>
        </p:nvSpPr>
        <p:spPr>
          <a:xfrm>
            <a:off x="603316" y="2536448"/>
            <a:ext cx="532614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Data Lake – IAM Security: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File and Folder Access at the Object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Bucket Permissions for Storage Containers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Least Privilege Roles to Secure Raw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Service Account Permissions for ETL/ML Pipelines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Logging File Access Events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062C1-09DB-05EF-6F09-E04B6BBA227F}"/>
              </a:ext>
            </a:extLst>
          </p:cNvPr>
          <p:cNvSpPr txBox="1"/>
          <p:nvPr/>
        </p:nvSpPr>
        <p:spPr>
          <a:xfrm>
            <a:off x="5676508" y="4141805"/>
            <a:ext cx="57770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Data Warehouse – IAM Security: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Structured data access from dataset/table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Row and column level access control for sensitive data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SQL permissions for queries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Role based hierarchies for BI/analytical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Audit of queries executed to monitor data usage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7802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2944A-D4AC-EDDF-8071-61EC8C721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BD17398-45C8-094A-69A9-0143DC19D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0527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023A7A-9729-3DD3-C217-B848B9366A8A}"/>
              </a:ext>
            </a:extLst>
          </p:cNvPr>
          <p:cNvSpPr txBox="1"/>
          <p:nvPr/>
        </p:nvSpPr>
        <p:spPr>
          <a:xfrm>
            <a:off x="2667786" y="5373278"/>
            <a:ext cx="2007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1EC6C8-1D86-B517-73B5-FB4935BF6476}"/>
              </a:ext>
            </a:extLst>
          </p:cNvPr>
          <p:cNvSpPr txBox="1"/>
          <p:nvPr/>
        </p:nvSpPr>
        <p:spPr>
          <a:xfrm>
            <a:off x="4534293" y="5878455"/>
            <a:ext cx="2007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Google Cloud IAM</a:t>
            </a:r>
          </a:p>
        </p:txBody>
      </p:sp>
    </p:spTree>
    <p:extLst>
      <p:ext uri="{BB962C8B-B14F-4D97-AF65-F5344CB8AC3E}">
        <p14:creationId xmlns:p14="http://schemas.microsoft.com/office/powerpoint/2010/main" val="15400120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C984E-9C3F-7E87-6616-BB7F1E82B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FE09669A-2557-DE79-831C-2A58A7B75ABB}"/>
              </a:ext>
            </a:extLst>
          </p:cNvPr>
          <p:cNvSpPr txBox="1"/>
          <p:nvPr/>
        </p:nvSpPr>
        <p:spPr>
          <a:xfrm>
            <a:off x="2312799" y="146629"/>
            <a:ext cx="7264834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800" b="1" dirty="0">
                <a:ea typeface="Calibri"/>
                <a:cs typeface="Calibri"/>
              </a:rPr>
              <a:t> Performance &amp; Monitoring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2F00B1-3E29-5771-4D69-1B312189028D}"/>
              </a:ext>
            </a:extLst>
          </p:cNvPr>
          <p:cNvSpPr txBox="1"/>
          <p:nvPr/>
        </p:nvSpPr>
        <p:spPr>
          <a:xfrm>
            <a:off x="518475" y="1129835"/>
            <a:ext cx="736233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Data Lake: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Storage Layer: </a:t>
            </a:r>
            <a:r>
              <a:rPr lang="en-US" sz="1600" dirty="0"/>
              <a:t>Direct queries against .parquet/.csv files located directly in cloud buckets (GCS/S3).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The Heavy Lifting:</a:t>
            </a:r>
            <a:r>
              <a:rPr lang="en-US" sz="1600" dirty="0"/>
              <a:t> Each query requires listing files, reading headers, and parsing data structures every single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Latency: </a:t>
            </a:r>
            <a:r>
              <a:rPr lang="en-US" sz="1600" dirty="0"/>
              <a:t>The data has to be fetched from external storage, causing an extra network hop.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Schema-On-Read: </a:t>
            </a:r>
            <a:r>
              <a:rPr lang="en-US" sz="1600" dirty="0"/>
              <a:t>The speed will be constrained due to the database not knowing the data until it starts reading it.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FCFAF5-396C-00A3-0FD4-873396ACE48C}"/>
              </a:ext>
            </a:extLst>
          </p:cNvPr>
          <p:cNvSpPr txBox="1"/>
          <p:nvPr/>
        </p:nvSpPr>
        <p:spPr>
          <a:xfrm>
            <a:off x="4696118" y="4052033"/>
            <a:ext cx="736233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Data Lake: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Storage Approach: </a:t>
            </a:r>
            <a:r>
              <a:rPr lang="en-US" sz="1600" dirty="0"/>
              <a:t>The data has been preloaded to the database’s optimized storage.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Columnar Effectiveness: </a:t>
            </a:r>
            <a:r>
              <a:rPr lang="en-US" sz="1600" dirty="0"/>
              <a:t>It accesses only the required column, such as the fare amount, while ignoring other columns in the taxi ride.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Discovery Not Required: </a:t>
            </a:r>
            <a:r>
              <a:rPr lang="en-US" sz="1600" dirty="0"/>
              <a:t>Internal caching and metadata help; the location of 2024 data is known beforehand.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Efficient Route: </a:t>
            </a:r>
            <a:r>
              <a:rPr lang="en-US" sz="1600" dirty="0"/>
              <a:t>Removes network latency since everything stays within the native environment.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8086308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D829E-F968-DF4A-F8DC-0A20B53D5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316CB2-ED70-372E-1D4E-E41FDD857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6372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9D75C7-8C6B-77B1-C86B-09FBA9A8BC2B}"/>
              </a:ext>
            </a:extLst>
          </p:cNvPr>
          <p:cNvSpPr txBox="1"/>
          <p:nvPr/>
        </p:nvSpPr>
        <p:spPr>
          <a:xfrm>
            <a:off x="5539818" y="5773074"/>
            <a:ext cx="1112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FCD62-2E4E-314B-611E-1F50DA421DA8}"/>
              </a:ext>
            </a:extLst>
          </p:cNvPr>
          <p:cNvSpPr txBox="1"/>
          <p:nvPr/>
        </p:nvSpPr>
        <p:spPr>
          <a:xfrm>
            <a:off x="4477732" y="6278252"/>
            <a:ext cx="2846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Execution Time Comparison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361080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9DB300DF-D2DA-C817-BF02-86A1C948FF2F}"/>
              </a:ext>
            </a:extLst>
          </p:cNvPr>
          <p:cNvSpPr/>
          <p:nvPr/>
        </p:nvSpPr>
        <p:spPr>
          <a:xfrm>
            <a:off x="1879775" y="1063467"/>
            <a:ext cx="92281" cy="523017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endParaRPr lang="en-NP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F80710A-3D20-C905-9319-1B2EAD5EAE05}"/>
              </a:ext>
            </a:extLst>
          </p:cNvPr>
          <p:cNvSpPr/>
          <p:nvPr/>
        </p:nvSpPr>
        <p:spPr>
          <a:xfrm>
            <a:off x="2006082" y="979714"/>
            <a:ext cx="8305302" cy="6799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3ds SemiBold" panose="02000503020000020004" charset="0"/>
                <a:ea typeface="Calibri" panose="020F0502020204030204" pitchFamily="34" charset="-122"/>
                <a:cs typeface="3ds SemiBold" panose="02000503020000020004" charset="0"/>
              </a:rPr>
              <a:t>Synthesis</a:t>
            </a:r>
            <a:r>
              <a:rPr lang="en-US" sz="26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Lake vs Warehouse </a:t>
            </a:r>
            <a:r>
              <a:rPr lang="en-GB" altLang="en-US" sz="26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</a:t>
            </a:r>
            <a:r>
              <a:rPr lang="en-US" sz="26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Found</a:t>
            </a:r>
            <a:r>
              <a:rPr lang="en-GB" altLang="en-US" sz="26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DEDF1A6D-E5FA-ED84-D020-1DDE8A61DD2E}"/>
              </a:ext>
            </a:extLst>
          </p:cNvPr>
          <p:cNvSpPr/>
          <p:nvPr/>
        </p:nvSpPr>
        <p:spPr>
          <a:xfrm>
            <a:off x="1896354" y="1638434"/>
            <a:ext cx="8305302" cy="313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2.96 million</a:t>
            </a:r>
            <a:r>
              <a:rPr lang="en-GB" altLang="en-US" sz="13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3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 NYC Yellow Taxi dataset, two architectures, two very different trade</a:t>
            </a:r>
            <a:r>
              <a:rPr lang="en-GB" altLang="en-US" sz="13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3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offs.</a:t>
            </a:r>
            <a:endParaRPr lang="en-US" sz="13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16971C85-56E2-C8F6-75B5-A57CD0480B07}"/>
              </a:ext>
            </a:extLst>
          </p:cNvPr>
          <p:cNvSpPr/>
          <p:nvPr/>
        </p:nvSpPr>
        <p:spPr>
          <a:xfrm>
            <a:off x="1934626" y="1667824"/>
            <a:ext cx="4106510" cy="37134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18C6C5B8-00AB-6185-79CC-582697E8BAA9}"/>
              </a:ext>
            </a:extLst>
          </p:cNvPr>
          <p:cNvSpPr/>
          <p:nvPr/>
        </p:nvSpPr>
        <p:spPr>
          <a:xfrm>
            <a:off x="1971383" y="1667824"/>
            <a:ext cx="73825" cy="371342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NP"/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38A766E1-7471-8ED8-5C29-92B32CC9D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332" y="2273248"/>
            <a:ext cx="355652" cy="355652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E0B42AA3-0ADA-4C97-B462-E457F4079E55}"/>
              </a:ext>
            </a:extLst>
          </p:cNvPr>
          <p:cNvSpPr/>
          <p:nvPr/>
        </p:nvSpPr>
        <p:spPr>
          <a:xfrm>
            <a:off x="2582696" y="2244500"/>
            <a:ext cx="3229840" cy="36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kern="0" spc="2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LAKE</a:t>
            </a:r>
            <a:endParaRPr lang="en-US" sz="14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AB7183CB-DE39-B4B4-23E8-953E20C720C3}"/>
              </a:ext>
            </a:extLst>
          </p:cNvPr>
          <p:cNvSpPr/>
          <p:nvPr/>
        </p:nvSpPr>
        <p:spPr>
          <a:xfrm>
            <a:off x="2575741" y="2446774"/>
            <a:ext cx="3229840" cy="313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External Table on GCS (Parquet)</a:t>
            </a:r>
            <a:endParaRPr lang="en-US" sz="11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E4CB3A0-4464-2D2A-8DAB-18CF1E1B5187}"/>
              </a:ext>
            </a:extLst>
          </p:cNvPr>
          <p:cNvSpPr/>
          <p:nvPr/>
        </p:nvSpPr>
        <p:spPr>
          <a:xfrm>
            <a:off x="2194022" y="2622418"/>
            <a:ext cx="3737386" cy="2667386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</a:t>
            </a:r>
            <a:r>
              <a:rPr lang="en-GB" alt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</a:t>
            </a:r>
            <a:r>
              <a:rPr lang="en-GB" alt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</a:t>
            </a:r>
            <a:r>
              <a:rPr lang="en-GB" alt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</a:t>
            </a: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flexible, schema applied at query time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Raw, semi-structured </a:t>
            </a:r>
            <a:r>
              <a:rPr lang="en-GB" alt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</a:t>
            </a: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structured data co-exist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Lower storage cost 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Slower scan</a:t>
            </a:r>
            <a:r>
              <a:rPr lang="en-GB" alt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</a:t>
            </a: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 reads files directly from GCS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Ideal for ML </a:t>
            </a:r>
            <a:r>
              <a:rPr lang="en-GB" alt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</a:t>
            </a: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exploratory analytics</a:t>
            </a:r>
            <a:endParaRPr lang="en-US" sz="115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B0C634DE-5143-0CC7-FDDD-05B75B34E2A7}"/>
              </a:ext>
            </a:extLst>
          </p:cNvPr>
          <p:cNvSpPr/>
          <p:nvPr/>
        </p:nvSpPr>
        <p:spPr>
          <a:xfrm>
            <a:off x="6095146" y="1667824"/>
            <a:ext cx="4106510" cy="37134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01765018-68BE-481C-C50D-FCD97E5A6CCA}"/>
              </a:ext>
            </a:extLst>
          </p:cNvPr>
          <p:cNvSpPr/>
          <p:nvPr/>
        </p:nvSpPr>
        <p:spPr>
          <a:xfrm>
            <a:off x="6131903" y="1667824"/>
            <a:ext cx="73825" cy="371342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endParaRPr lang="en-NP"/>
          </a:p>
        </p:txBody>
      </p:sp>
      <p:pic>
        <p:nvPicPr>
          <p:cNvPr id="15" name="Image 1">
            <a:extLst>
              <a:ext uri="{FF2B5EF4-FFF2-40B4-BE49-F238E27FC236}">
                <a16:creationId xmlns:a16="http://schemas.microsoft.com/office/drawing/2014/main" id="{34BFA938-A3DF-A9F4-43EF-4360EE370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852" y="2273248"/>
            <a:ext cx="355652" cy="355652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0FC44745-12AC-02BA-0930-28BD387D36CE}"/>
              </a:ext>
            </a:extLst>
          </p:cNvPr>
          <p:cNvSpPr/>
          <p:nvPr/>
        </p:nvSpPr>
        <p:spPr>
          <a:xfrm>
            <a:off x="6743216" y="2244500"/>
            <a:ext cx="3229840" cy="36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kern="0" spc="200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WAREHOUSE</a:t>
            </a:r>
            <a:endParaRPr lang="en-US" sz="14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5DFAA0BF-F30A-8030-0811-2FCFD9A96712}"/>
              </a:ext>
            </a:extLst>
          </p:cNvPr>
          <p:cNvSpPr/>
          <p:nvPr/>
        </p:nvSpPr>
        <p:spPr>
          <a:xfrm>
            <a:off x="6743216" y="2427556"/>
            <a:ext cx="3229840" cy="313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Native Table in BigQuery</a:t>
            </a:r>
            <a:endParaRPr lang="en-US" sz="11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DCF57168-4F1B-614B-E6CB-A152E27B7A34}"/>
              </a:ext>
            </a:extLst>
          </p:cNvPr>
          <p:cNvSpPr/>
          <p:nvPr/>
        </p:nvSpPr>
        <p:spPr>
          <a:xfrm>
            <a:off x="6354542" y="2622418"/>
            <a:ext cx="3737386" cy="2667386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</a:t>
            </a:r>
            <a:r>
              <a:rPr lang="en-GB" alt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</a:t>
            </a:r>
            <a:r>
              <a:rPr lang="en-GB" alt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data validated and curated on load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Columnar, partitioned, clustered &amp; optimised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Higher storage cost, but managed compute is fast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Native table outperformed external on execution time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Ideal for governed BI, reporting &amp; dashboards</a:t>
            </a:r>
            <a:endParaRPr lang="en-US" sz="115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FBBFFC1D-1F28-6C7A-0614-261C7FE5317E}"/>
              </a:ext>
            </a:extLst>
          </p:cNvPr>
          <p:cNvSpPr/>
          <p:nvPr/>
        </p:nvSpPr>
        <p:spPr>
          <a:xfrm>
            <a:off x="1830148" y="5531216"/>
            <a:ext cx="5536868" cy="2615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en-US" sz="9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Asish Bhusal 260039158</a:t>
            </a:r>
          </a:p>
        </p:txBody>
      </p:sp>
    </p:spTree>
    <p:extLst>
      <p:ext uri="{BB962C8B-B14F-4D97-AF65-F5344CB8AC3E}">
        <p14:creationId xmlns:p14="http://schemas.microsoft.com/office/powerpoint/2010/main" val="7447274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6ED52E5B-DE7A-0BD2-406E-B3E3D9EFD571}"/>
              </a:ext>
            </a:extLst>
          </p:cNvPr>
          <p:cNvSpPr/>
          <p:nvPr/>
        </p:nvSpPr>
        <p:spPr>
          <a:xfrm>
            <a:off x="2081784" y="1065276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Business Insights from Our Analysis</a:t>
            </a:r>
            <a:endParaRPr lang="en-US" sz="26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5425D854-99D8-962B-B430-5387706603BF}"/>
              </a:ext>
            </a:extLst>
          </p:cNvPr>
          <p:cNvSpPr/>
          <p:nvPr/>
        </p:nvSpPr>
        <p:spPr>
          <a:xfrm>
            <a:off x="1972056" y="167792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queries on a cleaned 2.75M-row table revealed actionable patterns for NYC TLC.</a:t>
            </a:r>
            <a:endParaRPr lang="en-US" sz="13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91081B30-81A0-09CA-0FA3-AA6140DC82B4}"/>
              </a:ext>
            </a:extLst>
          </p:cNvPr>
          <p:cNvSpPr/>
          <p:nvPr/>
        </p:nvSpPr>
        <p:spPr>
          <a:xfrm>
            <a:off x="1972056" y="2135124"/>
            <a:ext cx="406908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2F029CE-637A-88A2-1412-7BAA5FEED1B4}"/>
              </a:ext>
            </a:extLst>
          </p:cNvPr>
          <p:cNvSpPr/>
          <p:nvPr/>
        </p:nvSpPr>
        <p:spPr>
          <a:xfrm>
            <a:off x="1972056" y="2135124"/>
            <a:ext cx="73152" cy="150876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NP"/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5D0C9F58-DF11-C33A-C87F-DB0B45CDC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656" y="2363724"/>
            <a:ext cx="347472" cy="347472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29F081C0-4C16-BE6F-8B4F-58C53FA0DF0B}"/>
              </a:ext>
            </a:extLst>
          </p:cNvPr>
          <p:cNvSpPr/>
          <p:nvPr/>
        </p:nvSpPr>
        <p:spPr>
          <a:xfrm>
            <a:off x="2154936" y="2729484"/>
            <a:ext cx="1691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84%</a:t>
            </a:r>
            <a:endParaRPr lang="en-US" sz="40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36A1DA9-302A-1DBE-884E-1CDAAA3FD5F2}"/>
              </a:ext>
            </a:extLst>
          </p:cNvPr>
          <p:cNvSpPr/>
          <p:nvPr/>
        </p:nvSpPr>
        <p:spPr>
          <a:xfrm>
            <a:off x="3892296" y="2409444"/>
            <a:ext cx="20116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trips paid by credit card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$64.5M revenue, $4.16 avg tip</a:t>
            </a:r>
            <a:endParaRPr lang="en-US" sz="115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BD1F9235-48C9-1ADB-4036-A9CBA550EA65}"/>
              </a:ext>
            </a:extLst>
          </p:cNvPr>
          <p:cNvSpPr/>
          <p:nvPr/>
        </p:nvSpPr>
        <p:spPr>
          <a:xfrm>
            <a:off x="6132576" y="2135124"/>
            <a:ext cx="406908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58BAF29A-2E73-F0F3-C88B-B0B4C57DA3BE}"/>
              </a:ext>
            </a:extLst>
          </p:cNvPr>
          <p:cNvSpPr/>
          <p:nvPr/>
        </p:nvSpPr>
        <p:spPr>
          <a:xfrm>
            <a:off x="6132576" y="2135124"/>
            <a:ext cx="73152" cy="15087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endParaRPr lang="en-NP"/>
          </a:p>
        </p:txBody>
      </p:sp>
      <p:pic>
        <p:nvPicPr>
          <p:cNvPr id="14" name="Image 1">
            <a:extLst>
              <a:ext uri="{FF2B5EF4-FFF2-40B4-BE49-F238E27FC236}">
                <a16:creationId xmlns:a16="http://schemas.microsoft.com/office/drawing/2014/main" id="{ACD4311F-18BA-785D-D821-3F6BB4B77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176" y="2363724"/>
            <a:ext cx="347472" cy="347472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31CF84C5-A63B-B4F2-DDFF-DC433009E098}"/>
              </a:ext>
            </a:extLst>
          </p:cNvPr>
          <p:cNvSpPr/>
          <p:nvPr/>
        </p:nvSpPr>
        <p:spPr>
          <a:xfrm>
            <a:off x="6315456" y="2729484"/>
            <a:ext cx="1691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PM</a:t>
            </a:r>
            <a:endParaRPr lang="en-US" sz="40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68D2C7D3-5DA9-4E16-6517-EB0B043746DA}"/>
              </a:ext>
            </a:extLst>
          </p:cNvPr>
          <p:cNvSpPr/>
          <p:nvPr/>
        </p:nvSpPr>
        <p:spPr>
          <a:xfrm>
            <a:off x="8052816" y="2409444"/>
            <a:ext cx="20116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peak demand hour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198,014 trips on a single hour</a:t>
            </a:r>
            <a:endParaRPr lang="en-US" sz="115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CAD4274A-2254-6C43-5F1F-C60E3AA87234}"/>
              </a:ext>
            </a:extLst>
          </p:cNvPr>
          <p:cNvSpPr/>
          <p:nvPr/>
        </p:nvSpPr>
        <p:spPr>
          <a:xfrm>
            <a:off x="1972056" y="3735324"/>
            <a:ext cx="406908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79355493-0483-8C56-A835-ED84F2517208}"/>
              </a:ext>
            </a:extLst>
          </p:cNvPr>
          <p:cNvSpPr/>
          <p:nvPr/>
        </p:nvSpPr>
        <p:spPr>
          <a:xfrm>
            <a:off x="1972056" y="3735324"/>
            <a:ext cx="73152" cy="150876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en-NP"/>
          </a:p>
        </p:txBody>
      </p:sp>
      <p:pic>
        <p:nvPicPr>
          <p:cNvPr id="19" name="Image 2">
            <a:extLst>
              <a:ext uri="{FF2B5EF4-FFF2-40B4-BE49-F238E27FC236}">
                <a16:creationId xmlns:a16="http://schemas.microsoft.com/office/drawing/2014/main" id="{4D753ECC-1BDB-5B6F-A906-CBC4468FE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656" y="3963924"/>
            <a:ext cx="347472" cy="347472"/>
          </a:xfrm>
          <a:prstGeom prst="rect">
            <a:avLst/>
          </a:prstGeom>
        </p:spPr>
      </p:pic>
      <p:sp>
        <p:nvSpPr>
          <p:cNvPr id="20" name="Text 13">
            <a:extLst>
              <a:ext uri="{FF2B5EF4-FFF2-40B4-BE49-F238E27FC236}">
                <a16:creationId xmlns:a16="http://schemas.microsoft.com/office/drawing/2014/main" id="{E5F534DF-F556-6DA7-96EB-0786A02F1E99}"/>
              </a:ext>
            </a:extLst>
          </p:cNvPr>
          <p:cNvSpPr/>
          <p:nvPr/>
        </p:nvSpPr>
        <p:spPr>
          <a:xfrm>
            <a:off x="2161921" y="4329684"/>
            <a:ext cx="1691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76%</a:t>
            </a:r>
            <a:endParaRPr lang="en-US" sz="40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53C227B7-C3AE-E0D8-2B53-453D032A1C83}"/>
              </a:ext>
            </a:extLst>
          </p:cNvPr>
          <p:cNvSpPr/>
          <p:nvPr/>
        </p:nvSpPr>
        <p:spPr>
          <a:xfrm>
            <a:off x="3892296" y="4009644"/>
            <a:ext cx="20116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vendor market share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VeriFone Inc dominates over CMT</a:t>
            </a:r>
            <a:endParaRPr lang="en-US" sz="1150" dirty="0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299858BC-F131-2C7E-578A-B8460A2E4C11}"/>
              </a:ext>
            </a:extLst>
          </p:cNvPr>
          <p:cNvSpPr/>
          <p:nvPr/>
        </p:nvSpPr>
        <p:spPr>
          <a:xfrm>
            <a:off x="6132576" y="3735324"/>
            <a:ext cx="406908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F93F4EA0-7B54-0838-F29D-8271C2965636}"/>
              </a:ext>
            </a:extLst>
          </p:cNvPr>
          <p:cNvSpPr/>
          <p:nvPr/>
        </p:nvSpPr>
        <p:spPr>
          <a:xfrm>
            <a:off x="6132576" y="3735324"/>
            <a:ext cx="73152" cy="150876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NP"/>
          </a:p>
        </p:txBody>
      </p:sp>
      <p:pic>
        <p:nvPicPr>
          <p:cNvPr id="24" name="Image 3">
            <a:extLst>
              <a:ext uri="{FF2B5EF4-FFF2-40B4-BE49-F238E27FC236}">
                <a16:creationId xmlns:a16="http://schemas.microsoft.com/office/drawing/2014/main" id="{2274DE13-D643-BD2C-515A-9515E24224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176" y="3963924"/>
            <a:ext cx="347472" cy="347472"/>
          </a:xfrm>
          <a:prstGeom prst="rect">
            <a:avLst/>
          </a:prstGeom>
        </p:spPr>
      </p:pic>
      <p:sp>
        <p:nvSpPr>
          <p:cNvPr id="25" name="Text 17">
            <a:extLst>
              <a:ext uri="{FF2B5EF4-FFF2-40B4-BE49-F238E27FC236}">
                <a16:creationId xmlns:a16="http://schemas.microsoft.com/office/drawing/2014/main" id="{346A08ED-CD6F-649F-BE5C-F7522C9803A1}"/>
              </a:ext>
            </a:extLst>
          </p:cNvPr>
          <p:cNvSpPr/>
          <p:nvPr/>
        </p:nvSpPr>
        <p:spPr>
          <a:xfrm>
            <a:off x="6315456" y="4329684"/>
            <a:ext cx="1691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Thu</a:t>
            </a:r>
            <a:endParaRPr lang="en-US" sz="400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3BF6ADC2-98F5-4DAC-F276-C316130617BB}"/>
              </a:ext>
            </a:extLst>
          </p:cNvPr>
          <p:cNvSpPr/>
          <p:nvPr/>
        </p:nvSpPr>
        <p:spPr>
          <a:xfrm>
            <a:off x="8052816" y="4009644"/>
            <a:ext cx="20116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strongest weekday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Sundays are the weakest</a:t>
            </a:r>
            <a:endParaRPr lang="en-US" sz="1150" dirty="0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3B744011-F5A2-B9A3-E859-3DAFBF8711F9}"/>
              </a:ext>
            </a:extLst>
          </p:cNvPr>
          <p:cNvSpPr/>
          <p:nvPr/>
        </p:nvSpPr>
        <p:spPr>
          <a:xfrm>
            <a:off x="1972056" y="52898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i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Recommendation: </a:t>
            </a:r>
            <a:r>
              <a:rPr lang="en-US" sz="1150" i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pricing in 4–7 PM peaks · supply scheduling on Thu/Fri · contactless-first driver incentives.</a:t>
            </a:r>
            <a:endParaRPr lang="en-US" sz="1150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03769BD6-14B0-3304-B0E1-CD98B4F91F48}"/>
              </a:ext>
            </a:extLst>
          </p:cNvPr>
          <p:cNvSpPr/>
          <p:nvPr/>
        </p:nvSpPr>
        <p:spPr>
          <a:xfrm>
            <a:off x="1880616" y="556412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en-US" sz="9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Asish Bhusal 260039158</a:t>
            </a:r>
          </a:p>
        </p:txBody>
      </p:sp>
      <p:pic>
        <p:nvPicPr>
          <p:cNvPr id="1026" name="Picture 2" descr="Nine Tips to Improve Your Business Insights">
            <a:extLst>
              <a:ext uri="{FF2B5EF4-FFF2-40B4-BE49-F238E27FC236}">
                <a16:creationId xmlns:a16="http://schemas.microsoft.com/office/drawing/2014/main" id="{08E379AB-7752-489C-CC00-05E8FF634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62" y="1029913"/>
            <a:ext cx="1226822" cy="594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8139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6F20E9F-B488-7E22-9F5E-E5C9C14FE9EB}"/>
              </a:ext>
            </a:extLst>
          </p:cNvPr>
          <p:cNvSpPr/>
          <p:nvPr/>
        </p:nvSpPr>
        <p:spPr>
          <a:xfrm>
            <a:off x="2081784" y="1065276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to Use Which? 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DB224FB-7791-0771-CBF2-9F297D4BDA22}"/>
              </a:ext>
            </a:extLst>
          </p:cNvPr>
          <p:cNvSpPr/>
          <p:nvPr/>
        </p:nvSpPr>
        <p:spPr>
          <a:xfrm>
            <a:off x="1972056" y="167792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There is no universal winner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50CDE7C-56E9-2C9B-A3F1-D246293F89F6}"/>
              </a:ext>
            </a:extLst>
          </p:cNvPr>
          <p:cNvSpPr/>
          <p:nvPr/>
        </p:nvSpPr>
        <p:spPr>
          <a:xfrm>
            <a:off x="1986026" y="2135124"/>
            <a:ext cx="2697480" cy="3246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2B8D3CA-86CA-AFA9-527E-27395DFDBE8F}"/>
              </a:ext>
            </a:extLst>
          </p:cNvPr>
          <p:cNvSpPr/>
          <p:nvPr/>
        </p:nvSpPr>
        <p:spPr>
          <a:xfrm>
            <a:off x="1972056" y="2135124"/>
            <a:ext cx="2697480" cy="73152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NP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CA1B33E-7C6E-D7F8-3C66-1AA465BE550E}"/>
              </a:ext>
            </a:extLst>
          </p:cNvPr>
          <p:cNvSpPr/>
          <p:nvPr/>
        </p:nvSpPr>
        <p:spPr>
          <a:xfrm>
            <a:off x="2136648" y="2345436"/>
            <a:ext cx="438912" cy="438912"/>
          </a:xfrm>
          <a:prstGeom prst="ellipse">
            <a:avLst/>
          </a:prstGeom>
          <a:solidFill>
            <a:srgbClr val="0D9488"/>
          </a:solidFill>
        </p:spPr>
        <p:txBody>
          <a:bodyPr/>
          <a:lstStyle/>
          <a:p>
            <a:endParaRPr lang="en-NP"/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9664F7FE-98DA-D781-997D-77F6EF7A2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088" y="2436876"/>
            <a:ext cx="256032" cy="256032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A85B6839-A765-6E3B-5668-5BDAA4C3D5F1}"/>
              </a:ext>
            </a:extLst>
          </p:cNvPr>
          <p:cNvSpPr/>
          <p:nvPr/>
        </p:nvSpPr>
        <p:spPr>
          <a:xfrm>
            <a:off x="2657856" y="234543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CHOOSE A DATA LAKE</a:t>
            </a:r>
            <a:endParaRPr lang="en-US" sz="1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E082172-04BB-4BC4-5021-D08ABA8037FC}"/>
              </a:ext>
            </a:extLst>
          </p:cNvPr>
          <p:cNvSpPr/>
          <p:nvPr/>
        </p:nvSpPr>
        <p:spPr>
          <a:xfrm>
            <a:off x="2657856" y="259232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(e.g. GCS + external tables)</a:t>
            </a:r>
            <a:endParaRPr lang="en-US" sz="9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E780220-16AD-18D3-A893-3953ECD71DA1}"/>
              </a:ext>
            </a:extLst>
          </p:cNvPr>
          <p:cNvSpPr/>
          <p:nvPr/>
        </p:nvSpPr>
        <p:spPr>
          <a:xfrm>
            <a:off x="2136648" y="2912364"/>
            <a:ext cx="2423160" cy="2331720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Raw, semi-structured or unstructured data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Data-science &amp; ML workloads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 evolves frequently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 cost is the binding constraint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Exploratory, ad-hoc analytics</a:t>
            </a:r>
            <a:endParaRPr lang="en-US" sz="10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54D46E52-D936-9054-E13F-209F15AD6BF4}"/>
              </a:ext>
            </a:extLst>
          </p:cNvPr>
          <p:cNvSpPr/>
          <p:nvPr/>
        </p:nvSpPr>
        <p:spPr>
          <a:xfrm>
            <a:off x="4760976" y="2135124"/>
            <a:ext cx="2697480" cy="3246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98C2B801-B5BC-3222-7743-1939B8258EBD}"/>
              </a:ext>
            </a:extLst>
          </p:cNvPr>
          <p:cNvSpPr/>
          <p:nvPr/>
        </p:nvSpPr>
        <p:spPr>
          <a:xfrm>
            <a:off x="4760976" y="2135124"/>
            <a:ext cx="2697480" cy="73152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endParaRPr lang="en-NP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C509833-B62C-451B-B03A-697EBC044709}"/>
              </a:ext>
            </a:extLst>
          </p:cNvPr>
          <p:cNvSpPr/>
          <p:nvPr/>
        </p:nvSpPr>
        <p:spPr>
          <a:xfrm>
            <a:off x="4925568" y="2345436"/>
            <a:ext cx="438912" cy="438912"/>
          </a:xfrm>
          <a:prstGeom prst="ellipse">
            <a:avLst/>
          </a:prstGeom>
          <a:solidFill>
            <a:srgbClr val="1E3A5F"/>
          </a:solidFill>
        </p:spPr>
        <p:txBody>
          <a:bodyPr/>
          <a:lstStyle/>
          <a:p>
            <a:endParaRPr lang="en-NP"/>
          </a:p>
        </p:txBody>
      </p:sp>
      <p:pic>
        <p:nvPicPr>
          <p:cNvPr id="15" name="Image 1">
            <a:extLst>
              <a:ext uri="{FF2B5EF4-FFF2-40B4-BE49-F238E27FC236}">
                <a16:creationId xmlns:a16="http://schemas.microsoft.com/office/drawing/2014/main" id="{9EEE874F-4F2E-D3B3-BADC-AE2DCACF7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7008" y="2436876"/>
            <a:ext cx="256032" cy="256032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65138960-5F30-11F5-F820-0B6F105DD039}"/>
              </a:ext>
            </a:extLst>
          </p:cNvPr>
          <p:cNvSpPr/>
          <p:nvPr/>
        </p:nvSpPr>
        <p:spPr>
          <a:xfrm>
            <a:off x="5446776" y="234543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CHOOSE A DATA WAREHOUSE</a:t>
            </a:r>
            <a:endParaRPr lang="en-US" sz="12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CA5B94D3-785B-5548-1FED-B90FC46F0AB7}"/>
              </a:ext>
            </a:extLst>
          </p:cNvPr>
          <p:cNvSpPr/>
          <p:nvPr/>
        </p:nvSpPr>
        <p:spPr>
          <a:xfrm>
            <a:off x="5446776" y="259232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(e.g. BigQuery native tables)</a:t>
            </a:r>
            <a:endParaRPr lang="en-US" sz="95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203B9E88-27B1-AC49-22B6-4467BF708F8A}"/>
              </a:ext>
            </a:extLst>
          </p:cNvPr>
          <p:cNvSpPr/>
          <p:nvPr/>
        </p:nvSpPr>
        <p:spPr>
          <a:xfrm>
            <a:off x="4925568" y="2912364"/>
            <a:ext cx="2423160" cy="2331720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Curated, structured, business-critical data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 dashboards &amp; frequent reporting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Sub-second query latency required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governance &amp; access controls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Predictable, well-known schemas</a:t>
            </a:r>
            <a:endParaRPr lang="en-US" sz="1050" dirty="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DDA9B5F5-1BAC-79A8-5303-2DAC1D5A1433}"/>
              </a:ext>
            </a:extLst>
          </p:cNvPr>
          <p:cNvSpPr/>
          <p:nvPr/>
        </p:nvSpPr>
        <p:spPr>
          <a:xfrm>
            <a:off x="7549896" y="2135124"/>
            <a:ext cx="2697480" cy="3246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D3BBDD4B-B292-511F-BFAB-82D520C2DA23}"/>
              </a:ext>
            </a:extLst>
          </p:cNvPr>
          <p:cNvSpPr/>
          <p:nvPr/>
        </p:nvSpPr>
        <p:spPr>
          <a:xfrm>
            <a:off x="7549896" y="2135124"/>
            <a:ext cx="2697480" cy="73152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en-NP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F23F041D-84B8-576D-2FD1-06E6547A2835}"/>
              </a:ext>
            </a:extLst>
          </p:cNvPr>
          <p:cNvSpPr/>
          <p:nvPr/>
        </p:nvSpPr>
        <p:spPr>
          <a:xfrm>
            <a:off x="7714488" y="2345436"/>
            <a:ext cx="438912" cy="438912"/>
          </a:xfrm>
          <a:prstGeom prst="ellipse">
            <a:avLst/>
          </a:prstGeom>
          <a:solidFill>
            <a:srgbClr val="F59E0B"/>
          </a:solidFill>
        </p:spPr>
        <p:txBody>
          <a:bodyPr/>
          <a:lstStyle/>
          <a:p>
            <a:endParaRPr lang="en-NP"/>
          </a:p>
        </p:txBody>
      </p:sp>
      <p:pic>
        <p:nvPicPr>
          <p:cNvPr id="22" name="Image 2">
            <a:extLst>
              <a:ext uri="{FF2B5EF4-FFF2-40B4-BE49-F238E27FC236}">
                <a16:creationId xmlns:a16="http://schemas.microsoft.com/office/drawing/2014/main" id="{60B28139-C5F2-FBD7-A7E5-C0AF83320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928" y="2436876"/>
            <a:ext cx="256032" cy="256032"/>
          </a:xfrm>
          <a:prstGeom prst="rect">
            <a:avLst/>
          </a:prstGeom>
        </p:spPr>
      </p:pic>
      <p:sp>
        <p:nvSpPr>
          <p:cNvPr id="23" name="Text 18">
            <a:extLst>
              <a:ext uri="{FF2B5EF4-FFF2-40B4-BE49-F238E27FC236}">
                <a16:creationId xmlns:a16="http://schemas.microsoft.com/office/drawing/2014/main" id="{84253B3D-71F7-6B22-0932-74AFE06F80E1}"/>
              </a:ext>
            </a:extLst>
          </p:cNvPr>
          <p:cNvSpPr/>
          <p:nvPr/>
        </p:nvSpPr>
        <p:spPr>
          <a:xfrm>
            <a:off x="8235696" y="234543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CHOOSE A LAKEHOUSE</a:t>
            </a:r>
            <a:endParaRPr lang="en-US" sz="12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D0D5AB41-7132-E046-593E-71B395656666}"/>
              </a:ext>
            </a:extLst>
          </p:cNvPr>
          <p:cNvSpPr/>
          <p:nvPr/>
        </p:nvSpPr>
        <p:spPr>
          <a:xfrm>
            <a:off x="8235696" y="2592324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(e.g. BigLake + Apache Iceberg)</a:t>
            </a:r>
            <a:endParaRPr lang="en-US" sz="95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7E36AD2D-FCFA-5AFA-E5F5-F1D181575D5A}"/>
              </a:ext>
            </a:extLst>
          </p:cNvPr>
          <p:cNvSpPr/>
          <p:nvPr/>
        </p:nvSpPr>
        <p:spPr>
          <a:xfrm>
            <a:off x="7714488" y="2912364"/>
            <a:ext cx="2423160" cy="2331720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ML and BI on the same data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Want ACID guarantees on object storage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 to avoid data duplication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table formats are a priority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Future-proofing the platform</a:t>
            </a:r>
            <a:endParaRPr lang="en-US" sz="105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2BDDA05-B008-6509-9E05-3E443669E02B}"/>
              </a:ext>
            </a:extLst>
          </p:cNvPr>
          <p:cNvSpPr/>
          <p:nvPr/>
        </p:nvSpPr>
        <p:spPr>
          <a:xfrm>
            <a:off x="1880616" y="556412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en-US" sz="9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Asish Bhusal 260039158</a:t>
            </a:r>
          </a:p>
        </p:txBody>
      </p:sp>
    </p:spTree>
    <p:extLst>
      <p:ext uri="{BB962C8B-B14F-4D97-AF65-F5344CB8AC3E}">
        <p14:creationId xmlns:p14="http://schemas.microsoft.com/office/powerpoint/2010/main" val="20936777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186846C-92F6-8244-C853-6F00A7E3A897}"/>
              </a:ext>
            </a:extLst>
          </p:cNvPr>
          <p:cNvSpPr/>
          <p:nvPr/>
        </p:nvSpPr>
        <p:spPr>
          <a:xfrm>
            <a:off x="2081784" y="1065276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Lakehouse: Convergence of Two Paradigms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DEE8793-7969-350C-5310-F67993E3C81A}"/>
              </a:ext>
            </a:extLst>
          </p:cNvPr>
          <p:cNvSpPr/>
          <p:nvPr/>
        </p:nvSpPr>
        <p:spPr>
          <a:xfrm>
            <a:off x="1972056" y="167792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architectures dissolve the lake vs warehouse trade-off (Armbrust et al., 2021).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3E3DC93-8390-4712-6C0E-7D2B70C1B433}"/>
              </a:ext>
            </a:extLst>
          </p:cNvPr>
          <p:cNvSpPr/>
          <p:nvPr/>
        </p:nvSpPr>
        <p:spPr>
          <a:xfrm>
            <a:off x="1972056" y="2226564"/>
            <a:ext cx="2331720" cy="1325880"/>
          </a:xfrm>
          <a:prstGeom prst="rect">
            <a:avLst/>
          </a:prstGeom>
          <a:solidFill>
            <a:srgbClr val="0D9488"/>
          </a:solidFill>
        </p:spPr>
        <p:txBody>
          <a:bodyPr/>
          <a:lstStyle/>
          <a:p>
            <a:endParaRPr lang="en-NP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1DE2657-171B-7C2E-5879-1F95613B0F2D}"/>
              </a:ext>
            </a:extLst>
          </p:cNvPr>
          <p:cNvSpPr/>
          <p:nvPr/>
        </p:nvSpPr>
        <p:spPr>
          <a:xfrm>
            <a:off x="1972056" y="239115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LAKE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0242915-5DA2-E931-03C5-3D42135BD1EC}"/>
              </a:ext>
            </a:extLst>
          </p:cNvPr>
          <p:cNvSpPr/>
          <p:nvPr/>
        </p:nvSpPr>
        <p:spPr>
          <a:xfrm>
            <a:off x="1972056" y="272948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Cheap, flexible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 storage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C3220AB-D627-A835-AF32-D0EA7F51ADFC}"/>
              </a:ext>
            </a:extLst>
          </p:cNvPr>
          <p:cNvSpPr/>
          <p:nvPr/>
        </p:nvSpPr>
        <p:spPr>
          <a:xfrm>
            <a:off x="4349496" y="2226564"/>
            <a:ext cx="41148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</a:t>
            </a:r>
            <a:endParaRPr lang="en-US" sz="3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A1C80FB-122C-D753-DA92-84A6D72A42C7}"/>
              </a:ext>
            </a:extLst>
          </p:cNvPr>
          <p:cNvSpPr/>
          <p:nvPr/>
        </p:nvSpPr>
        <p:spPr>
          <a:xfrm>
            <a:off x="4806696" y="2226564"/>
            <a:ext cx="2331720" cy="132588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endParaRPr lang="en-NP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7FCEE34-BFA3-C52C-C123-49219BFE9CBA}"/>
              </a:ext>
            </a:extLst>
          </p:cNvPr>
          <p:cNvSpPr/>
          <p:nvPr/>
        </p:nvSpPr>
        <p:spPr>
          <a:xfrm>
            <a:off x="4806696" y="239115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WAREHOUSE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6FF828B-F939-6227-69F9-2DFD942563EB}"/>
              </a:ext>
            </a:extLst>
          </p:cNvPr>
          <p:cNvSpPr/>
          <p:nvPr/>
        </p:nvSpPr>
        <p:spPr>
          <a:xfrm>
            <a:off x="4806696" y="272948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queries, ACID,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governance</a:t>
            </a:r>
            <a:endParaRPr lang="en-US" sz="1100" dirty="0"/>
          </a:p>
        </p:txBody>
      </p:sp>
      <p:pic>
        <p:nvPicPr>
          <p:cNvPr id="12" name="Image 0">
            <a:extLst>
              <a:ext uri="{FF2B5EF4-FFF2-40B4-BE49-F238E27FC236}">
                <a16:creationId xmlns:a16="http://schemas.microsoft.com/office/drawing/2014/main" id="{87F8E337-AB24-8E31-DAB8-08D9C3555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576" y="2638044"/>
            <a:ext cx="502920" cy="502920"/>
          </a:xfrm>
          <a:prstGeom prst="rect">
            <a:avLst/>
          </a:prstGeom>
        </p:spPr>
      </p:pic>
      <p:sp>
        <p:nvSpPr>
          <p:cNvPr id="13" name="Shape 10">
            <a:extLst>
              <a:ext uri="{FF2B5EF4-FFF2-40B4-BE49-F238E27FC236}">
                <a16:creationId xmlns:a16="http://schemas.microsoft.com/office/drawing/2014/main" id="{9D60914E-B195-F970-1B9B-32D9A6A295F4}"/>
              </a:ext>
            </a:extLst>
          </p:cNvPr>
          <p:cNvSpPr/>
          <p:nvPr/>
        </p:nvSpPr>
        <p:spPr>
          <a:xfrm>
            <a:off x="7915656" y="2226564"/>
            <a:ext cx="2331720" cy="1325880"/>
          </a:xfrm>
          <a:prstGeom prst="rect">
            <a:avLst/>
          </a:prstGeom>
          <a:solidFill>
            <a:srgbClr val="F59E0B"/>
          </a:solidFill>
        </p:spPr>
        <p:txBody>
          <a:bodyPr/>
          <a:lstStyle/>
          <a:p>
            <a:endParaRPr lang="en-NP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298F80E-90D1-4A6E-AE22-A4AADA6A0B57}"/>
              </a:ext>
            </a:extLst>
          </p:cNvPr>
          <p:cNvSpPr/>
          <p:nvPr/>
        </p:nvSpPr>
        <p:spPr>
          <a:xfrm>
            <a:off x="7915656" y="239115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LAKEHOUSE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186FF26-E82E-5377-083E-FCB589295C88}"/>
              </a:ext>
            </a:extLst>
          </p:cNvPr>
          <p:cNvSpPr/>
          <p:nvPr/>
        </p:nvSpPr>
        <p:spPr>
          <a:xfrm>
            <a:off x="7915656" y="272948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table formats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object storage</a:t>
            </a:r>
            <a:endParaRPr lang="en-US" sz="11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73CD7D80-FF15-6AF7-8E77-725A530CD9F4}"/>
              </a:ext>
            </a:extLst>
          </p:cNvPr>
          <p:cNvSpPr/>
          <p:nvPr/>
        </p:nvSpPr>
        <p:spPr>
          <a:xfrm>
            <a:off x="1979041" y="3735324"/>
            <a:ext cx="82753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AB762035-66AF-9F58-4E3F-AE122B10D695}"/>
              </a:ext>
            </a:extLst>
          </p:cNvPr>
          <p:cNvSpPr/>
          <p:nvPr/>
        </p:nvSpPr>
        <p:spPr>
          <a:xfrm>
            <a:off x="2154936" y="3826764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matters for our project</a:t>
            </a:r>
            <a:endParaRPr lang="en-US" sz="13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F24A033-A2C4-5880-F0FB-373B5A572042}"/>
              </a:ext>
            </a:extLst>
          </p:cNvPr>
          <p:cNvSpPr/>
          <p:nvPr/>
        </p:nvSpPr>
        <p:spPr>
          <a:xfrm>
            <a:off x="2246376" y="4101084"/>
            <a:ext cx="7818120" cy="1280160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ACID transactions on cheap object storage , eliminates the lake/warehouse duplication tax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table formats (Apache Iceberg, Delta, Hudi) prevent vendor lock-in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Cloud's BigLake lets BigQuery query Parquet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source of truth  ML, BI and ad-hoc SQL on the same files</a:t>
            </a:r>
            <a:endParaRPr lang="en-US" sz="11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1D89DC7-FE33-4C51-51BC-9ADC0C787961}"/>
              </a:ext>
            </a:extLst>
          </p:cNvPr>
          <p:cNvSpPr/>
          <p:nvPr/>
        </p:nvSpPr>
        <p:spPr>
          <a:xfrm>
            <a:off x="1880616" y="556412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en-US" sz="9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Asish Bhusal 260039158</a:t>
            </a:r>
            <a:endParaRPr lang="en-US" sz="900" dirty="0"/>
          </a:p>
        </p:txBody>
      </p:sp>
      <p:pic>
        <p:nvPicPr>
          <p:cNvPr id="2050" name="Picture 2" descr="Lake House Icon stock vector. Illustration of home, peaceful - 369930790">
            <a:extLst>
              <a:ext uri="{FF2B5EF4-FFF2-40B4-BE49-F238E27FC236}">
                <a16:creationId xmlns:a16="http://schemas.microsoft.com/office/drawing/2014/main" id="{3A99411E-58AF-5E14-C5DA-0FFE59783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682" y="910859"/>
            <a:ext cx="990102" cy="848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10635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C15B358-A13C-5CF4-AD17-21EB55A80A45}"/>
              </a:ext>
            </a:extLst>
          </p:cNvPr>
          <p:cNvSpPr/>
          <p:nvPr/>
        </p:nvSpPr>
        <p:spPr>
          <a:xfrm>
            <a:off x="2081784" y="1065276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Work — Extending the Project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83C270-38E7-5C03-B9B7-CAD0D8D11F66}"/>
              </a:ext>
            </a:extLst>
          </p:cNvPr>
          <p:cNvSpPr/>
          <p:nvPr/>
        </p:nvSpPr>
        <p:spPr>
          <a:xfrm>
            <a:off x="1972056" y="167792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Six directions to deeper the analysis and the architecture.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9184BFE-A9ED-2B44-E948-CFD9432B990C}"/>
              </a:ext>
            </a:extLst>
          </p:cNvPr>
          <p:cNvSpPr/>
          <p:nvPr/>
        </p:nvSpPr>
        <p:spPr>
          <a:xfrm>
            <a:off x="1972056" y="2135124"/>
            <a:ext cx="26974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E604F3C-3A72-6BF6-8C0E-E01B14DF4A28}"/>
              </a:ext>
            </a:extLst>
          </p:cNvPr>
          <p:cNvSpPr/>
          <p:nvPr/>
        </p:nvSpPr>
        <p:spPr>
          <a:xfrm>
            <a:off x="2154936" y="2318004"/>
            <a:ext cx="411480" cy="411480"/>
          </a:xfrm>
          <a:prstGeom prst="ellipse">
            <a:avLst/>
          </a:prstGeom>
          <a:solidFill>
            <a:srgbClr val="0D9488"/>
          </a:solidFill>
        </p:spPr>
        <p:txBody>
          <a:bodyPr/>
          <a:lstStyle/>
          <a:p>
            <a:endParaRPr lang="en-NP"/>
          </a:p>
        </p:txBody>
      </p:sp>
      <p:pic>
        <p:nvPicPr>
          <p:cNvPr id="7" name="Image 0">
            <a:extLst>
              <a:ext uri="{FF2B5EF4-FFF2-40B4-BE49-F238E27FC236}">
                <a16:creationId xmlns:a16="http://schemas.microsoft.com/office/drawing/2014/main" id="{2C91FB98-F50B-E3CA-8F36-9B6723F8D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232" y="2400300"/>
            <a:ext cx="246888" cy="246888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EA2C126D-EEF2-FBE0-00DF-1DC1110BFC57}"/>
              </a:ext>
            </a:extLst>
          </p:cNvPr>
          <p:cNvSpPr/>
          <p:nvPr/>
        </p:nvSpPr>
        <p:spPr>
          <a:xfrm>
            <a:off x="2657856" y="233629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streaming</a:t>
            </a:r>
            <a:endParaRPr lang="en-US" sz="12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754F53A-D7F6-043F-3352-1745949E65DE}"/>
              </a:ext>
            </a:extLst>
          </p:cNvPr>
          <p:cNvSpPr/>
          <p:nvPr/>
        </p:nvSpPr>
        <p:spPr>
          <a:xfrm>
            <a:off x="2154936" y="2848356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Ingest live trip events via Pub/Sub → Dataflow → BigQuery for sub-minute dashboards.</a:t>
            </a:r>
            <a:endParaRPr lang="en-US" sz="10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E12A317-D41E-C93B-FF93-DAAE9B960B0C}"/>
              </a:ext>
            </a:extLst>
          </p:cNvPr>
          <p:cNvSpPr/>
          <p:nvPr/>
        </p:nvSpPr>
        <p:spPr>
          <a:xfrm>
            <a:off x="4760976" y="2135124"/>
            <a:ext cx="26974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1ABF38F-BD64-CE14-0C0E-125895CB23BF}"/>
              </a:ext>
            </a:extLst>
          </p:cNvPr>
          <p:cNvSpPr/>
          <p:nvPr/>
        </p:nvSpPr>
        <p:spPr>
          <a:xfrm>
            <a:off x="4943856" y="2318004"/>
            <a:ext cx="411480" cy="411480"/>
          </a:xfrm>
          <a:prstGeom prst="ellipse">
            <a:avLst/>
          </a:prstGeom>
          <a:solidFill>
            <a:srgbClr val="1E3A5F"/>
          </a:solidFill>
        </p:spPr>
        <p:txBody>
          <a:bodyPr/>
          <a:lstStyle/>
          <a:p>
            <a:endParaRPr lang="en-NP"/>
          </a:p>
        </p:txBody>
      </p:sp>
      <p:pic>
        <p:nvPicPr>
          <p:cNvPr id="12" name="Image 1">
            <a:extLst>
              <a:ext uri="{FF2B5EF4-FFF2-40B4-BE49-F238E27FC236}">
                <a16:creationId xmlns:a16="http://schemas.microsoft.com/office/drawing/2014/main" id="{0F9EC8C6-DC19-C1D0-B919-F3C01B1DA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152" y="2400300"/>
            <a:ext cx="246888" cy="246888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8CCF4A83-BAF8-E739-C91E-3FF2B04C971D}"/>
              </a:ext>
            </a:extLst>
          </p:cNvPr>
          <p:cNvSpPr/>
          <p:nvPr/>
        </p:nvSpPr>
        <p:spPr>
          <a:xfrm>
            <a:off x="5446776" y="233629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ML</a:t>
            </a:r>
            <a:endParaRPr lang="en-US" sz="125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7DA20935-9008-30F4-0702-6B4C558AEA9F}"/>
              </a:ext>
            </a:extLst>
          </p:cNvPr>
          <p:cNvSpPr/>
          <p:nvPr/>
        </p:nvSpPr>
        <p:spPr>
          <a:xfrm>
            <a:off x="4943856" y="2848356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BigQuery ML to forecast hourly demand and tip likelihood.</a:t>
            </a:r>
            <a:endParaRPr lang="en-US" sz="105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A8226922-3A87-E377-D261-C761FB1D11CA}"/>
              </a:ext>
            </a:extLst>
          </p:cNvPr>
          <p:cNvSpPr/>
          <p:nvPr/>
        </p:nvSpPr>
        <p:spPr>
          <a:xfrm>
            <a:off x="7549896" y="2135124"/>
            <a:ext cx="26974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A9A21821-EA06-74F1-78DB-229DA0AE4E62}"/>
              </a:ext>
            </a:extLst>
          </p:cNvPr>
          <p:cNvSpPr/>
          <p:nvPr/>
        </p:nvSpPr>
        <p:spPr>
          <a:xfrm>
            <a:off x="7732776" y="2318004"/>
            <a:ext cx="411480" cy="411480"/>
          </a:xfrm>
          <a:prstGeom prst="ellipse">
            <a:avLst/>
          </a:prstGeom>
          <a:solidFill>
            <a:srgbClr val="F59E0B"/>
          </a:solidFill>
        </p:spPr>
        <p:txBody>
          <a:bodyPr/>
          <a:lstStyle/>
          <a:p>
            <a:endParaRPr lang="en-NP"/>
          </a:p>
        </p:txBody>
      </p:sp>
      <p:pic>
        <p:nvPicPr>
          <p:cNvPr id="17" name="Image 2">
            <a:extLst>
              <a:ext uri="{FF2B5EF4-FFF2-40B4-BE49-F238E27FC236}">
                <a16:creationId xmlns:a16="http://schemas.microsoft.com/office/drawing/2014/main" id="{D9CD60F2-B327-C442-D4DB-E732767DD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072" y="2400300"/>
            <a:ext cx="246888" cy="246888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295A87A4-6389-2877-7E03-A92B59F9FDC6}"/>
              </a:ext>
            </a:extLst>
          </p:cNvPr>
          <p:cNvSpPr/>
          <p:nvPr/>
        </p:nvSpPr>
        <p:spPr>
          <a:xfrm>
            <a:off x="8235696" y="233629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Migrate to Lakehouse</a:t>
            </a:r>
            <a:endParaRPr lang="en-US" sz="125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53797BE6-F04F-3B2C-5B54-75FC97EBD424}"/>
              </a:ext>
            </a:extLst>
          </p:cNvPr>
          <p:cNvSpPr/>
          <p:nvPr/>
        </p:nvSpPr>
        <p:spPr>
          <a:xfrm>
            <a:off x="7732776" y="2848356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Re-platform on BigLake + Apache Iceberg for ACID on the existing Parquet files.</a:t>
            </a:r>
            <a:endParaRPr lang="en-US" sz="105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067AC0E1-E195-6661-58F2-D4E796023161}"/>
              </a:ext>
            </a:extLst>
          </p:cNvPr>
          <p:cNvSpPr/>
          <p:nvPr/>
        </p:nvSpPr>
        <p:spPr>
          <a:xfrm>
            <a:off x="1972056" y="3826764"/>
            <a:ext cx="26974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8CE72A24-095A-081B-9028-7CD91DA36CBA}"/>
              </a:ext>
            </a:extLst>
          </p:cNvPr>
          <p:cNvSpPr/>
          <p:nvPr/>
        </p:nvSpPr>
        <p:spPr>
          <a:xfrm>
            <a:off x="2154936" y="4009644"/>
            <a:ext cx="411480" cy="411480"/>
          </a:xfrm>
          <a:prstGeom prst="ellipse">
            <a:avLst/>
          </a:prstGeom>
          <a:solidFill>
            <a:srgbClr val="0D9488"/>
          </a:solidFill>
        </p:spPr>
        <p:txBody>
          <a:bodyPr/>
          <a:lstStyle/>
          <a:p>
            <a:endParaRPr lang="en-NP"/>
          </a:p>
        </p:txBody>
      </p:sp>
      <p:pic>
        <p:nvPicPr>
          <p:cNvPr id="22" name="Image 3">
            <a:extLst>
              <a:ext uri="{FF2B5EF4-FFF2-40B4-BE49-F238E27FC236}">
                <a16:creationId xmlns:a16="http://schemas.microsoft.com/office/drawing/2014/main" id="{C4E63262-7EAD-334D-174F-5468B081C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7232" y="4091940"/>
            <a:ext cx="246888" cy="246888"/>
          </a:xfrm>
          <a:prstGeom prst="rect">
            <a:avLst/>
          </a:prstGeom>
        </p:spPr>
      </p:pic>
      <p:sp>
        <p:nvSpPr>
          <p:cNvPr id="23" name="Text 17">
            <a:extLst>
              <a:ext uri="{FF2B5EF4-FFF2-40B4-BE49-F238E27FC236}">
                <a16:creationId xmlns:a16="http://schemas.microsoft.com/office/drawing/2014/main" id="{2198EFDF-9B25-4494-4AF4-DF8A31B02AF2}"/>
              </a:ext>
            </a:extLst>
          </p:cNvPr>
          <p:cNvSpPr/>
          <p:nvPr/>
        </p:nvSpPr>
        <p:spPr>
          <a:xfrm>
            <a:off x="2657856" y="402793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Geospatial analysis</a:t>
            </a:r>
            <a:endParaRPr lang="en-US" sz="125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0ED294C6-71FC-FBFB-09AC-2A7F761117DC}"/>
              </a:ext>
            </a:extLst>
          </p:cNvPr>
          <p:cNvSpPr/>
          <p:nvPr/>
        </p:nvSpPr>
        <p:spPr>
          <a:xfrm>
            <a:off x="2154936" y="4539996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BigQuery GIS on PULocationID/DOLocationID for hotspot and route-flow maps.</a:t>
            </a:r>
            <a:endParaRPr lang="en-US" sz="105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D822B124-F1C5-9E53-25B8-0960458869E4}"/>
              </a:ext>
            </a:extLst>
          </p:cNvPr>
          <p:cNvSpPr/>
          <p:nvPr/>
        </p:nvSpPr>
        <p:spPr>
          <a:xfrm>
            <a:off x="4760976" y="3826764"/>
            <a:ext cx="26974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B427C59E-1D0D-AB19-323B-F07AA75EA1C4}"/>
              </a:ext>
            </a:extLst>
          </p:cNvPr>
          <p:cNvSpPr/>
          <p:nvPr/>
        </p:nvSpPr>
        <p:spPr>
          <a:xfrm>
            <a:off x="4943856" y="4009644"/>
            <a:ext cx="411480" cy="411480"/>
          </a:xfrm>
          <a:prstGeom prst="ellipse">
            <a:avLst/>
          </a:prstGeom>
          <a:solidFill>
            <a:srgbClr val="1E3A5F"/>
          </a:solidFill>
        </p:spPr>
        <p:txBody>
          <a:bodyPr/>
          <a:lstStyle/>
          <a:p>
            <a:endParaRPr lang="en-NP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91C337C7-56BD-CE7D-2C98-9EF399EFB2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6152" y="4091940"/>
            <a:ext cx="246888" cy="246888"/>
          </a:xfrm>
          <a:prstGeom prst="rect">
            <a:avLst/>
          </a:prstGeom>
        </p:spPr>
      </p:pic>
      <p:sp>
        <p:nvSpPr>
          <p:cNvPr id="28" name="Text 21">
            <a:extLst>
              <a:ext uri="{FF2B5EF4-FFF2-40B4-BE49-F238E27FC236}">
                <a16:creationId xmlns:a16="http://schemas.microsoft.com/office/drawing/2014/main" id="{0F8A27A3-CECC-1E5E-C18C-592B6EC1ADAF}"/>
              </a:ext>
            </a:extLst>
          </p:cNvPr>
          <p:cNvSpPr/>
          <p:nvPr/>
        </p:nvSpPr>
        <p:spPr>
          <a:xfrm>
            <a:off x="5446776" y="402793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Longitudinal study</a:t>
            </a:r>
            <a:endParaRPr lang="en-US" sz="125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FAF240BE-C8F6-C725-E5EC-609FCA9C434A}"/>
              </a:ext>
            </a:extLst>
          </p:cNvPr>
          <p:cNvSpPr/>
          <p:nvPr/>
        </p:nvSpPr>
        <p:spPr>
          <a:xfrm>
            <a:off x="4943856" y="4539996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 2019–2024 to quantify the pandemic's lasting impact on NYC ridership.</a:t>
            </a:r>
            <a:endParaRPr lang="en-US" sz="1050" dirty="0"/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10353060-223F-3B57-FEBB-24981D835F21}"/>
              </a:ext>
            </a:extLst>
          </p:cNvPr>
          <p:cNvSpPr/>
          <p:nvPr/>
        </p:nvSpPr>
        <p:spPr>
          <a:xfrm>
            <a:off x="7549896" y="3826764"/>
            <a:ext cx="26974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31" name="Shape 24">
            <a:extLst>
              <a:ext uri="{FF2B5EF4-FFF2-40B4-BE49-F238E27FC236}">
                <a16:creationId xmlns:a16="http://schemas.microsoft.com/office/drawing/2014/main" id="{ACE76025-66A4-09C5-BBD3-F9BF674BE5CD}"/>
              </a:ext>
            </a:extLst>
          </p:cNvPr>
          <p:cNvSpPr/>
          <p:nvPr/>
        </p:nvSpPr>
        <p:spPr>
          <a:xfrm>
            <a:off x="7732776" y="4009644"/>
            <a:ext cx="411480" cy="411480"/>
          </a:xfrm>
          <a:prstGeom prst="ellipse">
            <a:avLst/>
          </a:prstGeom>
          <a:solidFill>
            <a:srgbClr val="F59E0B"/>
          </a:solidFill>
        </p:spPr>
        <p:txBody>
          <a:bodyPr/>
          <a:lstStyle/>
          <a:p>
            <a:endParaRPr lang="en-NP"/>
          </a:p>
        </p:txBody>
      </p:sp>
      <p:pic>
        <p:nvPicPr>
          <p:cNvPr id="32" name="Image 5">
            <a:extLst>
              <a:ext uri="{FF2B5EF4-FFF2-40B4-BE49-F238E27FC236}">
                <a16:creationId xmlns:a16="http://schemas.microsoft.com/office/drawing/2014/main" id="{28460D8E-2172-1906-EBF9-C4698E50A2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5072" y="4091940"/>
            <a:ext cx="246888" cy="246888"/>
          </a:xfrm>
          <a:prstGeom prst="rect">
            <a:avLst/>
          </a:prstGeom>
        </p:spPr>
      </p:pic>
      <p:sp>
        <p:nvSpPr>
          <p:cNvPr id="33" name="Text 25">
            <a:extLst>
              <a:ext uri="{FF2B5EF4-FFF2-40B4-BE49-F238E27FC236}">
                <a16:creationId xmlns:a16="http://schemas.microsoft.com/office/drawing/2014/main" id="{9F361F9E-8896-2C07-8E04-8259E96E4FEC}"/>
              </a:ext>
            </a:extLst>
          </p:cNvPr>
          <p:cNvSpPr/>
          <p:nvPr/>
        </p:nvSpPr>
        <p:spPr>
          <a:xfrm>
            <a:off x="8235696" y="402793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Sustainability metrics</a:t>
            </a:r>
            <a:endParaRPr lang="en-US" sz="1250" dirty="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889863AD-C1F3-6D91-E669-1DF3A2ADC53C}"/>
              </a:ext>
            </a:extLst>
          </p:cNvPr>
          <p:cNvSpPr/>
          <p:nvPr/>
        </p:nvSpPr>
        <p:spPr>
          <a:xfrm>
            <a:off x="7732776" y="4539996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Estimate trip-level CO₂ and model fleet electrification scenarios for NYC TLC.</a:t>
            </a:r>
            <a:endParaRPr lang="en-US" sz="1050" dirty="0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63B3E5CF-1D0D-817E-D5E5-EA44B7670C5B}"/>
              </a:ext>
            </a:extLst>
          </p:cNvPr>
          <p:cNvSpPr/>
          <p:nvPr/>
        </p:nvSpPr>
        <p:spPr>
          <a:xfrm>
            <a:off x="1880616" y="556412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en-US" sz="9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Asish Bhusal 260039158</a:t>
            </a:r>
          </a:p>
        </p:txBody>
      </p:sp>
      <p:pic>
        <p:nvPicPr>
          <p:cNvPr id="3074" name="Picture 2" descr="Brian Solis Among The Industry Thought ...">
            <a:extLst>
              <a:ext uri="{FF2B5EF4-FFF2-40B4-BE49-F238E27FC236}">
                <a16:creationId xmlns:a16="http://schemas.microsoft.com/office/drawing/2014/main" id="{5AD0ED4E-3570-11A3-80A1-56B5A59B6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299" y="1006971"/>
            <a:ext cx="1012485" cy="59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310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791489B-3539-A67A-2B33-A45EEEF99553}"/>
              </a:ext>
            </a:extLst>
          </p:cNvPr>
          <p:cNvSpPr/>
          <p:nvPr/>
        </p:nvSpPr>
        <p:spPr>
          <a:xfrm>
            <a:off x="2081784" y="1065276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 &amp; Final Conclusion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8192780-675A-91CC-C4FD-4FCEAEC1D3E8}"/>
              </a:ext>
            </a:extLst>
          </p:cNvPr>
          <p:cNvSpPr/>
          <p:nvPr/>
        </p:nvSpPr>
        <p:spPr>
          <a:xfrm>
            <a:off x="1979041" y="1815084"/>
            <a:ext cx="4069080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0AFE374-2667-D8F0-CF4B-F32E1B7E949C}"/>
              </a:ext>
            </a:extLst>
          </p:cNvPr>
          <p:cNvSpPr/>
          <p:nvPr/>
        </p:nvSpPr>
        <p:spPr>
          <a:xfrm>
            <a:off x="1972056" y="1815084"/>
            <a:ext cx="4069080" cy="73152"/>
          </a:xfrm>
          <a:prstGeom prst="rect">
            <a:avLst/>
          </a:prstGeom>
          <a:solidFill>
            <a:srgbClr val="64748B"/>
          </a:solidFill>
        </p:spPr>
        <p:txBody>
          <a:bodyPr/>
          <a:lstStyle/>
          <a:p>
            <a:endParaRPr lang="en-NP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0C077CD-4670-140C-049F-715C5DC460C3}"/>
              </a:ext>
            </a:extLst>
          </p:cNvPr>
          <p:cNvSpPr/>
          <p:nvPr/>
        </p:nvSpPr>
        <p:spPr>
          <a:xfrm>
            <a:off x="2154936" y="1952244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 of this study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8E1F324-7556-8FA4-C74E-49ABC0280316}"/>
              </a:ext>
            </a:extLst>
          </p:cNvPr>
          <p:cNvSpPr/>
          <p:nvPr/>
        </p:nvSpPr>
        <p:spPr>
          <a:xfrm>
            <a:off x="2200656" y="2318004"/>
            <a:ext cx="3703320" cy="2926080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dataset one taxi vendor, one city; findings may not generalise.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 only no streaming real time ingestion in scope.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cloud Google Cloud only; no cross-provider comparison.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BigQuery sandbox limits constrained partitioning/clustering tests.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 time benchmarks ran on a small number of queries.</a:t>
            </a:r>
            <a:endParaRPr lang="en-US" sz="11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2E0C6E0-24CB-A70A-B818-6F1BABA7CBD3}"/>
              </a:ext>
            </a:extLst>
          </p:cNvPr>
          <p:cNvSpPr/>
          <p:nvPr/>
        </p:nvSpPr>
        <p:spPr>
          <a:xfrm>
            <a:off x="6132576" y="1815084"/>
            <a:ext cx="4069080" cy="352044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endParaRPr lang="en-NP"/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9C192CA8-DEC1-7214-034C-FEC7FCA5A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456" y="1952244"/>
            <a:ext cx="365760" cy="36576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97C27248-8799-594B-C780-38C2EC4C407E}"/>
              </a:ext>
            </a:extLst>
          </p:cNvPr>
          <p:cNvSpPr/>
          <p:nvPr/>
        </p:nvSpPr>
        <p:spPr>
          <a:xfrm>
            <a:off x="6772656" y="1952244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conclusion</a:t>
            </a:r>
            <a:endParaRPr lang="en-US" sz="14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2270F33-C687-2010-7201-F457F7758DC8}"/>
              </a:ext>
            </a:extLst>
          </p:cNvPr>
          <p:cNvSpPr/>
          <p:nvPr/>
        </p:nvSpPr>
        <p:spPr>
          <a:xfrm>
            <a:off x="6315456" y="2409444"/>
            <a:ext cx="3749040" cy="2834640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architectures earn their place: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warehouse (native table) delivered faster, governed BI; the lake (external table) delivered flexibility and cheaper storage.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NYC TLC's mixed BI + ML roadmap, the </a:t>
            </a:r>
            <a:r>
              <a:rPr lang="en-US" sz="12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Lakehouse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is the natural next step  ACID guarantees on cheap object storage, no duplication tax.</a:t>
            </a:r>
            <a:endParaRPr lang="en-US" sz="1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B83CEBF-1D63-EBCF-9955-F1DDACBF0017}"/>
              </a:ext>
            </a:extLst>
          </p:cNvPr>
          <p:cNvSpPr/>
          <p:nvPr/>
        </p:nvSpPr>
        <p:spPr>
          <a:xfrm>
            <a:off x="1880616" y="556412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en-US" sz="900" b="1" dirty="0"/>
              <a:t>Asish Bhusal 260039158</a:t>
            </a:r>
          </a:p>
        </p:txBody>
      </p:sp>
    </p:spTree>
    <p:extLst>
      <p:ext uri="{BB962C8B-B14F-4D97-AF65-F5344CB8AC3E}">
        <p14:creationId xmlns:p14="http://schemas.microsoft.com/office/powerpoint/2010/main" val="42131969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FC4F5F4-91D8-2940-C14B-629F9D6859A3}"/>
              </a:ext>
            </a:extLst>
          </p:cNvPr>
          <p:cNvSpPr/>
          <p:nvPr/>
        </p:nvSpPr>
        <p:spPr>
          <a:xfrm>
            <a:off x="2081784" y="1065276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EB28C6B-C8BA-223B-6029-B9B38E9AD7A1}"/>
              </a:ext>
            </a:extLst>
          </p:cNvPr>
          <p:cNvSpPr/>
          <p:nvPr/>
        </p:nvSpPr>
        <p:spPr>
          <a:xfrm>
            <a:off x="1972056" y="1815084"/>
            <a:ext cx="8275320" cy="3611880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Armbrust, M., Ghodsi, A., Xin, R. and Zaharia, M. (2021) ‘Lakehouse: A new generation of open platforms that unify data warehousing and advanced analytics’, </a:t>
            </a:r>
            <a:r>
              <a:rPr lang="en-US" sz="1050" i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11th Conference on Innovative Data Systems Research (CIDR ’21)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Online, 11–15 January.</a:t>
            </a:r>
            <a:endParaRPr lang="en-US" sz="105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Dixon, J. (2010) ‘Pentaho, Hadoop, and Data Lakes’, </a:t>
            </a:r>
            <a:r>
              <a:rPr lang="en-US" sz="1050" i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James Dixon’s Blog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14 October. Available at: 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2"/>
              </a:rPr>
              <a:t>https://jamesdixon.wordpress.com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.</a:t>
            </a:r>
            <a:endParaRPr lang="en-US" sz="105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Cloud (2026) </a:t>
            </a:r>
            <a:r>
              <a:rPr lang="en-US" sz="1050" i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BigLake documentation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 Available at: 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3"/>
              </a:rPr>
              <a:t>https://cloud.google.com/biglake/docs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.</a:t>
            </a:r>
            <a:endParaRPr lang="en-US" sz="105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Inmon, W.H. (2005) </a:t>
            </a:r>
            <a:r>
              <a:rPr lang="en-US" sz="1050" i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the data warehouse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 4th edn. Indianapolis: Wiley.</a:t>
            </a:r>
            <a:endParaRPr lang="en-US" sz="105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Khine, P.P. and Wang, Z.S. (2018) ‘Data lake: a new ideology in big data era’, </a:t>
            </a:r>
            <a:r>
              <a:rPr lang="en-US" sz="1050" i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ITM Web of Conferences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17, p. 03025. doi:10.1051/itmconf/20181703025.</a:t>
            </a:r>
            <a:endParaRPr lang="en-US" sz="105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Nambiar, A. and Mundra, D. (2022) ‘An overview of data warehouse and data lake in modern enterprise data management’, </a:t>
            </a:r>
            <a:r>
              <a:rPr lang="en-US" sz="1050" i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Big Data and Cognitive Computing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6(4), 132. doi:10.3390/bdcc6040132.</a:t>
            </a:r>
            <a:endParaRPr lang="en-US" sz="105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NYC Taxi and Limousine Commission (2024) </a:t>
            </a:r>
            <a:r>
              <a:rPr lang="en-US" sz="1050" i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TLC trip record data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 Available at: 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4"/>
              </a:rPr>
              <a:t>https://www.nyc.gov/site/tlc/about/tlc-trip-record-data.page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Qlik (2026) </a:t>
            </a:r>
            <a:r>
              <a:rPr lang="en-US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lake architecture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Available at: 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https://www.qlik.com/us/data-lake/data-lake-architecture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(Accessed: 11 May 2026).</a:t>
            </a:r>
            <a:endParaRPr lang="en-I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/>
              <a:t>Google Cloud (2026) </a:t>
            </a:r>
            <a:r>
              <a:rPr lang="en-IN" sz="1050" i="1" dirty="0"/>
              <a:t>Cloud Storage pricing</a:t>
            </a:r>
            <a:r>
              <a:rPr lang="en-IN" sz="1050" dirty="0"/>
              <a:t>. Available at: </a:t>
            </a:r>
            <a:r>
              <a:rPr lang="en-IN" sz="1050" dirty="0">
                <a:hlinkClick r:id="rId6"/>
              </a:rPr>
              <a:t>Google Cloud Storage Pricing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(Accessed: 10 May 2026).</a:t>
            </a:r>
            <a:endParaRPr lang="en-I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/>
              <a:t>Google Cloud (2026) </a:t>
            </a:r>
            <a:r>
              <a:rPr lang="en-IN" sz="1050" i="1" dirty="0" err="1"/>
              <a:t>BigQuery</a:t>
            </a:r>
            <a:r>
              <a:rPr lang="en-IN" sz="1050" i="1" dirty="0"/>
              <a:t> pricing</a:t>
            </a:r>
            <a:r>
              <a:rPr lang="en-IN" sz="1050" dirty="0"/>
              <a:t>. Available at: </a:t>
            </a:r>
            <a:r>
              <a:rPr lang="en-IN" sz="1050" dirty="0">
                <a:hlinkClick r:id="rId7"/>
              </a:rPr>
              <a:t>Google </a:t>
            </a:r>
            <a:r>
              <a:rPr lang="en-IN" sz="1050" dirty="0" err="1">
                <a:hlinkClick r:id="rId7"/>
              </a:rPr>
              <a:t>BigQuery</a:t>
            </a:r>
            <a:r>
              <a:rPr lang="en-IN" sz="1050" dirty="0">
                <a:hlinkClick r:id="rId7"/>
              </a:rPr>
              <a:t> Pricing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(Accessed: 10 May 2026).</a:t>
            </a:r>
            <a:endParaRPr lang="en-IN" sz="1050" dirty="0"/>
          </a:p>
          <a:p>
            <a:pPr marL="0" indent="0">
              <a:spcAft>
                <a:spcPts val="800"/>
              </a:spcAft>
              <a:buNone/>
            </a:pPr>
            <a:endParaRPr lang="en-US" sz="105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9C9216F2-0D68-16E6-666D-90BB14D96D90}"/>
              </a:ext>
            </a:extLst>
          </p:cNvPr>
          <p:cNvSpPr/>
          <p:nvPr/>
        </p:nvSpPr>
        <p:spPr>
          <a:xfrm>
            <a:off x="1880616" y="5564124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en-US" sz="9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Asish Bhusal 260039158</a:t>
            </a:r>
          </a:p>
        </p:txBody>
      </p:sp>
    </p:spTree>
    <p:extLst>
      <p:ext uri="{BB962C8B-B14F-4D97-AF65-F5344CB8AC3E}">
        <p14:creationId xmlns:p14="http://schemas.microsoft.com/office/powerpoint/2010/main" val="954538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Free Google Thank You Slide &amp; PowerPoint Templates">
            <a:extLst>
              <a:ext uri="{FF2B5EF4-FFF2-40B4-BE49-F238E27FC236}">
                <a16:creationId xmlns:a16="http://schemas.microsoft.com/office/drawing/2014/main" id="{7B40B328-FF40-0EC0-DB2C-2468803B6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3941" y="643467"/>
            <a:ext cx="9904117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938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4155</Words>
  <Application>Microsoft Macintosh PowerPoint</Application>
  <PresentationFormat>Widescreen</PresentationFormat>
  <Paragraphs>616</Paragraphs>
  <Slides>56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30</vt:lpstr>
      <vt:lpstr>3ds SemiBold</vt:lpstr>
      <vt:lpstr>Arial</vt:lpstr>
      <vt:lpstr>Calibri</vt:lpstr>
      <vt:lpstr>Calibri Light</vt:lpstr>
      <vt:lpstr>Times New Roman</vt:lpstr>
      <vt:lpstr>Office Theme</vt:lpstr>
      <vt:lpstr>PowerPoint Presentation</vt:lpstr>
      <vt:lpstr>Introduction</vt:lpstr>
      <vt:lpstr>PowerPoint Presentation</vt:lpstr>
      <vt:lpstr>PowerPoint Presentation</vt:lpstr>
      <vt:lpstr>                                  Data warehouse</vt:lpstr>
      <vt:lpstr>PowerPoint Presentation</vt:lpstr>
      <vt:lpstr>PowerPoint Presentation</vt:lpstr>
      <vt:lpstr>PowerPoint Presentation</vt:lpstr>
      <vt:lpstr>PowerPoint Presentation</vt:lpstr>
      <vt:lpstr>This diagram shows a data lake architecture where structured, semi-structured, and unstructured data are brought together in centralized storage systems for ETL, analytics, machine learning, reporting, and business intelligence.</vt:lpstr>
      <vt:lpstr>Data Warehouse Architecture</vt:lpstr>
      <vt:lpstr>Dataset Overview: 2024 Yellow Taxi Trip Data NYC Open Data </vt:lpstr>
      <vt:lpstr>PowerPoint Presentation</vt:lpstr>
      <vt:lpstr>Data Lake Practical Implementation</vt:lpstr>
      <vt:lpstr>Create a  new project on google cloud storage:</vt:lpstr>
      <vt:lpstr>Configuring GCS Bucket</vt:lpstr>
      <vt:lpstr>Upload  Raw Dataset</vt:lpstr>
      <vt:lpstr>Creating Dataset in BigQuery Studio</vt:lpstr>
      <vt:lpstr>External Table Creation</vt:lpstr>
      <vt:lpstr>  Running some queries on External Table for Schema Validation: </vt:lpstr>
      <vt:lpstr>Duplicate Detection Query</vt:lpstr>
      <vt:lpstr>PowerPoint Presentation</vt:lpstr>
      <vt:lpstr>Google BigQuery ​</vt:lpstr>
      <vt:lpstr>Creating a Native Table​ </vt:lpstr>
      <vt:lpstr>Data Verification </vt:lpstr>
      <vt:lpstr>Data Quality Check</vt:lpstr>
      <vt:lpstr>Data Cleaning &amp; Pre-Processing</vt:lpstr>
      <vt:lpstr>Clean Data Verification</vt:lpstr>
      <vt:lpstr>Analysis</vt:lpstr>
      <vt:lpstr>Analysis 1 Revenue by Payment Method</vt:lpstr>
      <vt:lpstr>Key Insights: </vt:lpstr>
      <vt:lpstr>Analysis 2 Busiest Hours </vt:lpstr>
      <vt:lpstr>Key Insights: </vt:lpstr>
      <vt:lpstr>Analysis 3 Vendor Performance Comparison</vt:lpstr>
      <vt:lpstr>Key Insights</vt:lpstr>
      <vt:lpstr>Analysis 4 Daily Revenue Trend</vt:lpstr>
      <vt:lpstr>Key Findings</vt:lpstr>
      <vt:lpstr>Data Visualisation using Big query</vt:lpstr>
      <vt:lpstr>PowerPoint Presentation</vt:lpstr>
      <vt:lpstr>Execution Time</vt:lpstr>
      <vt:lpstr>PowerPoint Presentation</vt:lpstr>
      <vt:lpstr>PowerPoint Presentation</vt:lpstr>
      <vt:lpstr>PowerPoint Presentation</vt:lpstr>
      <vt:lpstr>PowerPoint Presentation</vt:lpstr>
      <vt:lpstr>Security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diagram shows a data lake architecture where structured, semi-structured, and unstructured data are brought together in centralized storage systems for ETL, analytics, machine learning, reporting, and business intelligence.</dc:title>
  <dc:creator>SAJAN</dc:creator>
  <cp:lastModifiedBy>AASHUTOSH GUPTA</cp:lastModifiedBy>
  <cp:revision>11</cp:revision>
  <dcterms:created xsi:type="dcterms:W3CDTF">2026-05-12T06:34:29Z</dcterms:created>
  <dcterms:modified xsi:type="dcterms:W3CDTF">2026-05-12T08:53:01Z</dcterms:modified>
</cp:coreProperties>
</file>